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475569"/>
                </a:solidFill>
                <a:latin typeface="Calibri"/>
              </a:rPr>
              <a:t>Probability of reaching tile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128</c:v>
                  </c:pt>
                  <c:pt idx="1">
                    <c:v>256</c:v>
                  </c:pt>
                  <c:pt idx="2">
                    <c:v>512</c:v>
                  </c:pt>
                  <c:pt idx="3">
                    <c:v>1024</c:v>
                  </c:pt>
                  <c:pt idx="4">
                    <c:v>2048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0.42</c:v>
                </c:pt>
                <c:pt idx="1">
                  <c:v>0.05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128</c:v>
                  </c:pt>
                  <c:pt idx="1">
                    <c:v>256</c:v>
                  </c:pt>
                  <c:pt idx="2">
                    <c:v>512</c:v>
                  </c:pt>
                  <c:pt idx="3">
                    <c:v>1024</c:v>
                  </c:pt>
                  <c:pt idx="4">
                    <c:v>2048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</c:v>
                </c:pt>
                <c:pt idx="1">
                  <c:v>0.45</c:v>
                </c:pt>
                <c:pt idx="2">
                  <c:v>0.2</c:v>
                </c:pt>
                <c:pt idx="3">
                  <c:v>0.11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DQN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128</c:v>
                  </c:pt>
                  <c:pt idx="1">
                    <c:v>256</c:v>
                  </c:pt>
                  <c:pt idx="2">
                    <c:v>512</c:v>
                  </c:pt>
                  <c:pt idx="3">
                    <c:v>1024</c:v>
                  </c:pt>
                  <c:pt idx="4">
                    <c:v>2048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0.45</c:v>
                </c:pt>
                <c:pt idx="1">
                  <c:v>0.08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N-tuple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128</c:v>
                  </c:pt>
                  <c:pt idx="1">
                    <c:v>256</c:v>
                  </c:pt>
                  <c:pt idx="2">
                    <c:v>512</c:v>
                  </c:pt>
                  <c:pt idx="3">
                    <c:v>1024</c:v>
                  </c:pt>
                  <c:pt idx="4">
                    <c:v>2048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0.99</c:v>
                </c:pt>
                <c:pt idx="1">
                  <c:v>0.96</c:v>
                </c:pt>
                <c:pt idx="2">
                  <c:v>0.93</c:v>
                </c:pt>
                <c:pt idx="3">
                  <c:v>0.87</c:v>
                </c:pt>
                <c:pt idx="4">
                  <c:v>0.25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Calibri"/>
                  </a:rPr>
                  <a:t>Highest tile reached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Calibri"/>
                  </a:rPr>
                  <a:t>Probability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N-tuple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200</c:v>
                  </c:pt>
                  <c:pt idx="2">
                    <c:v>400</c:v>
                  </c:pt>
                  <c:pt idx="3">
                    <c:v>600</c:v>
                  </c:pt>
                  <c:pt idx="4">
                    <c:v>800</c:v>
                  </c:pt>
                  <c:pt idx="5">
                    <c:v>1000</c:v>
                  </c:pt>
                  <c:pt idx="6">
                    <c:v>1200</c:v>
                  </c:pt>
                  <c:pt idx="7">
                    <c:v>1400</c:v>
                  </c:pt>
                  <c:pt idx="8">
                    <c:v>1600</c:v>
                  </c:pt>
                  <c:pt idx="9">
                    <c:v>1800</c:v>
                  </c:pt>
                  <c:pt idx="10">
                    <c:v>2000</c:v>
                  </c:pt>
                  <c:pt idx="11">
                    <c:v>2200</c:v>
                  </c:pt>
                  <c:pt idx="12">
                    <c:v>2400</c:v>
                  </c:pt>
                  <c:pt idx="13">
                    <c:v>2600</c:v>
                  </c:pt>
                  <c:pt idx="14">
                    <c:v>2800</c:v>
                  </c:pt>
                  <c:pt idx="15">
                    <c:v>3000</c:v>
                  </c:pt>
                  <c:pt idx="16">
                    <c:v>3200</c:v>
                  </c:pt>
                  <c:pt idx="17">
                    <c:v>3400</c:v>
                  </c:pt>
                  <c:pt idx="18">
                    <c:v>3600</c:v>
                  </c:pt>
                  <c:pt idx="19">
                    <c:v>3800</c:v>
                  </c:pt>
                  <c:pt idx="20">
                    <c:v>4000</c:v>
                  </c:pt>
                  <c:pt idx="21">
                    <c:v>4200</c:v>
                  </c:pt>
                  <c:pt idx="22">
                    <c:v>4400</c:v>
                  </c:pt>
                  <c:pt idx="23">
                    <c:v>4600</c:v>
                  </c:pt>
                  <c:pt idx="24">
                    <c:v>4800</c:v>
                  </c:pt>
                  <c:pt idx="25">
                    <c:v>5000</c:v>
                  </c:pt>
                  <c:pt idx="26">
                    <c:v>5200</c:v>
                  </c:pt>
                  <c:pt idx="27">
                    <c:v>5400</c:v>
                  </c:pt>
                  <c:pt idx="28">
                    <c:v>5600</c:v>
                  </c:pt>
                  <c:pt idx="29">
                    <c:v>5800</c:v>
                  </c:pt>
                  <c:pt idx="30">
                    <c:v>6000</c:v>
                  </c:pt>
                  <c:pt idx="31">
                    <c:v>6200</c:v>
                  </c:pt>
                  <c:pt idx="32">
                    <c:v>6400</c:v>
                  </c:pt>
                  <c:pt idx="33">
                    <c:v>6600</c:v>
                  </c:pt>
                  <c:pt idx="34">
                    <c:v>6800</c:v>
                  </c:pt>
                  <c:pt idx="35">
                    <c:v>7000</c:v>
                  </c:pt>
                  <c:pt idx="36">
                    <c:v>7200</c:v>
                  </c:pt>
                  <c:pt idx="37">
                    <c:v>7400</c:v>
                  </c:pt>
                  <c:pt idx="38">
                    <c:v>7600</c:v>
                  </c:pt>
                  <c:pt idx="39">
                    <c:v>7800</c:v>
                  </c:pt>
                  <c:pt idx="40">
                    <c:v>8000</c:v>
                  </c:pt>
                  <c:pt idx="41">
                    <c:v>8200</c:v>
                  </c:pt>
                  <c:pt idx="42">
                    <c:v>8400</c:v>
                  </c:pt>
                  <c:pt idx="43">
                    <c:v>8600</c:v>
                  </c:pt>
                  <c:pt idx="44">
                    <c:v>8800</c:v>
                  </c:pt>
                  <c:pt idx="45">
                    <c:v>9000</c:v>
                  </c:pt>
                  <c:pt idx="46">
                    <c:v>9200</c:v>
                  </c:pt>
                  <c:pt idx="47">
                    <c:v>9400</c:v>
                  </c:pt>
                  <c:pt idx="48">
                    <c:v>9600</c:v>
                  </c:pt>
                  <c:pt idx="49">
                    <c:v>9800</c:v>
                  </c:pt>
                  <c:pt idx="50">
                    <c:v>10000</c:v>
                  </c:pt>
                </c:lvl>
              </c:multiLvlStrCache>
            </c:multiLvlStrRef>
          </c:cat>
          <c:val>
            <c:numRef>
              <c:f>Sheet1!$B$2:$B$52</c:f>
              <c:numCache>
                <c:formatCode>General</c:formatCode>
                <c:ptCount val="51"/>
                <c:pt idx="0">
                  <c:v>400</c:v>
                </c:pt>
                <c:pt idx="1">
                  <c:v>592</c:v>
                </c:pt>
                <c:pt idx="2">
                  <c:v>752</c:v>
                </c:pt>
                <c:pt idx="3">
                  <c:v>868</c:v>
                </c:pt>
                <c:pt idx="4">
                  <c:v>945</c:v>
                </c:pt>
                <c:pt idx="5">
                  <c:v>1003</c:v>
                </c:pt>
                <c:pt idx="6">
                  <c:v>1067</c:v>
                </c:pt>
                <c:pt idx="7">
                  <c:v>1159</c:v>
                </c:pt>
                <c:pt idx="8">
                  <c:v>1282</c:v>
                </c:pt>
                <c:pt idx="9">
                  <c:v>1424</c:v>
                </c:pt>
                <c:pt idx="10">
                  <c:v>1561</c:v>
                </c:pt>
                <c:pt idx="11">
                  <c:v>1668</c:v>
                </c:pt>
                <c:pt idx="12">
                  <c:v>1733</c:v>
                </c:pt>
                <c:pt idx="13">
                  <c:v>1763</c:v>
                </c:pt>
                <c:pt idx="14">
                  <c:v>1776</c:v>
                </c:pt>
                <c:pt idx="15">
                  <c:v>1800</c:v>
                </c:pt>
                <c:pt idx="16">
                  <c:v>1853</c:v>
                </c:pt>
                <c:pt idx="17">
                  <c:v>1939</c:v>
                </c:pt>
                <c:pt idx="18">
                  <c:v>2046</c:v>
                </c:pt>
                <c:pt idx="19">
                  <c:v>2149</c:v>
                </c:pt>
                <c:pt idx="20">
                  <c:v>2223</c:v>
                </c:pt>
                <c:pt idx="21">
                  <c:v>2258</c:v>
                </c:pt>
                <c:pt idx="22">
                  <c:v>2258</c:v>
                </c:pt>
                <c:pt idx="23">
                  <c:v>2245</c:v>
                </c:pt>
                <c:pt idx="24">
                  <c:v>2244</c:v>
                </c:pt>
                <c:pt idx="25">
                  <c:v>2274</c:v>
                </c:pt>
                <c:pt idx="26">
                  <c:v>2338</c:v>
                </c:pt>
                <c:pt idx="27">
                  <c:v>2424</c:v>
                </c:pt>
                <c:pt idx="28">
                  <c:v>2506</c:v>
                </c:pt>
                <c:pt idx="29">
                  <c:v>2560</c:v>
                </c:pt>
                <c:pt idx="30">
                  <c:v>2576</c:v>
                </c:pt>
                <c:pt idx="31">
                  <c:v>2558</c:v>
                </c:pt>
                <c:pt idx="32">
                  <c:v>2529</c:v>
                </c:pt>
                <c:pt idx="33">
                  <c:v>2513</c:v>
                </c:pt>
                <c:pt idx="34">
                  <c:v>2529</c:v>
                </c:pt>
                <c:pt idx="35">
                  <c:v>2581</c:v>
                </c:pt>
                <c:pt idx="36">
                  <c:v>2654</c:v>
                </c:pt>
                <c:pt idx="37">
                  <c:v>2723</c:v>
                </c:pt>
                <c:pt idx="38">
                  <c:v>2765</c:v>
                </c:pt>
                <c:pt idx="39">
                  <c:v>2768</c:v>
                </c:pt>
                <c:pt idx="40">
                  <c:v>2740</c:v>
                </c:pt>
                <c:pt idx="41">
                  <c:v>2700</c:v>
                </c:pt>
                <c:pt idx="42">
                  <c:v>2676</c:v>
                </c:pt>
                <c:pt idx="43">
                  <c:v>2684</c:v>
                </c:pt>
                <c:pt idx="44">
                  <c:v>2728</c:v>
                </c:pt>
                <c:pt idx="45">
                  <c:v>2793</c:v>
                </c:pt>
                <c:pt idx="46">
                  <c:v>2855</c:v>
                </c:pt>
                <c:pt idx="47">
                  <c:v>2889</c:v>
                </c:pt>
                <c:pt idx="48">
                  <c:v>2885</c:v>
                </c:pt>
                <c:pt idx="49">
                  <c:v>2849</c:v>
                </c:pt>
                <c:pt idx="50">
                  <c:v>2804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DQN</c:v>
                </c:pt>
              </c:strCache>
            </c:strRef>
          </c:tx>
          <c:spPr>
            <a:solidFill>
              <a:srgbClr val="E11D48"/>
            </a:solidFill>
            <a:ln w="31750" cap="flat">
              <a:solidFill>
                <a:srgbClr val="E11D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1D48"/>
              </a:solidFill>
              <a:ln w="9525" cap="flat">
                <a:solidFill>
                  <a:srgbClr val="E11D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Sheet1!$A$2:$A$52</c:f>
              <c:multiLvlStrCache>
                <c:ptCount val="51"/>
                <c:lvl>
                  <c:pt idx="0">
                    <c:v>0</c:v>
                  </c:pt>
                  <c:pt idx="1">
                    <c:v>200</c:v>
                  </c:pt>
                  <c:pt idx="2">
                    <c:v>400</c:v>
                  </c:pt>
                  <c:pt idx="3">
                    <c:v>600</c:v>
                  </c:pt>
                  <c:pt idx="4">
                    <c:v>800</c:v>
                  </c:pt>
                  <c:pt idx="5">
                    <c:v>1000</c:v>
                  </c:pt>
                  <c:pt idx="6">
                    <c:v>1200</c:v>
                  </c:pt>
                  <c:pt idx="7">
                    <c:v>1400</c:v>
                  </c:pt>
                  <c:pt idx="8">
                    <c:v>1600</c:v>
                  </c:pt>
                  <c:pt idx="9">
                    <c:v>1800</c:v>
                  </c:pt>
                  <c:pt idx="10">
                    <c:v>2000</c:v>
                  </c:pt>
                  <c:pt idx="11">
                    <c:v>2200</c:v>
                  </c:pt>
                  <c:pt idx="12">
                    <c:v>2400</c:v>
                  </c:pt>
                  <c:pt idx="13">
                    <c:v>2600</c:v>
                  </c:pt>
                  <c:pt idx="14">
                    <c:v>2800</c:v>
                  </c:pt>
                  <c:pt idx="15">
                    <c:v>3000</c:v>
                  </c:pt>
                  <c:pt idx="16">
                    <c:v>3200</c:v>
                  </c:pt>
                  <c:pt idx="17">
                    <c:v>3400</c:v>
                  </c:pt>
                  <c:pt idx="18">
                    <c:v>3600</c:v>
                  </c:pt>
                  <c:pt idx="19">
                    <c:v>3800</c:v>
                  </c:pt>
                  <c:pt idx="20">
                    <c:v>4000</c:v>
                  </c:pt>
                  <c:pt idx="21">
                    <c:v>4200</c:v>
                  </c:pt>
                  <c:pt idx="22">
                    <c:v>4400</c:v>
                  </c:pt>
                  <c:pt idx="23">
                    <c:v>4600</c:v>
                  </c:pt>
                  <c:pt idx="24">
                    <c:v>4800</c:v>
                  </c:pt>
                  <c:pt idx="25">
                    <c:v>5000</c:v>
                  </c:pt>
                  <c:pt idx="26">
                    <c:v>5200</c:v>
                  </c:pt>
                  <c:pt idx="27">
                    <c:v>5400</c:v>
                  </c:pt>
                  <c:pt idx="28">
                    <c:v>5600</c:v>
                  </c:pt>
                  <c:pt idx="29">
                    <c:v>5800</c:v>
                  </c:pt>
                  <c:pt idx="30">
                    <c:v>6000</c:v>
                  </c:pt>
                  <c:pt idx="31">
                    <c:v>6200</c:v>
                  </c:pt>
                  <c:pt idx="32">
                    <c:v>6400</c:v>
                  </c:pt>
                  <c:pt idx="33">
                    <c:v>6600</c:v>
                  </c:pt>
                  <c:pt idx="34">
                    <c:v>6800</c:v>
                  </c:pt>
                  <c:pt idx="35">
                    <c:v>7000</c:v>
                  </c:pt>
                  <c:pt idx="36">
                    <c:v>7200</c:v>
                  </c:pt>
                  <c:pt idx="37">
                    <c:v>7400</c:v>
                  </c:pt>
                  <c:pt idx="38">
                    <c:v>7600</c:v>
                  </c:pt>
                  <c:pt idx="39">
                    <c:v>7800</c:v>
                  </c:pt>
                  <c:pt idx="40">
                    <c:v>8000</c:v>
                  </c:pt>
                  <c:pt idx="41">
                    <c:v>8200</c:v>
                  </c:pt>
                  <c:pt idx="42">
                    <c:v>8400</c:v>
                  </c:pt>
                  <c:pt idx="43">
                    <c:v>8600</c:v>
                  </c:pt>
                  <c:pt idx="44">
                    <c:v>8800</c:v>
                  </c:pt>
                  <c:pt idx="45">
                    <c:v>9000</c:v>
                  </c:pt>
                  <c:pt idx="46">
                    <c:v>9200</c:v>
                  </c:pt>
                  <c:pt idx="47">
                    <c:v>9400</c:v>
                  </c:pt>
                  <c:pt idx="48">
                    <c:v>9600</c:v>
                  </c:pt>
                  <c:pt idx="49">
                    <c:v>9800</c:v>
                  </c:pt>
                  <c:pt idx="50">
                    <c:v>10000</c:v>
                  </c:pt>
                </c:lvl>
              </c:multiLvlStrCache>
            </c:multiLvlStrRef>
          </c:cat>
          <c:val>
            <c:numRef>
              <c:f>Sheet1!$C$2:$C$52</c:f>
              <c:numCache>
                <c:formatCode>General</c:formatCode>
                <c:ptCount val="51"/>
                <c:pt idx="0">
                  <c:v>100</c:v>
                </c:pt>
                <c:pt idx="1">
                  <c:v>162</c:v>
                </c:pt>
                <c:pt idx="2">
                  <c:v>183</c:v>
                </c:pt>
                <c:pt idx="3">
                  <c:v>173</c:v>
                </c:pt>
                <c:pt idx="4">
                  <c:v>177</c:v>
                </c:pt>
                <c:pt idx="5">
                  <c:v>216</c:v>
                </c:pt>
                <c:pt idx="6">
                  <c:v>263</c:v>
                </c:pt>
                <c:pt idx="7">
                  <c:v>277</c:v>
                </c:pt>
                <c:pt idx="8">
                  <c:v>257</c:v>
                </c:pt>
                <c:pt idx="9">
                  <c:v>241</c:v>
                </c:pt>
                <c:pt idx="10">
                  <c:v>262</c:v>
                </c:pt>
                <c:pt idx="11">
                  <c:v>303</c:v>
                </c:pt>
                <c:pt idx="12">
                  <c:v>319</c:v>
                </c:pt>
                <c:pt idx="13">
                  <c:v>298</c:v>
                </c:pt>
                <c:pt idx="14">
                  <c:v>272</c:v>
                </c:pt>
                <c:pt idx="15">
                  <c:v>279</c:v>
                </c:pt>
                <c:pt idx="16">
                  <c:v>315</c:v>
                </c:pt>
                <c:pt idx="17">
                  <c:v>337</c:v>
                </c:pt>
                <c:pt idx="18">
                  <c:v>320</c:v>
                </c:pt>
                <c:pt idx="19">
                  <c:v>289</c:v>
                </c:pt>
                <c:pt idx="20">
                  <c:v>285</c:v>
                </c:pt>
                <c:pt idx="21">
                  <c:v>315</c:v>
                </c:pt>
                <c:pt idx="22">
                  <c:v>343</c:v>
                </c:pt>
                <c:pt idx="23">
                  <c:v>334</c:v>
                </c:pt>
                <c:pt idx="24">
                  <c:v>301</c:v>
                </c:pt>
                <c:pt idx="25">
                  <c:v>287</c:v>
                </c:pt>
                <c:pt idx="26">
                  <c:v>311</c:v>
                </c:pt>
                <c:pt idx="27">
                  <c:v>343</c:v>
                </c:pt>
                <c:pt idx="28">
                  <c:v>342</c:v>
                </c:pt>
                <c:pt idx="29">
                  <c:v>311</c:v>
                </c:pt>
                <c:pt idx="30">
                  <c:v>289</c:v>
                </c:pt>
                <c:pt idx="31">
                  <c:v>304</c:v>
                </c:pt>
                <c:pt idx="32">
                  <c:v>338</c:v>
                </c:pt>
                <c:pt idx="33">
                  <c:v>347</c:v>
                </c:pt>
                <c:pt idx="34">
                  <c:v>320</c:v>
                </c:pt>
                <c:pt idx="35">
                  <c:v>292</c:v>
                </c:pt>
                <c:pt idx="36">
                  <c:v>298</c:v>
                </c:pt>
                <c:pt idx="37">
                  <c:v>332</c:v>
                </c:pt>
                <c:pt idx="38">
                  <c:v>350</c:v>
                </c:pt>
                <c:pt idx="39">
                  <c:v>329</c:v>
                </c:pt>
                <c:pt idx="40">
                  <c:v>297</c:v>
                </c:pt>
                <c:pt idx="41">
                  <c:v>294</c:v>
                </c:pt>
                <c:pt idx="42">
                  <c:v>324</c:v>
                </c:pt>
                <c:pt idx="43">
                  <c:v>349</c:v>
                </c:pt>
                <c:pt idx="44">
                  <c:v>337</c:v>
                </c:pt>
                <c:pt idx="45">
                  <c:v>303</c:v>
                </c:pt>
                <c:pt idx="46">
                  <c:v>291</c:v>
                </c:pt>
                <c:pt idx="47">
                  <c:v>315</c:v>
                </c:pt>
                <c:pt idx="48">
                  <c:v>346</c:v>
                </c:pt>
                <c:pt idx="49">
                  <c:v>343</c:v>
                </c:pt>
                <c:pt idx="50">
                  <c:v>311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Calibri"/>
                  </a:rPr>
                  <a:t>Episodes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75569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475569"/>
                    </a:solidFill>
                    <a:latin typeface="Calibri"/>
                  </a:rPr>
                  <a:t>Rolling-100 mean reward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E8F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Consola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0F17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377440"/>
            <a:ext cx="2377440" cy="2377440"/>
          </a:xfrm>
          <a:prstGeom prst="roundRect">
            <a:avLst>
              <a:gd name="adj" fmla="val 230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95360" y="237744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680960" y="137160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241280" y="164592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863840" y="484632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4846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0515600" y="45720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0" y="45720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858000" y="310896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14" name="Shape 12"/>
          <p:cNvSpPr/>
          <p:nvPr/>
        </p:nvSpPr>
        <p:spPr>
          <a:xfrm>
            <a:off x="640080" y="1005840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8961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 LEARNING 2 · ASSIGNMENT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6916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40080" y="2514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</a:t>
            </a:r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pPr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classical and deep reinforcement learning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but surprisingly hard game.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700784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02920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Florian Robrecht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05456" y="5029200"/>
            <a:ext cx="1604772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5029200"/>
            <a:ext cx="16047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Janin Jankovski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74820" y="502920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4820" y="5029200"/>
            <a:ext cx="1412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Hartmann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history of 2048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 weekend, viral in a week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0866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7260" y="2697480"/>
            <a:ext cx="457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0866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created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5186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0460" y="2697480"/>
            <a:ext cx="457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186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45186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of creator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506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23660" y="2697480"/>
            <a:ext cx="457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506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19506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release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38260" y="2423160"/>
            <a:ext cx="2514600" cy="169164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66860" y="2697480"/>
            <a:ext cx="457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38260" y="28346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M+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93826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week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663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Gabriele Cirulli (Milan) — open-source on GitHub, March 9, 2014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Threes! and the earlier 1024 — Cirulli built his own to see if he could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maximum tile: 131,072 = 2¹⁷ — no one has reached it in fair play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Sparked an entire research literature on n-tuple TD learning (Szubert &amp; Jaśkowski 2014 onwards)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GAME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Slide, merge, repeat — until 2048 or until the board fills 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up, down, left or right · every tile slides as far as it can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tiles with the same number that collide merge into one tile of double the value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swipe a new 2 (90%) or 4 (10%) appears in a random empty cell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at 2048 · Lose when the board is full with no legal merge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1 — SIMPLE MERGE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2834640"/>
            <a:ext cx="235915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40" dirty="0"/>
          </a:p>
        </p:txBody>
      </p:sp>
      <p:sp>
        <p:nvSpPr>
          <p:cNvPr id="11" name="Shape 9"/>
          <p:cNvSpPr/>
          <p:nvPr/>
        </p:nvSpPr>
        <p:spPr>
          <a:xfrm>
            <a:off x="6775704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33488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91272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127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40" dirty="0"/>
          </a:p>
        </p:txBody>
      </p:sp>
      <p:sp>
        <p:nvSpPr>
          <p:cNvPr id="15" name="Text 13"/>
          <p:cNvSpPr/>
          <p:nvPr/>
        </p:nvSpPr>
        <p:spPr>
          <a:xfrm>
            <a:off x="8641080" y="2926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549640" y="3611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swipe right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89720" y="2834640"/>
            <a:ext cx="235915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38944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396728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54512" y="29260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5451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612648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2s slide and merge into a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2 — TWO MERGES IN ONE SWIPE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937760"/>
            <a:ext cx="235915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40" dirty="0"/>
          </a:p>
        </p:txBody>
      </p:sp>
      <p:sp>
        <p:nvSpPr>
          <p:cNvPr id="28" name="Shape 26"/>
          <p:cNvSpPr/>
          <p:nvPr/>
        </p:nvSpPr>
        <p:spPr>
          <a:xfrm>
            <a:off x="6775704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75704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40" dirty="0"/>
          </a:p>
        </p:txBody>
      </p:sp>
      <p:sp>
        <p:nvSpPr>
          <p:cNvPr id="30" name="Shape 28"/>
          <p:cNvSpPr/>
          <p:nvPr/>
        </p:nvSpPr>
        <p:spPr>
          <a:xfrm>
            <a:off x="7333488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3488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40" dirty="0"/>
          </a:p>
        </p:txBody>
      </p:sp>
      <p:sp>
        <p:nvSpPr>
          <p:cNvPr id="32" name="Shape 30"/>
          <p:cNvSpPr/>
          <p:nvPr/>
        </p:nvSpPr>
        <p:spPr>
          <a:xfrm>
            <a:off x="7891272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91272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40" dirty="0"/>
          </a:p>
        </p:txBody>
      </p:sp>
      <p:sp>
        <p:nvSpPr>
          <p:cNvPr id="34" name="Text 32"/>
          <p:cNvSpPr/>
          <p:nvPr/>
        </p:nvSpPr>
        <p:spPr>
          <a:xfrm>
            <a:off x="8641080" y="50292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5496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swipe right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189720" y="4937760"/>
            <a:ext cx="2359152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81160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38944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96728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96728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40" dirty="0"/>
          </a:p>
        </p:txBody>
      </p:sp>
      <p:sp>
        <p:nvSpPr>
          <p:cNvPr id="41" name="Shape 39"/>
          <p:cNvSpPr/>
          <p:nvPr/>
        </p:nvSpPr>
        <p:spPr>
          <a:xfrm>
            <a:off x="10954512" y="50292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54512" y="5029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4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40" dirty="0"/>
          </a:p>
        </p:txBody>
      </p:sp>
      <p:sp>
        <p:nvSpPr>
          <p:cNvPr id="43" name="Text 41"/>
          <p:cNvSpPr/>
          <p:nvPr/>
        </p:nvSpPr>
        <p:spPr>
          <a:xfrm>
            <a:off x="61264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chaining: the new 4 won't merge with the existing 4 in the same swipe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reinforcement learning?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trial and error — no labelled answers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24688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68880"/>
            <a:ext cx="3108960" cy="6400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515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board)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78808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526280" y="24688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468880"/>
            <a:ext cx="3108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does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(swipe direction)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53528" y="315468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8001000" y="246888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2468880"/>
            <a:ext cx="31089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0100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gets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(merge points)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526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updates its strategy from rewards. No teacher, no labels.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53492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gives the agent feedback (points scored on this move)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many games the agent learns which moves tend to lead to high total scores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part: how to remember good moves when no two boards are ever quite the same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game engine, four agents, one evaluation harness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1742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00100" y="2670048"/>
            <a:ext cx="4114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engine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0100" y="34747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Bitboard 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65k-row LUT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(unit-tested)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6042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206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634740" y="2670048"/>
            <a:ext cx="4114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474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34740" y="34747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· Greedy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· N-tuple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670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469380" y="2670048"/>
            <a:ext cx="4114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938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69380" y="34747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loops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DQN &amp; N-tuple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29700" y="237744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2134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9304020" y="2670048"/>
            <a:ext cx="41148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04020" y="28803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304020" y="347472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games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test set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800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interface: </a:t>
            </a:r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act(board, legal_mask) → swipe</a:t>
            </a:r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evaluator can swap any agent freely.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env, same eval, same metrics → fair comparison.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agents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baselines · two learners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94A3B8">
              <a:alpha val="15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0010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00100" y="3749040"/>
            <a:ext cx="2057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" y="3886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legal swipe uniformly at random.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010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— anything worse is broken.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6042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474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474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474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634740" y="3749040"/>
            <a:ext cx="2057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4740" y="3886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heuristic: monotonicity + empty cells + corner bonus.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3474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knowledge, no learning.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506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938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11D48">
              <a:alpha val="15000"/>
            </a:srgbClr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938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6938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469380" y="3749040"/>
            <a:ext cx="2057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9380" y="3886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Q-network. 256 → 512 → 256 → 4 MLP, learned from raw board.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6938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deep RL.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02970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04020" y="26517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59669">
              <a:alpha val="15000"/>
            </a:srgbClr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4020" y="2651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304020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304020" y="3749040"/>
            <a:ext cx="20574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04020" y="388620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tables on 4 hand-picked board patches. Linear, symmetric.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04020" y="5029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2048 method.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03 · DQN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— Deep Q-Network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predicts each swipe's long-term value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017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60" dirty="0"/>
          </a:p>
        </p:txBody>
      </p:sp>
      <p:sp>
        <p:nvSpPr>
          <p:cNvPr id="11" name="Shape 9"/>
          <p:cNvSpPr/>
          <p:nvPr/>
        </p:nvSpPr>
        <p:spPr>
          <a:xfrm>
            <a:off x="1554480" y="3017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160" dirty="0"/>
          </a:p>
        </p:txBody>
      </p:sp>
      <p:sp>
        <p:nvSpPr>
          <p:cNvPr id="13" name="Shape 11"/>
          <p:cNvSpPr/>
          <p:nvPr/>
        </p:nvSpPr>
        <p:spPr>
          <a:xfrm>
            <a:off x="2011680" y="30175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6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5448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60" dirty="0"/>
          </a:p>
        </p:txBody>
      </p:sp>
      <p:sp>
        <p:nvSpPr>
          <p:cNvPr id="19" name="Shape 17"/>
          <p:cNvSpPr/>
          <p:nvPr/>
        </p:nvSpPr>
        <p:spPr>
          <a:xfrm>
            <a:off x="2011680" y="3474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31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160" dirty="0"/>
          </a:p>
        </p:txBody>
      </p:sp>
      <p:sp>
        <p:nvSpPr>
          <p:cNvPr id="22" name="Shape 20"/>
          <p:cNvSpPr/>
          <p:nvPr/>
        </p:nvSpPr>
        <p:spPr>
          <a:xfrm>
            <a:off x="1097280" y="3931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60" dirty="0"/>
          </a:p>
        </p:txBody>
      </p:sp>
      <p:sp>
        <p:nvSpPr>
          <p:cNvPr id="24" name="Shape 22"/>
          <p:cNvSpPr/>
          <p:nvPr/>
        </p:nvSpPr>
        <p:spPr>
          <a:xfrm>
            <a:off x="1554480" y="3931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9319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4389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4389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4389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160" dirty="0"/>
          </a:p>
        </p:txBody>
      </p:sp>
      <p:sp>
        <p:nvSpPr>
          <p:cNvPr id="30" name="Shape 28"/>
          <p:cNvSpPr/>
          <p:nvPr/>
        </p:nvSpPr>
        <p:spPr>
          <a:xfrm>
            <a:off x="2011680" y="4389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60" dirty="0"/>
          </a:p>
        </p:txBody>
      </p:sp>
      <p:sp>
        <p:nvSpPr>
          <p:cNvPr id="32" name="Text 30"/>
          <p:cNvSpPr/>
          <p:nvPr/>
        </p:nvSpPr>
        <p:spPr>
          <a:xfrm>
            <a:off x="640080" y="5074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 (4×4)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46E5"/>
                </a:solidFill>
              </a:rPr>
              <a:t>→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74320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one-hot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20440" y="2926080"/>
            <a:ext cx="1234440" cy="2194560"/>
          </a:xfrm>
          <a:prstGeom prst="roundRect">
            <a:avLst>
              <a:gd name="adj" fmla="val 7407"/>
            </a:avLst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20440" y="2926080"/>
            <a:ext cx="1234440" cy="548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1546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352044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520440" y="4343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one-hot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120640" y="2926080"/>
            <a:ext cx="1234440" cy="219456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20640" y="2926080"/>
            <a:ext cx="12344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20640" y="31546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512064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20640" y="4343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6720840" y="2926080"/>
            <a:ext cx="1234440" cy="2194560"/>
          </a:xfrm>
          <a:prstGeom prst="roundRect">
            <a:avLst>
              <a:gd name="adj" fmla="val 7407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20840" y="2926080"/>
            <a:ext cx="123444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31546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600" dirty="0"/>
          </a:p>
        </p:txBody>
      </p:sp>
      <p:sp>
        <p:nvSpPr>
          <p:cNvPr id="50" name="Text 48"/>
          <p:cNvSpPr/>
          <p:nvPr/>
        </p:nvSpPr>
        <p:spPr>
          <a:xfrm>
            <a:off x="672084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720840" y="4343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ReLU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9095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8321040" y="2926080"/>
            <a:ext cx="1234440" cy="219456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2926080"/>
            <a:ext cx="12344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21040" y="315468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56" name="Text 54"/>
          <p:cNvSpPr/>
          <p:nvPr/>
        </p:nvSpPr>
        <p:spPr>
          <a:xfrm>
            <a:off x="8321040" y="4023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21040" y="43434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Q-values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0012680" y="301752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12680" y="30175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Q(↑)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10012680" y="347472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012680" y="34747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Q(→)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10012680" y="393192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012680" y="39319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Q(↓)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012680" y="4389120"/>
            <a:ext cx="96012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12680" y="438912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Q(←)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sees 256 raw numbers. No domain knowledge — it has to discover everything itself.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 5,000 games (~25 min on Apple-MPS) · Double-DQN with action masking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03 · DQN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— a concrete forward pass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look like for one 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42032" cy="2542032"/>
          </a:xfrm>
          <a:prstGeom prst="roundRect">
            <a:avLst>
              <a:gd name="adj" fmla="val 28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80" dirty="0"/>
          </a:p>
        </p:txBody>
      </p:sp>
      <p:sp>
        <p:nvSpPr>
          <p:cNvPr id="10" name="Shape 8"/>
          <p:cNvSpPr/>
          <p:nvPr/>
        </p:nvSpPr>
        <p:spPr>
          <a:xfrm>
            <a:off x="1243584" y="2834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80" dirty="0"/>
          </a:p>
        </p:txBody>
      </p:sp>
      <p:sp>
        <p:nvSpPr>
          <p:cNvPr id="12" name="Shape 10"/>
          <p:cNvSpPr/>
          <p:nvPr/>
        </p:nvSpPr>
        <p:spPr>
          <a:xfrm>
            <a:off x="1847088" y="2834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2834640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381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80" dirty="0"/>
          </a:p>
        </p:txBody>
      </p:sp>
      <p:sp>
        <p:nvSpPr>
          <p:cNvPr id="16" name="Shape 14"/>
          <p:cNvSpPr/>
          <p:nvPr/>
        </p:nvSpPr>
        <p:spPr>
          <a:xfrm>
            <a:off x="1243584" y="34381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3438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80" dirty="0"/>
          </a:p>
        </p:txBody>
      </p:sp>
      <p:sp>
        <p:nvSpPr>
          <p:cNvPr id="18" name="Shape 16"/>
          <p:cNvSpPr/>
          <p:nvPr/>
        </p:nvSpPr>
        <p:spPr>
          <a:xfrm>
            <a:off x="1847088" y="34381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0592" y="3438144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41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43584" y="4041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47088" y="4041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4041648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451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80" dirty="0"/>
          </a:p>
        </p:txBody>
      </p:sp>
      <p:sp>
        <p:nvSpPr>
          <p:cNvPr id="26" name="Shape 24"/>
          <p:cNvSpPr/>
          <p:nvPr/>
        </p:nvSpPr>
        <p:spPr>
          <a:xfrm>
            <a:off x="1243584" y="46451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7088" y="46451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50592" y="4645152"/>
            <a:ext cx="548640" cy="548640"/>
          </a:xfrm>
          <a:prstGeom prst="roundRect">
            <a:avLst>
              <a:gd name="adj" fmla="val 10000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0" y="2468880"/>
            <a:ext cx="4846320" cy="3246120"/>
          </a:xfrm>
          <a:prstGeom prst="roundRect">
            <a:avLst>
              <a:gd name="adj" fmla="val 281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651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ONE-HOT ENCODING (256 FLOATS)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31920" y="2971800"/>
            <a:ext cx="42976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(0,0) = 8 (= 2³)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bucket 3 of 16: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0, 0, 1, 0, 0, 0, 0, 0, 0, 0, 0, 0, 0, 0, 0]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 (0,1) = 4 (= 2²)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bucket 2: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0, 1, 0, 0, 0, 0, 0, 0, 0, 0, 0, 0, 0, 0, 0]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16 cells × 16 buckets = 256 numbers fed into the MLP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73252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OUTPUTS (Q-VALUES)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732520" y="283464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28346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Q(↑)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692640" y="2834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−2.3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32520" y="338328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69680" y="33832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Q(→)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69264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+12.7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32520" y="393192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69680" y="39319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Q(↓)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692640" y="39319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+5.1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732520" y="448056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0" y="44805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Q(←)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692640" y="4480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32520" y="5120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swipe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Q-values are illustrative. In practice they shift every gradient step as the network learns from its mistakes.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03 · DQN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— one training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· store · sample · compute target · gradient step (×1,000,000)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2456" y="26974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245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236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move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5236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s, swipe 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reward r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board s'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47188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30068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84448" y="26974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67228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buffer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67228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(s, a, r, s', done)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100k-step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9180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52060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6974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89220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mini-batch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9220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512 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transitions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buffer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91172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274052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26974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28432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411212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TD target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11212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r + γ · max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Q_target(s', a')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0.99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13164" y="329184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496044" y="246888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0424" y="269748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50424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33204" y="3383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step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33204" y="38404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Smooth-L1 loss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(5e-4)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STABILISATION TRICKS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network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Double-DQN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scaling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ε-greedy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  ·  </a:t>
            </a:r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masking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77240" y="583387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fixes for three instabilities: moving target, max-overestimation, exploding reward scale.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04 · N-TUPLE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TD — pattern-based value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board into 4 small patches · sum 24 table reads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" y="233172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010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6-cell axe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06424" y="3291840"/>
            <a:ext cx="1856232" cy="1856232"/>
          </a:xfrm>
          <a:prstGeom prst="roundRect">
            <a:avLst>
              <a:gd name="adj" fmla="val 29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7632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97864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27632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87168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97864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27632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87168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97864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27632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97580" y="233172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758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9758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row-2 axe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03904" y="3291840"/>
            <a:ext cx="1856232" cy="1856232"/>
          </a:xfrm>
          <a:prstGeom prst="roundRect">
            <a:avLst>
              <a:gd name="adj" fmla="val 29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95344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5112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84648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5344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84648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5344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25112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84648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5344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25112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84648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5060" y="233172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506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19506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row (4 cells)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501384" y="3291840"/>
            <a:ext cx="1856232" cy="1856232"/>
          </a:xfrm>
          <a:prstGeom prst="roundRect">
            <a:avLst>
              <a:gd name="adj" fmla="val 29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2824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22592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52360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82128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92824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2592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452360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82128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92824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22592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52360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882128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92824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22592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52360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82128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92540" y="233172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9254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92540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2×2 corner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9198864" y="3291840"/>
            <a:ext cx="1856232" cy="1856232"/>
          </a:xfrm>
          <a:prstGeom prst="roundRect">
            <a:avLst>
              <a:gd name="adj" fmla="val 29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90304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720072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149840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79608" y="338328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90304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20072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149840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579608" y="381304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290304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720072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49840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579608" y="424281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290304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720072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149840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579608" y="46725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8640" y="56235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48640" y="56235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V(board) = </a:t>
            </a:r>
            <a:pPr algn="ctr" indent="0" marL="0">
              <a:buNone/>
            </a:pPr>
            <a:r>
              <a:rPr lang="en-US" sz="18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of all 24 lookup-table reads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04 · N-TUPLE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— a concrete value computation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patches · look up · sum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468880" cy="2468880"/>
          </a:xfrm>
          <a:prstGeom prst="roundRect">
            <a:avLst>
              <a:gd name="adj" fmla="val 296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34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4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784" dirty="0"/>
          </a:p>
        </p:txBody>
      </p:sp>
      <p:sp>
        <p:nvSpPr>
          <p:cNvPr id="10" name="Shape 8"/>
          <p:cNvSpPr/>
          <p:nvPr/>
        </p:nvSpPr>
        <p:spPr>
          <a:xfrm>
            <a:off x="1225296" y="28346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25296" y="28346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4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84" dirty="0"/>
          </a:p>
        </p:txBody>
      </p:sp>
      <p:sp>
        <p:nvSpPr>
          <p:cNvPr id="12" name="Shape 10"/>
          <p:cNvSpPr/>
          <p:nvPr/>
        </p:nvSpPr>
        <p:spPr>
          <a:xfrm>
            <a:off x="1810512" y="28346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95728" y="2834640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198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19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4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784" dirty="0"/>
          </a:p>
        </p:txBody>
      </p:sp>
      <p:sp>
        <p:nvSpPr>
          <p:cNvPr id="16" name="Shape 14"/>
          <p:cNvSpPr/>
          <p:nvPr/>
        </p:nvSpPr>
        <p:spPr>
          <a:xfrm>
            <a:off x="1225296" y="34198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296" y="341985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4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784" dirty="0"/>
          </a:p>
        </p:txBody>
      </p:sp>
      <p:sp>
        <p:nvSpPr>
          <p:cNvPr id="18" name="Shape 16"/>
          <p:cNvSpPr/>
          <p:nvPr/>
        </p:nvSpPr>
        <p:spPr>
          <a:xfrm>
            <a:off x="1810512" y="34198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95728" y="3419856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00507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296" y="400507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0512" y="400507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95728" y="4005072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5902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590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84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784" dirty="0"/>
          </a:p>
        </p:txBody>
      </p:sp>
      <p:sp>
        <p:nvSpPr>
          <p:cNvPr id="26" name="Shape 24"/>
          <p:cNvSpPr/>
          <p:nvPr/>
        </p:nvSpPr>
        <p:spPr>
          <a:xfrm>
            <a:off x="1225296" y="45902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10512" y="45902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95728" y="4590288"/>
            <a:ext cx="530352" cy="530352"/>
          </a:xfrm>
          <a:prstGeom prst="roundRect">
            <a:avLst>
              <a:gd name="adj" fmla="val 10345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11880" y="246888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log₂ VALUES AT EACH PATCH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86200" y="3063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2, 1, 0, 2, 1]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top-left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8620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3630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1, 0, 0, 1, 0]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row 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86200" y="41970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83480" y="41970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2, 1, 0]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949440" y="41970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row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86200" y="47640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83480" y="4764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2, 2, 1]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949440" y="4764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corner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86200" y="5349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 8 dihedral symmetries for A and B, × 4 for C and D — 24 reads total)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3816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READ → ONE WEIGHT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138160" y="283464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w_A[idx_A]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96696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138160" y="324612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w_B[idx_B]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966960" y="3246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38160" y="365760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3657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w_C[idx_C]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966960" y="3657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+4.2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138160" y="4069080"/>
            <a:ext cx="3429000" cy="347472"/>
          </a:xfrm>
          <a:prstGeom prst="roundRect">
            <a:avLst>
              <a:gd name="adj" fmla="val 13158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75320" y="4069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w_D[idx_D]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966960" y="4069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38160" y="4572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 (× 24 reads in total)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138160" y="4937760"/>
            <a:ext cx="3429000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138160" y="493776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V(board) ≈ </a:t>
            </a:r>
            <a:pPr algn="ctr" indent="0" marL="0">
              <a:buNone/>
            </a:pPr>
            <a:r>
              <a:rPr lang="en-US" sz="22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47.5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illustrative. Real weights are learned by playing thousands of games.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04 · N-TUPLE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— one training step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· step · pick · update — no buffer, no batches, no gradient descent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423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6192" y="2651760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6192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greedy move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" y="38404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each legal swipe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by r + V(after)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best.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aₜ, rₜ, afterₜ.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438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0420" y="2423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651760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70832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4330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the env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43300" y="38404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move → afterₜ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random tile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 board sₜ₊₁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3902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95060" y="2423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05472" y="2651760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05472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7794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next move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7940" y="38404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1 on sₜ₊₁.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aₜ₊₁, rₜ₊₁,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afterₜ₊₁.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773668" y="3337560"/>
            <a:ext cx="283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029700" y="2423160"/>
            <a:ext cx="2606040" cy="2468880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2651760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40112" y="2651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1258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update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12580" y="384048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rₜ₊₁ + V(afterₜ₊₁) − V(afterₜ)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α·δ to all 24 weights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made up V(afterₜ).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update touches 24 numbers — microseconds per step.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 for 10,000 games (~55 min on CPU)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the headline numbers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and greedy as baselines · DQN and N-tuple were trained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423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578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2578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5780" y="4434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60420" y="2423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04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6042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336042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0420" y="4434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95060" y="2423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50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9506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19506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5060" y="4434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1D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29700" y="242316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2970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29700" y="32004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3,270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9029700" y="41148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29700" y="4434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Trained · winner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STANDS 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53492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wins by an order of magnitude on mean reward (3,270 vs 311 for DQN)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is effectively random: 311 vs 298 for uniform play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greedy (no learning) beats DQN by 4×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in log₂-merge units — about 5× smaller than the official 2048 score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how often each tile is reached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Max-tile probability tells the real story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233172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THE CHART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5256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reaches 1024 in 87% of games and 2048 in 25%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reaches 1024 in only 11%, never 2048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never reaches 512 — same distribution as random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not noise — it is structural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</a:t>
            </a:r>
            <a:pPr algn="ct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games end with the 2048 tile  </a:t>
            </a:r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(N-tuple, 300-game test set)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how they learn over time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Rolling-100 mean reward across training episodes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31720"/>
          <a:ext cx="7772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732520" y="2331720"/>
            <a:ext cx="2834640" cy="3657600"/>
          </a:xfrm>
          <a:prstGeom prst="roundRect">
            <a:avLst>
              <a:gd name="adj" fmla="val 322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TO NOTICE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05256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climbs steadily from ~500 to ~3,000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rises from ~100 to ~300 and flatlines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1024 tile: episode 307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2048 tile: episode 1,231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N-tuple's reward keeps growing · DQN's plateaus.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them play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on the left · N-tuple on the right · same starting state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755648" y="210312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755648" y="2514600"/>
            <a:ext cx="2935224" cy="2935224"/>
          </a:xfrm>
          <a:prstGeom prst="roundRect">
            <a:avLst>
              <a:gd name="adj" fmla="val 24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708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10" name="Shape 8"/>
          <p:cNvSpPr/>
          <p:nvPr/>
        </p:nvSpPr>
        <p:spPr>
          <a:xfrm>
            <a:off x="2551176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12" name="Shape 10"/>
          <p:cNvSpPr/>
          <p:nvPr/>
        </p:nvSpPr>
        <p:spPr>
          <a:xfrm>
            <a:off x="3255264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5526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14" name="Shape 12"/>
          <p:cNvSpPr/>
          <p:nvPr/>
        </p:nvSpPr>
        <p:spPr>
          <a:xfrm>
            <a:off x="3959352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935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360" dirty="0"/>
          </a:p>
        </p:txBody>
      </p:sp>
      <p:sp>
        <p:nvSpPr>
          <p:cNvPr id="16" name="Shape 14"/>
          <p:cNvSpPr/>
          <p:nvPr/>
        </p:nvSpPr>
        <p:spPr>
          <a:xfrm>
            <a:off x="1847088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47088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360" dirty="0"/>
          </a:p>
        </p:txBody>
      </p:sp>
      <p:sp>
        <p:nvSpPr>
          <p:cNvPr id="18" name="Shape 16"/>
          <p:cNvSpPr/>
          <p:nvPr/>
        </p:nvSpPr>
        <p:spPr>
          <a:xfrm>
            <a:off x="2551176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3255264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22" name="Shape 20"/>
          <p:cNvSpPr/>
          <p:nvPr/>
        </p:nvSpPr>
        <p:spPr>
          <a:xfrm>
            <a:off x="3959352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9352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24" name="Shape 22"/>
          <p:cNvSpPr/>
          <p:nvPr/>
        </p:nvSpPr>
        <p:spPr>
          <a:xfrm>
            <a:off x="1847088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47088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26" name="Shape 24"/>
          <p:cNvSpPr/>
          <p:nvPr/>
        </p:nvSpPr>
        <p:spPr>
          <a:xfrm>
            <a:off x="2551176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51176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360" dirty="0"/>
          </a:p>
        </p:txBody>
      </p:sp>
      <p:sp>
        <p:nvSpPr>
          <p:cNvPr id="28" name="Shape 26"/>
          <p:cNvSpPr/>
          <p:nvPr/>
        </p:nvSpPr>
        <p:spPr>
          <a:xfrm>
            <a:off x="3255264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59352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59352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360" dirty="0"/>
          </a:p>
        </p:txBody>
      </p:sp>
      <p:sp>
        <p:nvSpPr>
          <p:cNvPr id="31" name="Shape 29"/>
          <p:cNvSpPr/>
          <p:nvPr/>
        </p:nvSpPr>
        <p:spPr>
          <a:xfrm>
            <a:off x="1847088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47088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33" name="Shape 31"/>
          <p:cNvSpPr/>
          <p:nvPr/>
        </p:nvSpPr>
        <p:spPr>
          <a:xfrm>
            <a:off x="2551176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51176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35" name="Shape 33"/>
          <p:cNvSpPr/>
          <p:nvPr/>
        </p:nvSpPr>
        <p:spPr>
          <a:xfrm>
            <a:off x="3255264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5264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37" name="Shape 35"/>
          <p:cNvSpPr/>
          <p:nvPr/>
        </p:nvSpPr>
        <p:spPr>
          <a:xfrm>
            <a:off x="3959352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9352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39" name="Text 37"/>
          <p:cNvSpPr/>
          <p:nvPr/>
        </p:nvSpPr>
        <p:spPr>
          <a:xfrm>
            <a:off x="1481328" y="5632704"/>
            <a:ext cx="3666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dies quickly — no structure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87768" y="210312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87768" y="2514600"/>
            <a:ext cx="2935224" cy="2935224"/>
          </a:xfrm>
          <a:prstGeom prst="roundRect">
            <a:avLst>
              <a:gd name="adj" fmla="val 249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79208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79208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8083296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83296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2660" dirty="0"/>
          </a:p>
        </p:txBody>
      </p:sp>
      <p:sp>
        <p:nvSpPr>
          <p:cNvPr id="46" name="Shape 44"/>
          <p:cNvSpPr/>
          <p:nvPr/>
        </p:nvSpPr>
        <p:spPr>
          <a:xfrm>
            <a:off x="8787384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87384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2660" dirty="0"/>
          </a:p>
        </p:txBody>
      </p:sp>
      <p:sp>
        <p:nvSpPr>
          <p:cNvPr id="48" name="Shape 46"/>
          <p:cNvSpPr/>
          <p:nvPr/>
        </p:nvSpPr>
        <p:spPr>
          <a:xfrm>
            <a:off x="9491472" y="260604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91472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360" dirty="0"/>
          </a:p>
        </p:txBody>
      </p:sp>
      <p:sp>
        <p:nvSpPr>
          <p:cNvPr id="50" name="Shape 48"/>
          <p:cNvSpPr/>
          <p:nvPr/>
        </p:nvSpPr>
        <p:spPr>
          <a:xfrm>
            <a:off x="7379208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79208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6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2660" dirty="0"/>
          </a:p>
        </p:txBody>
      </p:sp>
      <p:sp>
        <p:nvSpPr>
          <p:cNvPr id="52" name="Shape 50"/>
          <p:cNvSpPr/>
          <p:nvPr/>
        </p:nvSpPr>
        <p:spPr>
          <a:xfrm>
            <a:off x="8083296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83296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360" dirty="0"/>
          </a:p>
        </p:txBody>
      </p:sp>
      <p:sp>
        <p:nvSpPr>
          <p:cNvPr id="54" name="Shape 52"/>
          <p:cNvSpPr/>
          <p:nvPr/>
        </p:nvSpPr>
        <p:spPr>
          <a:xfrm>
            <a:off x="8787384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787384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360" dirty="0"/>
          </a:p>
        </p:txBody>
      </p:sp>
      <p:sp>
        <p:nvSpPr>
          <p:cNvPr id="56" name="Shape 54"/>
          <p:cNvSpPr/>
          <p:nvPr/>
        </p:nvSpPr>
        <p:spPr>
          <a:xfrm>
            <a:off x="9491472" y="3310128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491472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58" name="Shape 56"/>
          <p:cNvSpPr/>
          <p:nvPr/>
        </p:nvSpPr>
        <p:spPr>
          <a:xfrm>
            <a:off x="7379208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79208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360" dirty="0"/>
          </a:p>
        </p:txBody>
      </p:sp>
      <p:sp>
        <p:nvSpPr>
          <p:cNvPr id="60" name="Shape 58"/>
          <p:cNvSpPr/>
          <p:nvPr/>
        </p:nvSpPr>
        <p:spPr>
          <a:xfrm>
            <a:off x="8083296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83296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360" dirty="0"/>
          </a:p>
        </p:txBody>
      </p:sp>
      <p:sp>
        <p:nvSpPr>
          <p:cNvPr id="62" name="Shape 60"/>
          <p:cNvSpPr/>
          <p:nvPr/>
        </p:nvSpPr>
        <p:spPr>
          <a:xfrm>
            <a:off x="8787384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87384" y="4014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64" name="Shape 62"/>
          <p:cNvSpPr/>
          <p:nvPr/>
        </p:nvSpPr>
        <p:spPr>
          <a:xfrm>
            <a:off x="9491472" y="4014216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4718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360" dirty="0"/>
          </a:p>
        </p:txBody>
      </p:sp>
      <p:sp>
        <p:nvSpPr>
          <p:cNvPr id="67" name="Shape 65"/>
          <p:cNvSpPr/>
          <p:nvPr/>
        </p:nvSpPr>
        <p:spPr>
          <a:xfrm>
            <a:off x="8083296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87384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91472" y="471830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DF2F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13448" y="5632704"/>
            <a:ext cx="3666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stacks tiles in a corner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5715000" y="3886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dies quickly · N-tuple stacks tiles in a corner.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linear method win?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the n-tuple gets for free — before it ever starts learning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28600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features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raw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n-tuple's patches encode exactly what good 2048 play is about: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adjacency of tiles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corner structure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monotonicity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has 256 raw numbers and no idea any of that matters.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28600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26280" y="3154680"/>
            <a:ext cx="457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sharing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free 4–8× efficiency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clever move in the top-left is a clever move in the top-right (mirrored), bottom-left (flipped), etc.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n-tuple updates all 8 variants at once.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learns each corner separately.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412480" y="3154680"/>
            <a:ext cx="457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32918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learning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11480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N-tuple learns afterstate values — the board before the random tile spawn.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keeps spawn noise out of the target.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learns the post-spawn board, so every target includes noise it couldn't have controlled.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about representation, not capacity.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2048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578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651760"/>
            <a:ext cx="822960" cy="822960"/>
          </a:xfrm>
          <a:prstGeom prst="ellipse">
            <a:avLst/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08660" y="3703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capacity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463040" y="4800600"/>
            <a:ext cx="731520" cy="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" y="4937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modest compute, the right features beat a generic deep net.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042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651760"/>
            <a:ext cx="822960" cy="822960"/>
          </a:xfrm>
          <a:prstGeom prst="ellipse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543300" y="3703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methods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obsolete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297680" y="4800600"/>
            <a:ext cx="731520" cy="0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4937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TD learning was invented in the 1980s. It still wins here.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506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651760"/>
            <a:ext cx="822960" cy="822960"/>
          </a:xfrm>
          <a:prstGeom prst="ellipse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77940" y="3703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precious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32320" y="4800600"/>
            <a:ext cx="73152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3660" y="4937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Symmetry, locality, afterstates — building them in is worth a lot of compute.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29700" y="23317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21240" y="2651760"/>
            <a:ext cx="822960" cy="822960"/>
          </a:xfrm>
          <a:prstGeom prst="ellipse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2124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212580" y="3703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 can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win 2048…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966960" y="4800600"/>
            <a:ext cx="73152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58300" y="493776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it needs convolutional encoders and more sophisticated training. Out of scope here.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691640" y="118872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502920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029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920240" y="534924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5349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0241280" y="1005840"/>
            <a:ext cx="914400" cy="914400"/>
          </a:xfrm>
          <a:prstGeom prst="roundRect">
            <a:avLst>
              <a:gd name="adj" fmla="val 6000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10835640" y="219456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356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9601200" y="4754880"/>
            <a:ext cx="960120" cy="960120"/>
          </a:xfrm>
          <a:prstGeom prst="roundRect">
            <a:avLst>
              <a:gd name="adj" fmla="val 5714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47548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0789920" y="5440680"/>
            <a:ext cx="822960" cy="822960"/>
          </a:xfrm>
          <a:prstGeom prst="roundRect">
            <a:avLst>
              <a:gd name="adj" fmla="val 6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0" y="5440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2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420" dirty="0"/>
          </a:p>
        </p:txBody>
      </p:sp>
      <p:sp>
        <p:nvSpPr>
          <p:cNvPr id="18" name="Shape 16"/>
          <p:cNvSpPr/>
          <p:nvPr/>
        </p:nvSpPr>
        <p:spPr>
          <a:xfrm>
            <a:off x="6016752" y="1783080"/>
            <a:ext cx="128016" cy="12801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22402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your attention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0" y="333756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0" y="41605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Florian Robrecht  ·  Janin Jankovski  ·  Anna Hartmann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with 2048</dc:title>
  <dc:subject>PptxGenJS Presentation</dc:subject>
  <dc:creator>Florian Robrecht · Janin Jankovski · Anna Hartmann</dc:creator>
  <cp:lastModifiedBy>Florian Robrecht · Janin Jankovski · Anna Hartmann</cp:lastModifiedBy>
  <cp:revision>1</cp:revision>
  <dcterms:created xsi:type="dcterms:W3CDTF">2026-05-11T13:15:19Z</dcterms:created>
  <dcterms:modified xsi:type="dcterms:W3CDTF">2026-05-11T13:15:19Z</dcterms:modified>
</cp:coreProperties>
</file>