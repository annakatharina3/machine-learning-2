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10C_0.xml" ContentType="application/vnd.ms-powerpoint.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5"/>
  </p:notesMasterIdLst>
  <p:sldIdLst>
    <p:sldId id="256" r:id="rId5"/>
    <p:sldId id="257" r:id="rId6"/>
    <p:sldId id="258" r:id="rId7"/>
    <p:sldId id="276" r:id="rId8"/>
    <p:sldId id="259" r:id="rId9"/>
    <p:sldId id="260" r:id="rId10"/>
    <p:sldId id="261" r:id="rId11"/>
    <p:sldId id="262" r:id="rId12"/>
    <p:sldId id="263" r:id="rId13"/>
    <p:sldId id="264" r:id="rId14"/>
    <p:sldId id="265" r:id="rId15"/>
    <p:sldId id="266" r:id="rId16"/>
    <p:sldId id="267" r:id="rId17"/>
    <p:sldId id="268" r:id="rId18"/>
    <p:sldId id="272" r:id="rId19"/>
    <p:sldId id="269" r:id="rId20"/>
    <p:sldId id="270" r:id="rId21"/>
    <p:sldId id="271" r:id="rId22"/>
    <p:sldId id="274" r:id="rId23"/>
    <p:sldId id="275"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7640030-3568-8E28-311D-E01495D944CA}" name="Janin Jankovski" initials="JJ" userId="S::janin.jankovski@fs-Students.de::c956b1d9-3a47-42e8-b644-3ee8b557f8a3" providerId="AD"/>
  <p188:author id="{8D926BB5-1F4A-EE2D-A3C6-678EFE759D47}" name="Anna Hartmann" initials="AH" userId="S::Anna.hartmann@fs-students.de::186519e8-cc5c-4c1e-80d7-b20a20f51f36"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DC22E"/>
    <a:srgbClr val="9E978D"/>
    <a:srgbClr val="F65E3B"/>
    <a:srgbClr val="F59563"/>
    <a:srgbClr val="F67C5F"/>
    <a:srgbClr val="FBF8F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CD75C9-25F8-4D7B-8AAB-934ECDB73094}" v="2402" dt="2026-05-22T15:37:37.304"/>
    <p1510:client id="{D156A2C4-7809-E246-BE2D-BB6C8FD2EDC0}" v="47" dt="2026-05-22T12:17:03.7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771" autoAdjust="0"/>
  </p:normalViewPr>
  <p:slideViewPr>
    <p:cSldViewPr snapToGrid="0">
      <p:cViewPr varScale="1">
        <p:scale>
          <a:sx n="78" d="100"/>
          <a:sy n="78" d="100"/>
        </p:scale>
        <p:origin x="850" y="67"/>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5/10/relationships/revisionInfo" Target="revisionInfo.xml"/></Relationships>
</file>

<file path=ppt/comments/modernComment_10C_0.xml><?xml version="1.0" encoding="utf-8"?>
<p188:cmLst xmlns:a="http://schemas.openxmlformats.org/drawingml/2006/main" xmlns:r="http://schemas.openxmlformats.org/officeDocument/2006/relationships" xmlns:p188="http://schemas.microsoft.com/office/powerpoint/2018/8/main">
  <p188:cm id="{1953EC7A-2AEB-D946-B42B-D1008A6E7F64}" authorId="{37640030-3568-8E28-311D-E01495D944CA}" created="2026-05-19T14:16:56.679">
    <pc:sldMkLst xmlns:pc="http://schemas.microsoft.com/office/powerpoint/2013/main/command">
      <pc:docMk/>
      <pc:sldMk cId="0" sldId="268"/>
    </pc:sldMkLst>
    <p188:replyLst>
      <p188:reply id="{D824F5A1-E811-4C88-BD40-4CC02D9966CD}" authorId="{8D926BB5-1F4A-EE2D-A3C6-678EFE759D47}" created="2026-05-20T07:55:23.052">
        <p188:txBody>
          <a:bodyPr/>
          <a:lstStyle/>
          <a:p>
            <a:r>
              <a:rPr lang="en-GB"/>
              <a:t>Only 4 actions, fully deterministic given the random tile spawn. The "deep" in DQN buys you very little — there's no complex perception problem like in Atari. You're paying the cost of a neural net (slow, unstable, sample-hungry) without getting its benefit (learning features from pixels). </a:t>
            </a:r>
          </a:p>
        </p188:txBody>
      </p188:reply>
    </p188:replyLst>
    <p188:txBody>
      <a:bodyPr/>
      <a:lstStyle/>
      <a:p>
        <a:r>
          <a:rPr lang="de-DE"/>
          <a:t>Wir sollten erklären können, warum DQN so schlecht performt insb gegenüber Greedy. In Slide 17 besprechen wir ja nur wieso N-tuple besser ist als DQN.</a:t>
        </a:r>
      </a:p>
    </p188:txBody>
  </p188:cm>
  <p188:cm id="{DB8CC095-F53C-4AE4-9E5A-B650DB3B1D4C}" authorId="{8D926BB5-1F4A-EE2D-A3C6-678EFE759D47}" created="2026-05-20T07:56:06.225">
    <pc:sldMkLst xmlns:pc="http://schemas.microsoft.com/office/powerpoint/2013/main/command">
      <pc:docMk/>
      <pc:sldMk cId="0" sldId="268"/>
    </pc:sldMkLst>
    <p188:replyLst>
      <p188:reply id="{1A44FE93-3742-416F-B869-28F5FFDB8263}" authorId="{8D926BB5-1F4A-EE2D-A3C6-678EFE759D47}" created="2026-05-20T07:56:22.293">
        <p188:txBody>
          <a:bodyPr/>
          <a:lstStyle/>
          <a:p>
            <a:r>
              <a:rPr lang="en-GB"/>
              <a:t>Translation invariance doesn't help much. A pattern in the corner means something very different from a pattern in the center in 2048 (corner strategies are core to good play). You actually don't want full translation invariance.
Receptive field is trivial. Even a 2-layer CNN sees the whole board. You're not buying hierarchical feature composition like you would on an image.</a:t>
            </a:r>
          </a:p>
        </p188:txBody>
      </p188:reply>
    </p188:replyLst>
    <p188:txBody>
      <a:bodyPr/>
      <a:lstStyle/>
      <a:p>
        <a:r>
          <a:rPr lang="en-GB"/>
          <a:t>Why not try CNN to preserve patterns?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9363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everyone. Welcome. We're going to talk today about teaching a computer</a:t>
            </a:r>
          </a:p>
          <a:p>
            <a:r>
              <a:t>to play the puzzle game 2048, and what happens when you put a modern deep-</a:t>
            </a:r>
          </a:p>
          <a:p>
            <a:r>
              <a:t>learning method head-to-head with a classical method from the 1980s.</a:t>
            </a:r>
          </a:p>
          <a:p>
            <a:endParaRPr/>
          </a:p>
          <a:p>
            <a:r>
              <a:t>A quick spoiler: the classical method wins, decisively, and the *why* turns</a:t>
            </a:r>
          </a:p>
          <a:p>
            <a:r>
              <a:t>out to be the most interesting part of the whole project.</a:t>
            </a:r>
          </a:p>
          <a:p>
            <a:endParaRPr/>
          </a:p>
          <a:p>
            <a:r>
              <a:t>I'm Florian, with Janin and Anna — this is our Machine Learning 2 Assignment 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Some quick context. 2048 is one of the most-played puzzle games of the 2010s.</a:t>
            </a:r>
          </a:p>
          <a:p>
            <a:r>
              <a:t>It was made by Gabriele Cirulli, who was 19 at the time. He built it in a</a:t>
            </a:r>
          </a:p>
          <a:p>
            <a:r>
              <a:t>weekend, put it on GitHub, and within a week it had four million users.</a:t>
            </a:r>
          </a:p>
          <a:p>
            <a:endParaRPr/>
          </a:p>
          <a:p>
            <a:r>
              <a:t>What makes this game interesting for *machine learning* is the long history</a:t>
            </a:r>
          </a:p>
          <a:p>
            <a:r>
              <a:t>it has with classical algorithms. The strongest non-search agents ever</a:t>
            </a:r>
          </a:p>
          <a:p>
            <a:r>
              <a:t>recorded for 2048 were built in 2014 by Marcin Szubert and Wojciech</a:t>
            </a:r>
          </a:p>
          <a:p>
            <a:r>
              <a:t>Jaśkowski, using a method called *n-tuple temporal-difference learning*.</a:t>
            </a:r>
          </a:p>
          <a:p>
            <a:r>
              <a:t>That method predates the deep-learning boom by years.</a:t>
            </a:r>
          </a:p>
          <a:p>
            <a:endParaRPr/>
          </a:p>
          <a:p>
            <a:r>
              <a:t>The theoretical maximum tile is 131,072 — that's 2 to the 17th. Nobody</a:t>
            </a:r>
          </a:p>
          <a:p>
            <a:r>
              <a:t>has reached it in fair play, even with hours of computer search.</a:t>
            </a:r>
          </a:p>
          <a:p>
            <a:endParaRPr/>
          </a:p>
          <a:p>
            <a:r>
              <a:t>The reason we're doing this experiment: it's an obvious-feeling 2026 move</a:t>
            </a:r>
          </a:p>
          <a:p>
            <a:r>
              <a:t>to throw a deep neural network at 2048 and see if it beats the classical</a:t>
            </a:r>
          </a:p>
          <a:p>
            <a:r>
              <a:t>method. So that's what we did.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rules are simple. You have a 4-by-4 grid. You swipe in one of four</a:t>
            </a:r>
          </a:p>
          <a:p>
            <a:r>
              <a:t>directions — up, down, left, right — and every tile slides as far as it can</a:t>
            </a:r>
          </a:p>
          <a:p>
            <a:r>
              <a:t>in that direction.</a:t>
            </a:r>
          </a:p>
          <a:p>
            <a:endParaRPr/>
          </a:p>
          <a:p>
            <a:r>
              <a:t>When two tiles with the *same* number collide, they merge into one tile of</a:t>
            </a:r>
          </a:p>
          <a:p>
            <a:r>
              <a:t>double the value. So two 2s become a 4, two 4s become an 8, and so on.</a:t>
            </a:r>
          </a:p>
          <a:p>
            <a:endParaRPr/>
          </a:p>
          <a:p>
            <a:r>
              <a:t>After every swipe, a new tile appears in a random empty cell. Usually a 2</a:t>
            </a:r>
          </a:p>
          <a:p>
            <a:r>
              <a:t>(90 % of the time), occasionally a 4 (10 %).</a:t>
            </a:r>
          </a:p>
          <a:p>
            <a:endParaRPr/>
          </a:p>
          <a:p>
            <a:r>
              <a:t>You win if you ever build the 2048 tile. You lose when the board fills up</a:t>
            </a:r>
          </a:p>
          <a:p>
            <a:r>
              <a:t>and no merges are possible.</a:t>
            </a:r>
          </a:p>
          <a:p>
            <a:endParaRPr/>
          </a:p>
          <a:p>
            <a:r>
              <a:t>Look at example 2 on the right. You can get *two* merges in a single swipe</a:t>
            </a:r>
          </a:p>
          <a:p>
            <a:r>
              <a:t>if you set them up right — that pair of 2s becomes a 4, and that pair of 4s</a:t>
            </a:r>
          </a:p>
          <a:p>
            <a:r>
              <a:t>becomes an 8, all in one swipe. But there's a subtlety: those new tiles</a:t>
            </a:r>
          </a:p>
          <a:p>
            <a:r>
              <a:t>don't *chain*. The new 4 doesn't merge with the new 8 in the same swipe.</a:t>
            </a:r>
          </a:p>
          <a:p>
            <a:r>
              <a:t>That makes the game easier to reason about — every swipe is bounded.</a:t>
            </a:r>
          </a:p>
          <a:p>
            <a:endParaRPr/>
          </a:p>
          <a:p>
            <a:r>
              <a:t>We implemented this with a bitboard — each row of the board packs into</a:t>
            </a:r>
          </a:p>
          <a:p>
            <a:r>
              <a:t>16 bits, so all 65,536 possible row configurations fit in a lookup table.</a:t>
            </a:r>
          </a:p>
          <a:p>
            <a:r>
              <a:t>Move logic is then just four table reads per swipe. Very fast, and we</a:t>
            </a:r>
          </a:p>
          <a:p>
            <a:r>
              <a:t>unit-tested it against a naive implementation across every possible row.</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D7FAB-1927-5809-CC16-1027187E63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B4006-E3ED-7B55-EBC2-C7869428DAE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D26EEA0-8F22-C070-1F58-56686A721F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F526AAD-FE59-9E29-B422-FE1E95CE9CD0}"/>
              </a:ext>
            </a:extLst>
          </p:cNvPr>
          <p:cNvSpPr>
            <a:spLocks noGrp="1"/>
          </p:cNvSpPr>
          <p:nvPr>
            <p:ph type="sldNum" sz="quarter" idx="5"/>
          </p:nvPr>
        </p:nvSpPr>
        <p:spPr/>
      </p:sp>
    </p:spTree>
    <p:extLst>
      <p:ext uri="{BB962C8B-B14F-4D97-AF65-F5344CB8AC3E}">
        <p14:creationId xmlns:p14="http://schemas.microsoft.com/office/powerpoint/2010/main" val="2125402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talk about our agents, let me explain *reinforcement learning*</a:t>
            </a:r>
          </a:p>
          <a:p>
            <a:r>
              <a:t>in plain language, in case it's new to you.</a:t>
            </a:r>
          </a:p>
          <a:p>
            <a:endParaRPr/>
          </a:p>
          <a:p>
            <a:r>
              <a:t>Reinforcement learning is the branch of machine learning where the computer</a:t>
            </a:r>
          </a:p>
          <a:p>
            <a:r>
              <a:t>learns by trial and error. The setup is a loop:</a:t>
            </a:r>
          </a:p>
          <a:p>
            <a:endParaRPr/>
          </a:p>
          <a:p>
            <a:r>
              <a:t>1. The agent looks at the current STATE — in our case, the board.</a:t>
            </a:r>
          </a:p>
          <a:p>
            <a:r>
              <a:t>2. It picks an ACTION — a swipe direction.</a:t>
            </a:r>
          </a:p>
          <a:p>
            <a:r>
              <a:t>3. It gets a REWARD — the points it scored on that move.</a:t>
            </a:r>
          </a:p>
          <a:p>
            <a:r>
              <a:t>4. Then it sees the new state, and the loop repeats.</a:t>
            </a:r>
          </a:p>
          <a:p>
            <a:endParaRPr/>
          </a:p>
          <a:p>
            <a:r>
              <a:t>After playing thousands of games, the agent learns which moves tend to lead</a:t>
            </a:r>
          </a:p>
          <a:p>
            <a:r>
              <a:t>to high total scores. There's no teacher telling it "this is the correct</a:t>
            </a:r>
          </a:p>
          <a:p>
            <a:r>
              <a:t>swipe" — nobody labelled the data. The agent figures it all out from the</a:t>
            </a:r>
          </a:p>
          <a:p>
            <a:r>
              <a:t>rewards it observes.</a:t>
            </a:r>
          </a:p>
          <a:p>
            <a:endParaRPr/>
          </a:p>
          <a:p>
            <a:r>
              <a:t>The hard part is generalization. A 2048 board can take 16 to the 16th</a:t>
            </a:r>
          </a:p>
          <a:p>
            <a:r>
              <a:t>configurations — that's about 18 quintillion possible boards. Nobody can</a:t>
            </a:r>
          </a:p>
          <a:p>
            <a:r>
              <a:t>memorize a strategy for each one. So every learning agent has to define</a:t>
            </a:r>
          </a:p>
          <a:p>
            <a:r>
              <a:t>its own notion of "boards that look similar should be treated similarly."</a:t>
            </a:r>
          </a:p>
          <a:p>
            <a:endParaRPr/>
          </a:p>
          <a:p>
            <a:r>
              <a:t>Our two learners — DQN and n-tuple — do this in very different ways.</a:t>
            </a:r>
          </a:p>
          <a:p>
            <a:r>
              <a:t>That's the experiment.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map of what we actually built.</a:t>
            </a:r>
          </a:p>
          <a:p>
            <a:endParaRPr/>
          </a:p>
          <a:p>
            <a:r>
              <a:t>First: </a:t>
            </a:r>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The game engine is built for speed. Every tile is stored as its logarithm base 2 — so an empty cell is 0, a 2 is 1, a 4 is 2, an 8 is 3, and so on up to 32768, which is 15. That gives 16 possible values per cell (0 to 15). A row has 4 cells, and since each cell can independently be any of those 16 values, the number of possible rows is 16⁴ = 65,536. Each row can therefore be turned into a single number that identifies it uniquely. We precompute the result of every possible move on every one of those 65,536 rows once, into a lookup table. After that, making a move is a table lookup instead of a calculation — which is what lets us play millions of games quickly. And it's unit-tested, so the shortcut is verified correct.</a:t>
            </a:r>
          </a:p>
          <a:p>
            <a:endParaRPr lang="en-US"/>
          </a:p>
          <a:p>
            <a:r>
              <a:t>Second: four agents. Two baselines (random and a hand-coded heuristic) and</a:t>
            </a:r>
          </a:p>
          <a:p>
            <a:r>
              <a:t>two learners (DQN and n-tuple). All four implement the same interface — given</a:t>
            </a:r>
          </a:p>
          <a:p>
            <a:r>
              <a:t>a board and a list of legal swipes, return a swipe</a:t>
            </a:r>
            <a:r>
              <a:rPr lang="en-US"/>
              <a:t>.</a:t>
            </a:r>
          </a:p>
          <a:p>
            <a:endParaRPr/>
          </a:p>
          <a:p>
            <a:r>
              <a:t>Third: separate training scripts</a:t>
            </a:r>
            <a:r>
              <a:rPr lang="en-US"/>
              <a:t> for the two learning algorithms</a:t>
            </a:r>
            <a:r>
              <a:t>. DQN needs replay buffer + gradient descent +</a:t>
            </a:r>
          </a:p>
          <a:p>
            <a:r>
              <a:rPr err="1"/>
              <a:t>PyTorch</a:t>
            </a:r>
            <a:r>
              <a:t>. The n-tuple just needs NumPy and lookup tables. </a:t>
            </a:r>
            <a:endParaRPr lang="en-US"/>
          </a:p>
          <a:p>
            <a:endParaRPr/>
          </a:p>
          <a:p>
            <a:r>
              <a:t>Fourth: a common evaluation harness. Each agent runs on hundreds of fresh</a:t>
            </a:r>
          </a:p>
          <a:p>
            <a:r>
              <a:t>games with</a:t>
            </a:r>
            <a:r>
              <a:rPr lang="en-US"/>
              <a:t> the same seed</a:t>
            </a:r>
            <a:r>
              <a:t> that were </a:t>
            </a:r>
            <a:r>
              <a:rPr lang="en-US"/>
              <a:t>of course </a:t>
            </a:r>
            <a:r>
              <a:t>*not* in training. Same engine, same protocol,</a:t>
            </a:r>
            <a:r>
              <a:rPr lang="en-US"/>
              <a:t> </a:t>
            </a:r>
            <a:r>
              <a:t>same metrics </a:t>
            </a:r>
            <a:r>
              <a:rPr lang="en-US"/>
              <a:t>so we ensure a </a:t>
            </a:r>
            <a:r>
              <a:t>fair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lets quickly introduce our four agents. </a:t>
            </a:r>
            <a:endParaRPr/>
          </a:p>
          <a:p>
            <a:endParaRPr/>
          </a:p>
          <a:p>
            <a:r>
              <a:t>RANDOM just picks a legal swipe uniformly at random. It's our "anything</a:t>
            </a:r>
          </a:p>
          <a:p>
            <a:r>
              <a:t>worse than this is</a:t>
            </a:r>
            <a:r>
              <a:rPr lang="en-US"/>
              <a:t> kind of</a:t>
            </a:r>
            <a:r>
              <a:t> broken" floor.</a:t>
            </a:r>
          </a:p>
          <a:p>
            <a:endParaRPr/>
          </a:p>
          <a:p>
            <a:r>
              <a:t>GREEDY is 30 lines of hand-coded rules. For each candidate swipe, it scores</a:t>
            </a:r>
          </a:p>
          <a:p>
            <a:r>
              <a:t>the resulting board on three things: </a:t>
            </a:r>
            <a:endParaRPr lang="en-US"/>
          </a:p>
          <a:p>
            <a:r>
              <a:t>monotonicity — are rows or columns</a:t>
            </a:r>
            <a:r>
              <a:rPr lang="en-US"/>
              <a:t> </a:t>
            </a:r>
            <a:r>
              <a:t>sorted?</a:t>
            </a:r>
            <a:endParaRPr lang="en-US"/>
          </a:p>
          <a:p>
            <a:r>
              <a:t>empty cells — more is better</a:t>
            </a:r>
            <a:endParaRPr lang="en-US"/>
          </a:p>
          <a:p>
            <a:r>
              <a:t>and a corner bonus — extra points</a:t>
            </a:r>
            <a:r>
              <a:rPr lang="en-US"/>
              <a:t> </a:t>
            </a:r>
            <a:r>
              <a:t>if the biggest tile is in a corner. </a:t>
            </a:r>
            <a:endParaRPr lang="en-US"/>
          </a:p>
          <a:p>
            <a:r>
              <a:t>Then it picks the swipe with the highest</a:t>
            </a:r>
            <a:r>
              <a:rPr lang="en-US"/>
              <a:t> </a:t>
            </a:r>
            <a:r>
              <a:t>total.</a:t>
            </a:r>
            <a:r>
              <a:rPr lang="en-US"/>
              <a:t> Here we don’t have any</a:t>
            </a:r>
            <a:r>
              <a:t> learning at all. This is </a:t>
            </a:r>
            <a:r>
              <a:rPr lang="en-US"/>
              <a:t>purely based on what humans think make a good game. </a:t>
            </a:r>
            <a:endParaRPr/>
          </a:p>
          <a:p>
            <a:endParaRPr/>
          </a:p>
          <a:p>
            <a:r>
              <a:t>DQN is a Deep Q-Network. A neural network reads the board and learns to</a:t>
            </a:r>
          </a:p>
          <a:p>
            <a:r>
              <a:t>predict, for each swipe, the long-term value of taking that swipe. </a:t>
            </a:r>
            <a:r>
              <a:rPr lang="en-US"/>
              <a:t>I am going to explain this one in detail next. </a:t>
            </a:r>
            <a:endParaRPr/>
          </a:p>
          <a:p>
            <a:endParaRPr/>
          </a:p>
          <a:p>
            <a:r>
              <a:t>N-TUPLE is the classical method from the 2014 paper. </a:t>
            </a:r>
            <a:r>
              <a:rPr lang="en-US"/>
              <a:t>Florian will explain this one soon. </a:t>
            </a:r>
          </a:p>
          <a:p>
            <a:endParaRPr/>
          </a:p>
          <a:p>
            <a:r>
              <a:t>All four implement the same interface</a:t>
            </a:r>
            <a:r>
              <a:rPr lang="en-US"/>
              <a:t> and</a:t>
            </a:r>
            <a:r>
              <a:t> they're swappable in the</a:t>
            </a:r>
            <a:r>
              <a:rPr lang="en-US"/>
              <a:t> </a:t>
            </a:r>
            <a:r>
              <a:t>evaluator.</a:t>
            </a:r>
            <a:r>
              <a:rPr lang="en-US"/>
              <a:t> The first two are just heuristics and the last two are learning algorithms.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sz="1200" b="0" kern="1200">
                <a:solidFill>
                  <a:schemeClr val="tx1"/>
                </a:solidFill>
                <a:effectLst/>
                <a:latin typeface="+mn-lt"/>
                <a:ea typeface="+mn-ea"/>
                <a:cs typeface="+mn-cs"/>
              </a:rPr>
              <a:t>The DQN stands for a Deep Q-Network. Since all the hype nowadays is around neural networks, we wanted to give it a try for the 2048 game. </a:t>
            </a:r>
          </a:p>
          <a:p>
            <a:endParaRPr lang="en-GB" sz="1200" b="1" kern="1200">
              <a:solidFill>
                <a:schemeClr val="tx1"/>
              </a:solidFill>
              <a:effectLst/>
              <a:latin typeface="+mn-lt"/>
              <a:ea typeface="+mn-ea"/>
              <a:cs typeface="+mn-cs"/>
            </a:endParaRPr>
          </a:p>
          <a:p>
            <a:r>
              <a:rPr lang="en-GB" sz="1200" b="1" kern="1200">
                <a:solidFill>
                  <a:schemeClr val="tx1"/>
                </a:solidFill>
                <a:effectLst/>
                <a:latin typeface="+mn-lt"/>
                <a:ea typeface="+mn-ea"/>
                <a:cs typeface="+mn-cs"/>
              </a:rPr>
              <a:t>So the Plain idea is that:</a:t>
            </a:r>
            <a:r>
              <a:rPr lang="en-GB" sz="1200" kern="1200">
                <a:solidFill>
                  <a:schemeClr val="tx1"/>
                </a:solidFill>
                <a:effectLst/>
                <a:latin typeface="+mn-lt"/>
                <a:ea typeface="+mn-ea"/>
                <a:cs typeface="+mn-cs"/>
              </a:rPr>
              <a:t> A neural network looks at the board and predicts, for each of the four swipes, how many points you'll score in the long run if you make that swipe. The agent then picks the swipe with the highest predicted value.</a:t>
            </a:r>
          </a:p>
          <a:p>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The 'Q’ in the name stands for the </a:t>
            </a:r>
            <a:r>
              <a:rPr lang="en-GB" sz="1200" b="1" kern="1200">
                <a:solidFill>
                  <a:schemeClr val="tx1"/>
                </a:solidFill>
                <a:effectLst/>
                <a:latin typeface="+mn-lt"/>
                <a:ea typeface="+mn-ea"/>
                <a:cs typeface="+mn-cs"/>
              </a:rPr>
              <a:t>Q-value</a:t>
            </a:r>
            <a:r>
              <a:rPr lang="en-GB" sz="1200" kern="1200">
                <a:solidFill>
                  <a:schemeClr val="tx1"/>
                </a:solidFill>
                <a:effectLst/>
                <a:latin typeface="+mn-lt"/>
                <a:ea typeface="+mn-ea"/>
                <a:cs typeface="+mn-cs"/>
              </a:rPr>
              <a:t>, which answers the question: </a:t>
            </a:r>
            <a:r>
              <a:rPr lang="en-GB" sz="1200" i="1" kern="1200">
                <a:solidFill>
                  <a:schemeClr val="tx1"/>
                </a:solidFill>
                <a:effectLst/>
                <a:latin typeface="+mn-lt"/>
                <a:ea typeface="+mn-ea"/>
                <a:cs typeface="+mn-cs"/>
              </a:rPr>
              <a:t>'if I'm in this board state and I swipe in this direction, how much total reward will I get, counting all the future moves too?’</a:t>
            </a:r>
          </a:p>
          <a:p>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The architecture is a small fully-connected neural network.</a:t>
            </a:r>
          </a:p>
          <a:p>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The INPUT is the 4-by-4 board encoded as a one-hot tensor as we will see on the next slide. </a:t>
            </a:r>
          </a:p>
          <a:p>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The architecture itself is nothing fancy — a feedforward fully connected network with two hidden layers (512 and 256 neurons, </a:t>
            </a:r>
            <a:r>
              <a:rPr lang="en-GB" sz="1200" kern="1200" err="1">
                <a:solidFill>
                  <a:schemeClr val="tx1"/>
                </a:solidFill>
                <a:effectLst/>
                <a:latin typeface="+mn-lt"/>
                <a:ea typeface="+mn-ea"/>
                <a:cs typeface="+mn-cs"/>
              </a:rPr>
              <a:t>ReLU</a:t>
            </a:r>
            <a:r>
              <a:rPr lang="en-GB" sz="1200" kern="1200">
                <a:solidFill>
                  <a:schemeClr val="tx1"/>
                </a:solidFill>
                <a:effectLst/>
                <a:latin typeface="+mn-lt"/>
                <a:ea typeface="+mn-ea"/>
                <a:cs typeface="+mn-cs"/>
              </a:rPr>
              <a:t> activation).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a:solidFill>
                  <a:schemeClr val="tx1"/>
                </a:solidFill>
                <a:effectLst/>
                <a:latin typeface="+mn-lt"/>
                <a:ea typeface="+mn-ea"/>
                <a:cs typeface="+mn-cs"/>
              </a:rPr>
              <a:t>This specific architecture we chose due to what we learned with </a:t>
            </a:r>
            <a:r>
              <a:rPr lang="en-GB" sz="1200" kern="1200" err="1">
                <a:solidFill>
                  <a:schemeClr val="tx1"/>
                </a:solidFill>
                <a:effectLst/>
                <a:latin typeface="+mn-lt"/>
                <a:ea typeface="+mn-ea"/>
                <a:cs typeface="+mn-cs"/>
              </a:rPr>
              <a:t>greg</a:t>
            </a:r>
            <a:r>
              <a:rPr lang="en-GB" sz="1200" kern="1200">
                <a:solidFill>
                  <a:schemeClr val="tx1"/>
                </a:solidFill>
                <a:effectLst/>
                <a:latin typeface="+mn-lt"/>
                <a:ea typeface="+mn-ea"/>
                <a:cs typeface="+mn-cs"/>
              </a:rPr>
              <a:t> </a:t>
            </a:r>
            <a:r>
              <a:rPr lang="en-US" sz="1200" kern="1200">
                <a:solidFill>
                  <a:schemeClr val="tx1"/>
                </a:solidFill>
                <a:effectLst/>
                <a:latin typeface="+mn-lt"/>
                <a:ea typeface="+mn-ea"/>
                <a:cs typeface="+mn-cs"/>
              </a:rPr>
              <a:t>with a pyramid shape as a classic heuristic that encourages the network to summarize rather than memorize. Two hidden layers is shallow so that it doesn’t become unstable but has enough capacity to learn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The OUTPUT layer has 4 neurons — one per swipe direction. </a:t>
            </a:r>
          </a:p>
          <a:p>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Critically: the network has no domain knowledge built in. It doesn't know what a "tile" is, what a "merge" is, what a "corner" is — it just gets 256 floats and four output buckets, and it has to figure out the rest from playing the game.</a:t>
            </a:r>
          </a:p>
          <a:p>
            <a:r>
              <a:rPr lang="en-GB" sz="1200" kern="1200">
                <a:solidFill>
                  <a:schemeClr val="tx1"/>
                </a:solidFill>
                <a:effectLst/>
                <a:latin typeface="+mn-lt"/>
                <a:ea typeface="+mn-ea"/>
                <a:cs typeface="+mn-cs"/>
              </a:rPr>
              <a:t> </a:t>
            </a:r>
          </a:p>
          <a:p>
            <a:r>
              <a:rPr lang="en-GB" sz="1200" kern="1200">
                <a:solidFill>
                  <a:schemeClr val="tx1"/>
                </a:solidFill>
                <a:effectLst/>
                <a:latin typeface="+mn-lt"/>
                <a:ea typeface="+mn-ea"/>
                <a:cs typeface="+mn-cs"/>
              </a:rPr>
              <a:t>We trained for 5 000 games — about 30 minutes on a Mac GPU.</a:t>
            </a:r>
          </a:p>
          <a:p>
            <a:endParaRPr lang="en-GB" sz="1200" kern="1200">
              <a:solidFill>
                <a:schemeClr val="tx1"/>
              </a:solidFill>
              <a:effectLst/>
              <a:latin typeface="+mn-lt"/>
              <a:ea typeface="+mn-ea"/>
              <a:cs typeface="+mn-cs"/>
            </a:endParaRPr>
          </a:p>
          <a:p>
            <a:endParaRPr lang="en-GB" sz="1200" kern="1200">
              <a:solidFill>
                <a:schemeClr val="tx1"/>
              </a:solidFill>
              <a:effectLst/>
              <a:latin typeface="+mn-lt"/>
              <a:ea typeface="+mn-ea"/>
              <a:cs typeface="+mn-cs"/>
            </a:endParaRPr>
          </a:p>
          <a:p>
            <a:endParaRPr lang="en-GB" sz="1200" kern="1200">
              <a:solidFill>
                <a:schemeClr val="tx1"/>
              </a:solidFill>
              <a:effectLst/>
              <a:latin typeface="+mn-lt"/>
              <a:ea typeface="+mn-ea"/>
              <a:cs typeface="+mn-cs"/>
            </a:endParaRPr>
          </a:p>
          <a:p>
            <a:endParaRPr lang="en-GB" sz="1200" kern="1200">
              <a:solidFill>
                <a:schemeClr val="tx1"/>
              </a:solidFill>
              <a:effectLst/>
              <a:latin typeface="+mn-lt"/>
              <a:ea typeface="+mn-ea"/>
              <a:cs typeface="+mn-cs"/>
            </a:endParaRPr>
          </a:p>
          <a:p>
            <a:r>
              <a:rPr lang="en-GB" sz="1200" kern="1200">
                <a:solidFill>
                  <a:schemeClr val="tx1"/>
                </a:solidFill>
                <a:effectLst/>
                <a:latin typeface="+mn-lt"/>
                <a:ea typeface="+mn-ea"/>
                <a:cs typeface="+mn-cs"/>
              </a:rPr>
              <a:t> </a:t>
            </a:r>
          </a:p>
          <a:p>
            <a:r>
              <a:rPr lang="en-US" sz="1200" kern="1200">
                <a:solidFill>
                  <a:schemeClr val="tx1"/>
                </a:solidFill>
                <a:effectLst/>
                <a:latin typeface="+mn-lt"/>
                <a:ea typeface="+mn-ea"/>
                <a:cs typeface="+mn-cs"/>
              </a:rPr>
              <a:t>MLP – Multi-layer perceptron: fully-connected neural network</a:t>
            </a:r>
            <a:endParaRPr lang="en-GB" sz="1200" kern="1200">
              <a:solidFill>
                <a:schemeClr val="tx1"/>
              </a:solidFill>
              <a:effectLst/>
              <a:latin typeface="+mn-lt"/>
              <a:ea typeface="+mn-ea"/>
              <a:cs typeface="+mn-cs"/>
            </a:endParaRPr>
          </a:p>
          <a:p>
            <a:r>
              <a:rPr lang="en-US" sz="1200" kern="1200" err="1">
                <a:solidFill>
                  <a:schemeClr val="tx1"/>
                </a:solidFill>
                <a:effectLst/>
                <a:latin typeface="+mn-lt"/>
                <a:ea typeface="+mn-ea"/>
                <a:cs typeface="+mn-cs"/>
              </a:rPr>
              <a:t>ReLU</a:t>
            </a:r>
            <a:r>
              <a:rPr lang="en-US" sz="1200" kern="1200">
                <a:solidFill>
                  <a:schemeClr val="tx1"/>
                </a:solidFill>
                <a:effectLst/>
                <a:latin typeface="+mn-lt"/>
                <a:ea typeface="+mn-ea"/>
                <a:cs typeface="+mn-cs"/>
              </a:rPr>
              <a:t> – Rectified Linear Unit: introduce nonlinearity, 0 or higher number, no vanishing gradient problem </a:t>
            </a:r>
            <a:endParaRPr lang="en-GB"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Layers: 2 hidden: shallow MLP so that it doesn’t become unstable but has enough capacity to learn non-linear patterns</a:t>
            </a:r>
            <a:endParaRPr lang="en-GB" sz="1200" kern="1200">
              <a:solidFill>
                <a:schemeClr val="tx1"/>
              </a:solidFill>
              <a:effectLst/>
              <a:latin typeface="+mn-lt"/>
              <a:ea typeface="+mn-ea"/>
              <a:cs typeface="+mn-cs"/>
            </a:endParaRPr>
          </a:p>
          <a:p>
            <a:endParaRPr lang="en-US"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DeepMind Atari DQN paper uses 512 and 256 hidden units – powers of 2, pyramid shape is a classic heuristic that encourages the network to summarize rather than memorize </a:t>
            </a:r>
            <a:endParaRPr lang="en-GB" sz="1200" kern="1200">
              <a:solidFill>
                <a:schemeClr val="tx1"/>
              </a:solidFill>
              <a:effectLst/>
              <a:latin typeface="+mn-lt"/>
              <a:ea typeface="+mn-ea"/>
              <a:cs typeface="+mn-cs"/>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this less abstract </a:t>
            </a:r>
            <a:r>
              <a:rPr lang="en-US"/>
              <a:t>lets take a look at an example for the input and output. </a:t>
            </a:r>
          </a:p>
          <a:p>
            <a:endParaRPr/>
          </a:p>
          <a:p>
            <a:r>
              <a:t>The board on the left is the input. Cell (0,0) holds an 8, which is 2 to the</a:t>
            </a:r>
          </a:p>
          <a:p>
            <a:r>
              <a:t>3rd, so the one-hot encoding for that cell has a 1 in bucket 3 and zeros</a:t>
            </a:r>
          </a:p>
          <a:p>
            <a:r>
              <a:t>everywhere else. Cell (0,1) holds a 4 — 2 to the 2nd — so it gets a 1 in</a:t>
            </a:r>
          </a:p>
          <a:p>
            <a:r>
              <a:t>bucket 2. And so on for the other 14 cells.</a:t>
            </a:r>
          </a:p>
          <a:p>
            <a:endParaRPr/>
          </a:p>
          <a:p>
            <a:r>
              <a:t>We concatenate all 16 of these one-hot vectors into one long vector of 256</a:t>
            </a:r>
          </a:p>
          <a:p>
            <a:r>
              <a:t>numbers, which we feed into the</a:t>
            </a:r>
            <a:r>
              <a:rPr lang="en-US"/>
              <a:t> neural network</a:t>
            </a:r>
            <a:r>
              <a:t>.</a:t>
            </a:r>
          </a:p>
          <a:p>
            <a:endParaRPr/>
          </a:p>
          <a:p>
            <a:r>
              <a:t>The </a:t>
            </a:r>
            <a:r>
              <a:rPr lang="en-US"/>
              <a:t>network</a:t>
            </a:r>
            <a:r>
              <a:t> outputs 4 numbers — one Q-value per swipe direction. In this</a:t>
            </a:r>
          </a:p>
          <a:p>
            <a:r>
              <a:t>illustrative example, the network predicts that swiping RIGHT has the</a:t>
            </a:r>
          </a:p>
          <a:p>
            <a:r>
              <a:t>highest long-term value</a:t>
            </a:r>
            <a:r>
              <a:rPr lang="en-US"/>
              <a:t>. Swiping up and left are illegal moves, which is why they have those huge negative numbers. </a:t>
            </a:r>
            <a:endParaRPr/>
          </a:p>
          <a:p>
            <a:endParaRPr/>
          </a:p>
          <a:p>
            <a:r>
              <a:rPr lang="en-US"/>
              <a:t>Now to turn to where these output numbers come from:</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sz="1200" kern="1200" dirty="0">
                <a:solidFill>
                  <a:schemeClr val="tx1"/>
                </a:solidFill>
                <a:effectLst/>
                <a:latin typeface="+mn-lt"/>
                <a:ea typeface="+mn-ea"/>
                <a:cs typeface="+mn-cs"/>
              </a:rPr>
              <a:t>They come from: Training.</a:t>
            </a:r>
          </a:p>
          <a:p>
            <a:r>
              <a:rPr lang="en-GB" sz="1200" kern="1200" dirty="0">
                <a:solidFill>
                  <a:schemeClr val="tx1"/>
                </a:solidFill>
                <a:effectLst/>
                <a:latin typeface="+mn-lt"/>
                <a:ea typeface="+mn-ea"/>
                <a:cs typeface="+mn-cs"/>
              </a:rPr>
              <a:t>This is a little bit of a mind </a:t>
            </a:r>
            <a:r>
              <a:rPr lang="en-GB" sz="1200" kern="1200" dirty="0" err="1">
                <a:solidFill>
                  <a:schemeClr val="tx1"/>
                </a:solidFill>
                <a:effectLst/>
                <a:latin typeface="+mn-lt"/>
                <a:ea typeface="+mn-ea"/>
                <a:cs typeface="+mn-cs"/>
              </a:rPr>
              <a:t>confuser</a:t>
            </a:r>
            <a:r>
              <a:rPr lang="en-GB" sz="1200" kern="1200" dirty="0">
                <a:solidFill>
                  <a:schemeClr val="tx1"/>
                </a:solidFill>
                <a:effectLst/>
                <a:latin typeface="+mn-lt"/>
                <a:ea typeface="+mn-ea"/>
                <a:cs typeface="+mn-cs"/>
              </a:rPr>
              <a:t>, but the plain idea is that in training, the agent plays a move, remembers it, mixes it with old memories, and </a:t>
            </a:r>
            <a:r>
              <a:rPr lang="en-GB" sz="1200" kern="1200" dirty="0" err="1">
                <a:solidFill>
                  <a:schemeClr val="tx1"/>
                </a:solidFill>
                <a:effectLst/>
                <a:latin typeface="+mn-lt"/>
                <a:ea typeface="+mn-ea"/>
                <a:cs typeface="+mn-cs"/>
              </a:rPr>
              <a:t>slowely</a:t>
            </a:r>
            <a:r>
              <a:rPr lang="en-GB" sz="1200" kern="1200" dirty="0">
                <a:solidFill>
                  <a:schemeClr val="tx1"/>
                </a:solidFill>
                <a:effectLst/>
                <a:latin typeface="+mn-lt"/>
                <a:ea typeface="+mn-ea"/>
                <a:cs typeface="+mn-cs"/>
              </a:rPr>
              <a:t> improves over thousands of iterations. </a:t>
            </a:r>
          </a:p>
          <a:p>
            <a:r>
              <a:rPr lang="en-GB" sz="1200" kern="1200" dirty="0">
                <a:solidFill>
                  <a:schemeClr val="tx1"/>
                </a:solidFill>
                <a:effectLst/>
                <a:latin typeface="+mn-lt"/>
                <a:ea typeface="+mn-ea"/>
                <a:cs typeface="+mn-cs"/>
              </a:rPr>
              <a:t> </a:t>
            </a:r>
          </a:p>
          <a:p>
            <a:r>
              <a:rPr lang="en-US" b="1" dirty="0"/>
              <a:t>Step 1 — Play a move.</a:t>
            </a:r>
            <a:r>
              <a:rPr lang="en-US" dirty="0"/>
              <a:t> </a:t>
            </a:r>
          </a:p>
          <a:p>
            <a:r>
              <a:rPr lang="en-US" dirty="0"/>
              <a:t>The network looks at the current board </a:t>
            </a:r>
            <a:r>
              <a:rPr lang="en-US" i="1" dirty="0"/>
              <a:t>s</a:t>
            </a:r>
            <a:r>
              <a:rPr lang="en-US" dirty="0"/>
              <a:t> and picks a swipe </a:t>
            </a:r>
            <a:r>
              <a:rPr lang="en-US" i="1" dirty="0"/>
              <a:t>a</a:t>
            </a:r>
            <a:r>
              <a:rPr lang="en-US" dirty="0"/>
              <a:t>. We do it, see the reward </a:t>
            </a:r>
            <a:r>
              <a:rPr lang="en-US" i="1" dirty="0"/>
              <a:t>r</a:t>
            </a:r>
            <a:r>
              <a:rPr lang="en-US" dirty="0"/>
              <a:t> (the score from the merge), and see the new board </a:t>
            </a:r>
            <a:r>
              <a:rPr lang="en-US" i="1" dirty="0"/>
              <a:t>s’</a:t>
            </a:r>
            <a:r>
              <a:rPr lang="en-US" dirty="0"/>
              <a:t>. S prime</a:t>
            </a:r>
          </a:p>
          <a:p>
            <a:endParaRPr lang="en-US" dirty="0"/>
          </a:p>
          <a:p>
            <a:r>
              <a:rPr lang="en-US" b="1" dirty="0"/>
              <a:t>Step 2 — Remember it.</a:t>
            </a:r>
            <a:r>
              <a:rPr lang="en-US" dirty="0"/>
              <a:t> </a:t>
            </a:r>
          </a:p>
          <a:p>
            <a:r>
              <a:rPr lang="en-US" dirty="0"/>
              <a:t>We save that little story — (s, a, r, s') — into a memory buffer that holds the last 100,000 moves. When it's full, the oldest ones drop out. This is called </a:t>
            </a:r>
            <a:r>
              <a:rPr lang="en-US" b="1" dirty="0"/>
              <a:t>experience replay</a:t>
            </a:r>
            <a:r>
              <a:rPr lang="en-US" dirty="0"/>
              <a:t>: instead of throwing each experience away after one use, we keep it around to learn from again.</a:t>
            </a:r>
          </a:p>
          <a:p>
            <a:endParaRPr lang="en-US" dirty="0"/>
          </a:p>
          <a:p>
            <a:r>
              <a:rPr lang="en-US" b="1" dirty="0"/>
              <a:t>Step 3 — Pull a random batch from memory.</a:t>
            </a:r>
            <a:r>
              <a:rPr lang="en-US" dirty="0"/>
              <a:t> Instead of only learning from the move we just made, we grab 512 random past experiences from the buffer. Why random? Because moves from the same game look almost identical to each other — the board barely changes from one swipe to the next — and learning from a stream of near-duplicates makes training slow. </a:t>
            </a:r>
          </a:p>
          <a:p>
            <a:r>
              <a:rPr lang="en-GB" sz="1200" kern="1200" dirty="0">
                <a:solidFill>
                  <a:schemeClr val="tx1"/>
                </a:solidFill>
                <a:effectLst/>
                <a:latin typeface="+mn-lt"/>
                <a:ea typeface="+mn-ea"/>
                <a:cs typeface="+mn-cs"/>
              </a:rPr>
              <a:t> </a:t>
            </a:r>
          </a:p>
          <a:p>
            <a:r>
              <a:rPr lang="en-US" b="1" dirty="0"/>
              <a:t>Step 4 — The made-up answer (the "target").</a:t>
            </a:r>
            <a:r>
              <a:rPr lang="en-US" dirty="0"/>
              <a:t> </a:t>
            </a:r>
          </a:p>
          <a:p>
            <a:r>
              <a:rPr lang="en-US" dirty="0"/>
              <a:t>And compared to supervised learning, we do not have a label to compare our estimate to, so we need to estimate it. </a:t>
            </a:r>
          </a:p>
          <a:p>
            <a:r>
              <a:rPr lang="en-US" sz="1200" b="0" i="0" kern="1200" dirty="0">
                <a:solidFill>
                  <a:schemeClr val="tx1"/>
                </a:solidFill>
                <a:effectLst/>
                <a:latin typeface="+mn-lt"/>
                <a:ea typeface="+mn-ea"/>
                <a:cs typeface="+mn-cs"/>
              </a:rPr>
              <a:t>Lets say we just merged two 4s into an 8, so the reward for that move is 3 — that's log base 2 of 8.</a:t>
            </a:r>
          </a:p>
          <a:p>
            <a:r>
              <a:rPr lang="en-US" sz="1200" b="0" i="0" kern="1200" dirty="0">
                <a:solidFill>
                  <a:schemeClr val="tx1"/>
                </a:solidFill>
                <a:effectLst/>
                <a:latin typeface="+mn-lt"/>
                <a:ea typeface="+mn-ea"/>
                <a:cs typeface="+mn-cs"/>
              </a:rPr>
              <a:t>But here's the question: was that actually a good move?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Three points is three points — but it also matters what the board looks like afterwards.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Scoring 3 and ending up well-positioned is much better than scoring 3 and getting yourself stuck.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the target is two things added together: </a:t>
            </a:r>
            <a:r>
              <a:rPr lang="en-US" sz="1200" b="0" i="1" kern="1200" dirty="0">
                <a:solidFill>
                  <a:schemeClr val="tx1"/>
                </a:solidFill>
                <a:effectLst/>
                <a:latin typeface="+mn-lt"/>
                <a:ea typeface="+mn-ea"/>
                <a:cs typeface="+mn-cs"/>
              </a:rPr>
              <a:t>the points we just got, plus how good the next board is.</a:t>
            </a:r>
          </a:p>
          <a:p>
            <a:r>
              <a:rPr lang="en-US" sz="1200" b="0" i="0" kern="1200" dirty="0">
                <a:solidFill>
                  <a:schemeClr val="tx1"/>
                </a:solidFill>
                <a:effectLst/>
                <a:latin typeface="+mn-lt"/>
                <a:ea typeface="+mn-ea"/>
                <a:cs typeface="+mn-cs"/>
              </a:rPr>
              <a:t>And for that second part — how good is the next board — we just ask the network itself. We show it the new board and say: what's the best move worth from here? Say it answers 20. We multiply that by 0.99, because points further in the future count a little less than points right now, and we add our reward of 3. So the target works out to 3 plus 0.99 times 20 — which is 22.8.</a:t>
            </a:r>
          </a:p>
          <a:p>
            <a:r>
              <a:rPr lang="en-US" sz="1200" b="0" i="0" kern="1200" dirty="0">
                <a:solidFill>
                  <a:schemeClr val="tx1"/>
                </a:solidFill>
                <a:effectLst/>
                <a:latin typeface="+mn-lt"/>
                <a:ea typeface="+mn-ea"/>
                <a:cs typeface="+mn-cs"/>
              </a:rPr>
              <a:t>That 22.8 is what the network </a:t>
            </a:r>
            <a:r>
              <a:rPr lang="en-US" sz="1200" b="0" i="1" kern="1200" dirty="0">
                <a:solidFill>
                  <a:schemeClr val="tx1"/>
                </a:solidFill>
                <a:effectLst/>
                <a:latin typeface="+mn-lt"/>
                <a:ea typeface="+mn-ea"/>
                <a:cs typeface="+mn-cs"/>
              </a:rPr>
              <a:t>should</a:t>
            </a:r>
            <a:r>
              <a:rPr lang="en-US" sz="1200" b="0" i="0" kern="1200" dirty="0">
                <a:solidFill>
                  <a:schemeClr val="tx1"/>
                </a:solidFill>
                <a:effectLst/>
                <a:latin typeface="+mn-lt"/>
                <a:ea typeface="+mn-ea"/>
                <a:cs typeface="+mn-cs"/>
              </a:rPr>
              <a:t> have predicted for the original swipe.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Now — this only looks one step ahead. But that's fine, because over many training rounds the value slowly seeps backwards: a 2048 tile fifty moves away eventually works its way into the earlier predictions.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One last detail. When we ask 'how good is the next board', we don't ask the live network — we ask a frozen copy of it that we only update every 1,000 steps. If we used the live network, the target would shift every single update(specifically the </a:t>
            </a:r>
            <a:r>
              <a:rPr lang="en-US" sz="1200" b="0" i="0" kern="1200" dirty="0" err="1">
                <a:solidFill>
                  <a:schemeClr val="tx1"/>
                </a:solidFill>
                <a:effectLst/>
                <a:latin typeface="+mn-lt"/>
                <a:ea typeface="+mn-ea"/>
                <a:cs typeface="+mn-cs"/>
              </a:rPr>
              <a:t>Q_target</a:t>
            </a:r>
            <a:r>
              <a:rPr lang="en-US" sz="1200" b="0" i="0" kern="1200" dirty="0">
                <a:solidFill>
                  <a:schemeClr val="tx1"/>
                </a:solidFill>
                <a:effectLst/>
                <a:latin typeface="+mn-lt"/>
                <a:ea typeface="+mn-ea"/>
                <a:cs typeface="+mn-cs"/>
              </a:rPr>
              <a:t>), and the network would just chase its own tail. That frozen copy is called the </a:t>
            </a:r>
            <a:r>
              <a:rPr lang="en-US" sz="1200" b="0" i="1" kern="1200" dirty="0">
                <a:solidFill>
                  <a:schemeClr val="tx1"/>
                </a:solidFill>
                <a:effectLst/>
                <a:latin typeface="+mn-lt"/>
                <a:ea typeface="+mn-ea"/>
                <a:cs typeface="+mn-cs"/>
              </a:rPr>
              <a:t>target network</a:t>
            </a:r>
            <a:r>
              <a:rPr lang="en-US" sz="1200" b="0" i="0" kern="1200" dirty="0">
                <a:solidFill>
                  <a:schemeClr val="tx1"/>
                </a:solidFill>
                <a:effectLst/>
                <a:latin typeface="+mn-lt"/>
                <a:ea typeface="+mn-ea"/>
                <a:cs typeface="+mn-cs"/>
              </a:rPr>
              <a:t>, and it comes from DeepMind's 2015 Atari DQN paper — it's a big reason DQN works at all.</a:t>
            </a:r>
          </a:p>
          <a:p>
            <a:endParaRPr lang="en-US" sz="1200" b="0" i="0" kern="1200" dirty="0">
              <a:solidFill>
                <a:schemeClr val="tx1"/>
              </a:solidFill>
              <a:effectLst/>
              <a:latin typeface="+mn-lt"/>
              <a:ea typeface="+mn-ea"/>
              <a:cs typeface="+mn-cs"/>
            </a:endParaRPr>
          </a:p>
          <a:p>
            <a:r>
              <a:rPr lang="en-US" b="1" dirty="0"/>
              <a:t>STEP 5 — nudge toward the answer.</a:t>
            </a:r>
            <a:endParaRPr lang="en-US" dirty="0"/>
          </a:p>
          <a:p>
            <a:r>
              <a:rPr lang="en-US" dirty="0"/>
              <a:t>Now we have two numbers per move in the batch: what the network </a:t>
            </a:r>
            <a:r>
              <a:rPr lang="en-US" i="1" dirty="0"/>
              <a:t>did</a:t>
            </a:r>
            <a:r>
              <a:rPr lang="en-US" dirty="0"/>
              <a:t> predict, and what it </a:t>
            </a:r>
            <a:r>
              <a:rPr lang="en-US" i="1" dirty="0"/>
              <a:t>should</a:t>
            </a:r>
            <a:r>
              <a:rPr lang="en-US" dirty="0"/>
              <a:t> have predicted (based on this and the next board). We measure the gap across all 512, </a:t>
            </a:r>
            <a:r>
              <a:rPr lang="en-US" i="1" dirty="0"/>
              <a:t>average it</a:t>
            </a:r>
            <a:r>
              <a:rPr lang="en-US" dirty="0"/>
              <a:t>, and adjust the network's weights a tiny bit to shrink that gap. Same Adam backpropagation we did with Greg — just applied 512 moves at a time instead of one.</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This whole loop repeats hundreds of times across 5,000 games of training (</a:t>
            </a:r>
            <a:r>
              <a:rPr lang="en-US" sz="1200" b="0" i="0" kern="1200" dirty="0">
                <a:solidFill>
                  <a:schemeClr val="tx1"/>
                </a:solidFill>
                <a:effectLst/>
                <a:latin typeface="+mn-lt"/>
                <a:ea typeface="+mn-ea"/>
                <a:cs typeface="+mn-cs"/>
              </a:rPr>
              <a:t>5,000 games × ~130 moves ≈ 650k moves played, and only ~160k gradient steps (you learn every 4th step))</a:t>
            </a:r>
            <a:r>
              <a:rPr lang="en-GB" sz="1200" kern="1200" dirty="0">
                <a:solidFill>
                  <a:schemeClr val="tx1"/>
                </a:solidFill>
                <a:effectLst/>
                <a:latin typeface="+mn-lt"/>
                <a:ea typeface="+mn-ea"/>
                <a:cs typeface="+mn-cs"/>
              </a:rPr>
              <a:t>. </a:t>
            </a:r>
          </a:p>
          <a:p>
            <a:endParaRPr lang="en-GB" sz="1200" b="1" kern="1200" dirty="0">
              <a:solidFill>
                <a:schemeClr val="tx1"/>
              </a:solidFill>
              <a:effectLst/>
              <a:latin typeface="+mn-lt"/>
              <a:ea typeface="+mn-ea"/>
              <a:cs typeface="+mn-cs"/>
            </a:endParaRPr>
          </a:p>
          <a:p>
            <a:r>
              <a:rPr lang="en-US" dirty="0"/>
              <a:t>In conclusion, rather than comparing outputs to true labels, the network learns by predicting future rewards and correcting itself when reality disagrees.</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 </a:t>
            </a:r>
          </a:p>
          <a:p>
            <a:endParaRPr lang="en-GB" sz="120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Why DQN performs at random level — two reasons</a:t>
            </a:r>
          </a:p>
          <a:p>
            <a:r>
              <a:rPr lang="en-US" sz="1200" b="1" i="0" kern="1200" dirty="0">
                <a:solidFill>
                  <a:schemeClr val="tx1"/>
                </a:solidFill>
                <a:effectLst/>
                <a:latin typeface="+mn-lt"/>
                <a:ea typeface="+mn-ea"/>
                <a:cs typeface="+mn-cs"/>
              </a:rPr>
              <a:t>No domain-matched representation.</a:t>
            </a:r>
            <a:r>
              <a:rPr lang="en-US" sz="1200" b="0" i="0" kern="1200" dirty="0">
                <a:solidFill>
                  <a:schemeClr val="tx1"/>
                </a:solidFill>
                <a:effectLst/>
                <a:latin typeface="+mn-lt"/>
                <a:ea typeface="+mn-ea"/>
                <a:cs typeface="+mn-cs"/>
              </a:rPr>
              <a:t> DQN's plain MLP learns every board from scratch with no weight-sharing. The n-tuple shares weights across 2048's 8-fold rotation/reflection symmetry and uses hand-designed local patterns — so it </a:t>
            </a:r>
            <a:r>
              <a:rPr lang="en-US" sz="1200" b="0" i="0" kern="1200" dirty="0" err="1">
                <a:solidFill>
                  <a:schemeClr val="tx1"/>
                </a:solidFill>
                <a:effectLst/>
                <a:latin typeface="+mn-lt"/>
                <a:ea typeface="+mn-ea"/>
                <a:cs typeface="+mn-cs"/>
              </a:rPr>
              <a:t>generalises</a:t>
            </a:r>
            <a:r>
              <a:rPr lang="en-US" sz="1200" b="0" i="0" kern="1200" dirty="0">
                <a:solidFill>
                  <a:schemeClr val="tx1"/>
                </a:solidFill>
                <a:effectLst/>
                <a:latin typeface="+mn-lt"/>
                <a:ea typeface="+mn-ea"/>
                <a:cs typeface="+mn-cs"/>
              </a:rPr>
              <a:t> massively. In 5,000 games the MLP can't cover enough of the state space to learn anything.</a:t>
            </a:r>
          </a:p>
          <a:p>
            <a:r>
              <a:rPr lang="en-US" sz="1200" b="1" i="0" kern="1200" dirty="0">
                <a:solidFill>
                  <a:schemeClr val="tx1"/>
                </a:solidFill>
                <a:effectLst/>
                <a:latin typeface="+mn-lt"/>
                <a:ea typeface="+mn-ea"/>
                <a:cs typeface="+mn-cs"/>
              </a:rPr>
              <a:t>Wrong value formulation.</a:t>
            </a:r>
            <a:r>
              <a:rPr lang="en-US" sz="1200" b="0" i="0" kern="1200" dirty="0">
                <a:solidFill>
                  <a:schemeClr val="tx1"/>
                </a:solidFill>
                <a:effectLst/>
                <a:latin typeface="+mn-lt"/>
                <a:ea typeface="+mn-ea"/>
                <a:cs typeface="+mn-cs"/>
              </a:rPr>
              <a:t> DQN learns Q(s, a), whose target is noisy because the next board is </a:t>
            </a:r>
            <a:r>
              <a:rPr lang="en-US" sz="1200" b="0" i="0" kern="1200" dirty="0" err="1">
                <a:solidFill>
                  <a:schemeClr val="tx1"/>
                </a:solidFill>
                <a:effectLst/>
                <a:latin typeface="+mn-lt"/>
                <a:ea typeface="+mn-ea"/>
                <a:cs typeface="+mn-cs"/>
              </a:rPr>
              <a:t>randomised</a:t>
            </a:r>
            <a:r>
              <a:rPr lang="en-US" sz="1200" b="0" i="0" kern="1200" dirty="0">
                <a:solidFill>
                  <a:schemeClr val="tx1"/>
                </a:solidFill>
                <a:effectLst/>
                <a:latin typeface="+mn-lt"/>
                <a:ea typeface="+mn-ea"/>
                <a:cs typeface="+mn-cs"/>
              </a:rPr>
              <a:t> by tile spawns. The n-tuple learns clean </a:t>
            </a:r>
            <a:r>
              <a:rPr lang="en-US" sz="1200" b="1" i="0" kern="1200" dirty="0" err="1">
                <a:solidFill>
                  <a:schemeClr val="tx1"/>
                </a:solidFill>
                <a:effectLst/>
                <a:latin typeface="+mn-lt"/>
                <a:ea typeface="+mn-ea"/>
                <a:cs typeface="+mn-cs"/>
              </a:rPr>
              <a:t>afterstate</a:t>
            </a:r>
            <a:r>
              <a:rPr lang="en-US" sz="1200" b="0" i="0" kern="1200" dirty="0">
                <a:solidFill>
                  <a:schemeClr val="tx1"/>
                </a:solidFill>
                <a:effectLst/>
                <a:latin typeface="+mn-lt"/>
                <a:ea typeface="+mn-ea"/>
                <a:cs typeface="+mn-cs"/>
              </a:rPr>
              <a:t> values — the board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the random spawn — so its learning signal isn't drowned in noise.</a:t>
            </a:r>
          </a:p>
          <a:p>
            <a:r>
              <a:rPr lang="en-US" sz="1200" b="1" i="0" kern="1200" dirty="0">
                <a:solidFill>
                  <a:schemeClr val="tx1"/>
                </a:solidFill>
                <a:effectLst/>
                <a:latin typeface="+mn-lt"/>
                <a:ea typeface="+mn-ea"/>
                <a:cs typeface="+mn-cs"/>
              </a:rPr>
              <a:t>Why a CNN wouldn't have fixed it — two reasons</a:t>
            </a:r>
          </a:p>
          <a:p>
            <a:r>
              <a:rPr lang="en-US" sz="1200" b="1" i="0" kern="1200" dirty="0">
                <a:solidFill>
                  <a:schemeClr val="tx1"/>
                </a:solidFill>
                <a:effectLst/>
                <a:latin typeface="+mn-lt"/>
                <a:ea typeface="+mn-ea"/>
                <a:cs typeface="+mn-cs"/>
              </a:rPr>
              <a:t>The grid is too small.</a:t>
            </a:r>
            <a:r>
              <a:rPr lang="en-US" sz="1200" b="0" i="0" kern="1200" dirty="0">
                <a:solidFill>
                  <a:schemeClr val="tx1"/>
                </a:solidFill>
                <a:effectLst/>
                <a:latin typeface="+mn-lt"/>
                <a:ea typeface="+mn-ea"/>
                <a:cs typeface="+mn-cs"/>
              </a:rPr>
              <a:t> Convolution pays off by sharing weights across many spatial positions. On just 16 cells there's almost nothing to share — no real gain over a dense layer.</a:t>
            </a:r>
          </a:p>
          <a:p>
            <a:r>
              <a:rPr lang="en-US" sz="1200" b="1" i="0" kern="1200" dirty="0">
                <a:solidFill>
                  <a:schemeClr val="tx1"/>
                </a:solidFill>
                <a:effectLst/>
                <a:latin typeface="+mn-lt"/>
                <a:ea typeface="+mn-ea"/>
                <a:cs typeface="+mn-cs"/>
              </a:rPr>
              <a:t>CNNs assume the wrong invariance.</a:t>
            </a:r>
            <a:r>
              <a:rPr lang="en-US" sz="1200" b="0" i="0" kern="1200" dirty="0">
                <a:solidFill>
                  <a:schemeClr val="tx1"/>
                </a:solidFill>
                <a:effectLst/>
                <a:latin typeface="+mn-lt"/>
                <a:ea typeface="+mn-ea"/>
                <a:cs typeface="+mn-cs"/>
              </a:rPr>
              <a:t> Convolutions are translation-invariant, but 2048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 corners and edges are special. Its real symmetry is rotation/reflection (dihedral), which the n-tuple exploits and a CNN does not.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We also use five stabilisation tricks—</a:t>
            </a:r>
          </a:p>
          <a:p>
            <a:pPr algn="l">
              <a:lnSpc>
                <a:spcPct val="112000"/>
              </a:lnSpc>
            </a:pPr>
            <a:endParaRPr lang="en-US" sz="1400" b="1" dirty="0">
              <a:solidFill>
                <a:srgbClr val="F2B179"/>
              </a:solidFill>
              <a:latin typeface="Segoe UI Semibold"/>
            </a:endParaRPr>
          </a:p>
          <a:p>
            <a:pPr algn="l">
              <a:lnSpc>
                <a:spcPct val="112000"/>
              </a:lnSpc>
            </a:pPr>
            <a:r>
              <a:rPr lang="en-US" sz="1400" b="1" dirty="0">
                <a:solidFill>
                  <a:srgbClr val="F2B179"/>
                </a:solidFill>
                <a:latin typeface="Segoe UI Semibold"/>
              </a:rPr>
              <a:t>1.  </a:t>
            </a:r>
            <a:r>
              <a:rPr lang="en-US" sz="1400" b="1" dirty="0">
                <a:solidFill>
                  <a:srgbClr val="776E65"/>
                </a:solidFill>
                <a:latin typeface="Segoe UI Semibold"/>
              </a:rPr>
              <a:t>Target network  </a:t>
            </a:r>
            <a:r>
              <a:rPr lang="en-US" sz="1200" b="0" dirty="0">
                <a:solidFill>
                  <a:srgbClr val="776E65"/>
                </a:solidFill>
                <a:latin typeface="Segoe UI"/>
              </a:rPr>
              <a:t>a frozen copy of the network computes the target, synced every 1,000 steps — stops the target from moving every step.</a:t>
            </a:r>
          </a:p>
          <a:p>
            <a:pPr algn="l">
              <a:lnSpc>
                <a:spcPct val="112000"/>
              </a:lnSpc>
            </a:pPr>
            <a:r>
              <a:rPr lang="en-US" sz="600" b="0" dirty="0">
                <a:solidFill>
                  <a:srgbClr val="776E65"/>
                </a:solidFill>
                <a:latin typeface="Segoe UI"/>
              </a:rPr>
              <a:t> </a:t>
            </a:r>
          </a:p>
          <a:p>
            <a:pPr algn="l">
              <a:lnSpc>
                <a:spcPct val="112000"/>
              </a:lnSpc>
            </a:pPr>
            <a:r>
              <a:rPr lang="en-US" sz="1400" b="1" dirty="0">
                <a:solidFill>
                  <a:srgbClr val="F2B179"/>
                </a:solidFill>
                <a:latin typeface="Segoe UI Semibold"/>
              </a:rPr>
              <a:t>2.  </a:t>
            </a:r>
            <a:r>
              <a:rPr lang="en-US" sz="1400" b="1" dirty="0">
                <a:solidFill>
                  <a:srgbClr val="776E65"/>
                </a:solidFill>
                <a:latin typeface="Segoe UI Semibold"/>
              </a:rPr>
              <a:t>Double-DQN  </a:t>
            </a:r>
            <a:r>
              <a:rPr lang="en-US" sz="1200" b="0" dirty="0">
                <a:solidFill>
                  <a:srgbClr val="776E65"/>
                </a:solidFill>
                <a:latin typeface="Segoe UI"/>
              </a:rPr>
              <a:t>the online net picks the next action, the target net scores it — removes the upward bias of the max operator.</a:t>
            </a:r>
          </a:p>
          <a:p>
            <a:pPr algn="l">
              <a:lnSpc>
                <a:spcPct val="112000"/>
              </a:lnSpc>
            </a:pPr>
            <a:r>
              <a:rPr lang="en-US" sz="600" b="0" dirty="0">
                <a:solidFill>
                  <a:srgbClr val="776E65"/>
                </a:solidFill>
                <a:latin typeface="Segoe UI"/>
              </a:rPr>
              <a:t> </a:t>
            </a:r>
          </a:p>
          <a:p>
            <a:pPr algn="l">
              <a:lnSpc>
                <a:spcPct val="112000"/>
              </a:lnSpc>
            </a:pPr>
            <a:r>
              <a:rPr lang="en-US" sz="1400" b="1" dirty="0">
                <a:solidFill>
                  <a:srgbClr val="F2B179"/>
                </a:solidFill>
                <a:latin typeface="Segoe UI Semibold"/>
              </a:rPr>
              <a:t>3.  </a:t>
            </a:r>
            <a:r>
              <a:rPr lang="en-US" sz="1400" b="1" dirty="0">
                <a:solidFill>
                  <a:srgbClr val="776E65"/>
                </a:solidFill>
                <a:latin typeface="Segoe UI Semibold"/>
              </a:rPr>
              <a:t>Reward scaling  </a:t>
            </a:r>
            <a:r>
              <a:rPr lang="en-US" sz="1200" b="0" dirty="0">
                <a:solidFill>
                  <a:srgbClr val="776E65"/>
                </a:solidFill>
                <a:latin typeface="Segoe UI"/>
              </a:rPr>
              <a:t>log₂ encoding plus a × 0.1 multiplier — keeps rewards on a stable scale in both early and late game.</a:t>
            </a:r>
          </a:p>
          <a:p>
            <a:pPr algn="l">
              <a:lnSpc>
                <a:spcPct val="112000"/>
              </a:lnSpc>
            </a:pPr>
            <a:r>
              <a:rPr lang="en-US" sz="600" b="0" dirty="0">
                <a:solidFill>
                  <a:srgbClr val="776E65"/>
                </a:solidFill>
                <a:latin typeface="Segoe UI"/>
              </a:rPr>
              <a:t> </a:t>
            </a:r>
          </a:p>
          <a:p>
            <a:pPr algn="l">
              <a:lnSpc>
                <a:spcPct val="112000"/>
              </a:lnSpc>
            </a:pPr>
            <a:r>
              <a:rPr lang="en-US" sz="1400" b="1" dirty="0">
                <a:solidFill>
                  <a:srgbClr val="F2B179"/>
                </a:solidFill>
                <a:latin typeface="Segoe UI Semibold"/>
              </a:rPr>
              <a:t>4.  </a:t>
            </a:r>
            <a:r>
              <a:rPr lang="en-US" sz="1400" b="1" dirty="0">
                <a:solidFill>
                  <a:srgbClr val="776E65"/>
                </a:solidFill>
                <a:latin typeface="Segoe UI Semibold"/>
              </a:rPr>
              <a:t>ε-greedy exploration  </a:t>
            </a:r>
            <a:r>
              <a:rPr lang="en-US" sz="1200" b="0" dirty="0">
                <a:solidFill>
                  <a:srgbClr val="776E65"/>
                </a:solidFill>
                <a:latin typeface="Segoe UI"/>
              </a:rPr>
              <a:t>act randomly with probability ε — forces the agent to keep exploring instead of only exploiting.</a:t>
            </a:r>
          </a:p>
          <a:p>
            <a:pPr algn="l">
              <a:lnSpc>
                <a:spcPct val="112000"/>
              </a:lnSpc>
            </a:pPr>
            <a:r>
              <a:rPr lang="en-US" sz="600" b="0" dirty="0">
                <a:solidFill>
                  <a:srgbClr val="776E65"/>
                </a:solidFill>
                <a:latin typeface="Segoe UI"/>
              </a:rPr>
              <a:t> </a:t>
            </a:r>
          </a:p>
          <a:p>
            <a:pPr algn="l">
              <a:lnSpc>
                <a:spcPct val="112000"/>
              </a:lnSpc>
            </a:pPr>
            <a:r>
              <a:rPr lang="en-US" sz="1400" b="1" dirty="0">
                <a:solidFill>
                  <a:srgbClr val="F2B179"/>
                </a:solidFill>
                <a:latin typeface="Segoe UI Semibold"/>
              </a:rPr>
              <a:t>5.  </a:t>
            </a:r>
            <a:r>
              <a:rPr lang="en-US" sz="1400" b="1" dirty="0">
                <a:solidFill>
                  <a:srgbClr val="776E65"/>
                </a:solidFill>
                <a:latin typeface="Segoe UI Semibold"/>
              </a:rPr>
              <a:t>Action masking  </a:t>
            </a:r>
            <a:r>
              <a:rPr lang="en-US" sz="1200" b="0" dirty="0">
                <a:solidFill>
                  <a:srgbClr val="776E65"/>
                </a:solidFill>
                <a:latin typeface="Segoe UI"/>
              </a:rPr>
              <a:t>illegal swipes’ Q-values are clamped to −1e9 — the agent never wastes a move on a no-op swipe.</a:t>
            </a:r>
          </a:p>
          <a:p>
            <a:pPr algn="l">
              <a:lnSpc>
                <a:spcPct val="112000"/>
              </a:lnSpc>
            </a:pPr>
            <a:r>
              <a:rPr lang="en-US" sz="600" b="0" dirty="0">
                <a:solidFill>
                  <a:srgbClr val="776E65"/>
                </a:solidFill>
                <a:latin typeface="Segoe UI"/>
              </a:rPr>
              <a:t> </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Gamma: the </a:t>
            </a:r>
            <a:r>
              <a:rPr lang="en-GB" sz="1200" b="1" kern="1200" dirty="0">
                <a:solidFill>
                  <a:schemeClr val="tx1"/>
                </a:solidFill>
                <a:effectLst/>
                <a:latin typeface="+mn-lt"/>
                <a:ea typeface="+mn-ea"/>
                <a:cs typeface="+mn-cs"/>
              </a:rPr>
              <a:t>discount factor</a:t>
            </a:r>
            <a:r>
              <a:rPr lang="en-GB" sz="1200" kern="1200" dirty="0">
                <a:solidFill>
                  <a:schemeClr val="tx1"/>
                </a:solidFill>
                <a:effectLst/>
                <a:latin typeface="+mn-lt"/>
                <a:ea typeface="+mn-ea"/>
                <a:cs typeface="+mn-cs"/>
              </a:rPr>
              <a:t>. It controls how much we care about </a:t>
            </a:r>
            <a:r>
              <a:rPr lang="en-GB" sz="1200" i="1" kern="1200" dirty="0">
                <a:solidFill>
                  <a:schemeClr val="tx1"/>
                </a:solidFill>
                <a:effectLst/>
                <a:latin typeface="+mn-lt"/>
                <a:ea typeface="+mn-ea"/>
                <a:cs typeface="+mn-cs"/>
              </a:rPr>
              <a:t>future</a:t>
            </a:r>
            <a:r>
              <a:rPr lang="en-GB" sz="1200" kern="1200" dirty="0">
                <a:solidFill>
                  <a:schemeClr val="tx1"/>
                </a:solidFill>
                <a:effectLst/>
                <a:latin typeface="+mn-lt"/>
                <a:ea typeface="+mn-ea"/>
                <a:cs typeface="+mn-cs"/>
              </a:rPr>
              <a:t> reward versus </a:t>
            </a:r>
            <a:r>
              <a:rPr lang="en-GB" sz="1200" i="1" kern="1200" dirty="0">
                <a:solidFill>
                  <a:schemeClr val="tx1"/>
                </a:solidFill>
                <a:effectLst/>
                <a:latin typeface="+mn-lt"/>
                <a:ea typeface="+mn-ea"/>
                <a:cs typeface="+mn-cs"/>
              </a:rPr>
              <a:t>immediate</a:t>
            </a:r>
            <a:r>
              <a:rPr lang="en-GB" sz="1200" kern="1200" dirty="0">
                <a:solidFill>
                  <a:schemeClr val="tx1"/>
                </a:solidFill>
                <a:effectLst/>
                <a:latin typeface="+mn-lt"/>
                <a:ea typeface="+mn-ea"/>
                <a:cs typeface="+mn-cs"/>
              </a:rPr>
              <a:t> reward:</a:t>
            </a:r>
          </a:p>
          <a:p>
            <a:pPr lvl="0"/>
            <a:r>
              <a:rPr lang="en-GB" sz="1200" kern="1200" dirty="0">
                <a:solidFill>
                  <a:schemeClr val="tx1"/>
                </a:solidFill>
                <a:effectLst/>
                <a:latin typeface="+mn-lt"/>
                <a:ea typeface="+mn-ea"/>
                <a:cs typeface="+mn-cs"/>
              </a:rPr>
              <a:t>γ = 1 → "I value a point in 100 moves exactly the same as a point right now." Mathematically unstable (returns can blow up to infinity).</a:t>
            </a:r>
          </a:p>
          <a:p>
            <a:pPr lvl="0"/>
            <a:r>
              <a:rPr lang="en-GB" sz="1200" kern="1200" dirty="0">
                <a:solidFill>
                  <a:schemeClr val="tx1"/>
                </a:solidFill>
                <a:effectLst/>
                <a:latin typeface="+mn-lt"/>
                <a:ea typeface="+mn-ea"/>
                <a:cs typeface="+mn-cs"/>
              </a:rPr>
              <a:t>γ = 0 → "I only care about </a:t>
            </a:r>
            <a:r>
              <a:rPr lang="en-GB" sz="1200" i="1" kern="1200" dirty="0">
                <a:solidFill>
                  <a:schemeClr val="tx1"/>
                </a:solidFill>
                <a:effectLst/>
                <a:latin typeface="+mn-lt"/>
                <a:ea typeface="+mn-ea"/>
                <a:cs typeface="+mn-cs"/>
              </a:rPr>
              <a:t>this</a:t>
            </a:r>
            <a:r>
              <a:rPr lang="en-GB" sz="1200" kern="1200" dirty="0">
                <a:solidFill>
                  <a:schemeClr val="tx1"/>
                </a:solidFill>
                <a:effectLst/>
                <a:latin typeface="+mn-lt"/>
                <a:ea typeface="+mn-ea"/>
                <a:cs typeface="+mn-cs"/>
              </a:rPr>
              <a:t> move." Too greedy — the agent would never plan ahead.</a:t>
            </a:r>
          </a:p>
          <a:p>
            <a:pPr lvl="0"/>
            <a:r>
              <a:rPr lang="en-GB" sz="1200" kern="1200" dirty="0">
                <a:solidFill>
                  <a:schemeClr val="tx1"/>
                </a:solidFill>
                <a:effectLst/>
                <a:latin typeface="+mn-lt"/>
                <a:ea typeface="+mn-ea"/>
                <a:cs typeface="+mn-cs"/>
              </a:rPr>
              <a:t>γ = 0.99 → "I care about the future, but a point 100 moves away counts for ~0.37 of one right now." Standard sweet spot.</a:t>
            </a:r>
          </a:p>
          <a:p>
            <a:r>
              <a:rPr lang="en-GB" sz="1200" kern="1200" dirty="0">
                <a:solidFill>
                  <a:schemeClr val="tx1"/>
                </a:solidFill>
                <a:effectLst/>
                <a:latin typeface="+mn-lt"/>
                <a:ea typeface="+mn-ea"/>
                <a:cs typeface="+mn-cs"/>
              </a:rPr>
              <a:t>Smooth-L1 (also called Huber loss) is a hybrid of two losses:</a:t>
            </a:r>
          </a:p>
          <a:p>
            <a:pPr lvl="0"/>
            <a:r>
              <a:rPr lang="en-GB" sz="1200" b="1" kern="1200" dirty="0">
                <a:solidFill>
                  <a:schemeClr val="tx1"/>
                </a:solidFill>
                <a:effectLst/>
                <a:latin typeface="+mn-lt"/>
                <a:ea typeface="+mn-ea"/>
                <a:cs typeface="+mn-cs"/>
              </a:rPr>
              <a:t>L2 (squared error)</a:t>
            </a:r>
            <a:r>
              <a:rPr lang="en-GB" sz="1200" kern="1200" dirty="0">
                <a:solidFill>
                  <a:schemeClr val="tx1"/>
                </a:solidFill>
                <a:effectLst/>
                <a:latin typeface="+mn-lt"/>
                <a:ea typeface="+mn-ea"/>
                <a:cs typeface="+mn-cs"/>
              </a:rPr>
              <a:t>: loss = (pred − target)². Punishes big errors very hard — gradient grows with the error.</a:t>
            </a:r>
          </a:p>
          <a:p>
            <a:pPr lvl="0"/>
            <a:r>
              <a:rPr lang="en-GB" sz="1200" b="1" kern="1200" dirty="0">
                <a:solidFill>
                  <a:schemeClr val="tx1"/>
                </a:solidFill>
                <a:effectLst/>
                <a:latin typeface="+mn-lt"/>
                <a:ea typeface="+mn-ea"/>
                <a:cs typeface="+mn-cs"/>
              </a:rPr>
              <a:t>L1 (absolute error)</a:t>
            </a:r>
            <a:r>
              <a:rPr lang="en-GB" sz="1200" kern="1200" dirty="0">
                <a:solidFill>
                  <a:schemeClr val="tx1"/>
                </a:solidFill>
                <a:effectLst/>
                <a:latin typeface="+mn-lt"/>
                <a:ea typeface="+mn-ea"/>
                <a:cs typeface="+mn-cs"/>
              </a:rPr>
              <a:t>: loss = |pred − target|. Punishes linearly — gradient is constant regardless of size.</a:t>
            </a:r>
          </a:p>
          <a:p>
            <a:pPr lvl="0"/>
            <a:r>
              <a:rPr lang="en-GB" sz="1200" b="1" kern="1200" dirty="0">
                <a:solidFill>
                  <a:schemeClr val="tx1"/>
                </a:solidFill>
                <a:effectLst/>
                <a:latin typeface="+mn-lt"/>
                <a:ea typeface="+mn-ea"/>
                <a:cs typeface="+mn-cs"/>
              </a:rPr>
              <a:t>Smooth-L1</a:t>
            </a:r>
            <a:r>
              <a:rPr lang="en-GB" sz="1200" kern="1200" dirty="0">
                <a:solidFill>
                  <a:schemeClr val="tx1"/>
                </a:solidFill>
                <a:effectLst/>
                <a:latin typeface="+mn-lt"/>
                <a:ea typeface="+mn-ea"/>
                <a:cs typeface="+mn-cs"/>
              </a:rPr>
              <a:t>: quadratic when the error is small, linear when the error is large.</a:t>
            </a:r>
          </a:p>
          <a:p>
            <a:pPr lvl="0"/>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0.99 discount controls how far that reach extends: with γ = 0.99, rewards roughly 100 moves away still count for about a third of their face value, and rewards 500 moves away have basically faded out. That's the network's effective horizon.</a:t>
            </a:r>
          </a:p>
          <a:p>
            <a:pPr lvl="0"/>
            <a:endParaRPr lang="en-GB"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US">
              <a:solidFill>
                <a:srgbClr val="776E65"/>
              </a:solidFill>
              <a:latin typeface="Segoe UI"/>
              <a:cs typeface="Segoe UI"/>
            </a:endParaRPr>
          </a:p>
          <a:p>
            <a:endParaRPr lang="de-DE"/>
          </a:p>
          <a:p>
            <a:r>
              <a:t>OK, switching to the classical method.</a:t>
            </a:r>
          </a:p>
          <a:p>
            <a:endParaRPr/>
          </a:p>
          <a:p>
            <a:r>
              <a:t>The n-tuple is conceptually much simpler than DQN. Instead of a neural</a:t>
            </a:r>
          </a:p>
          <a:p>
            <a:r>
              <a:t>network, we have four lookup tables, indexed by small *patches* of the</a:t>
            </a:r>
          </a:p>
          <a:p>
            <a:r>
              <a:t>board.</a:t>
            </a:r>
          </a:p>
          <a:p>
            <a:endParaRPr/>
          </a:p>
          <a:p>
            <a:r>
              <a:t>The four patches are shown at the top:</a:t>
            </a:r>
          </a:p>
          <a:p>
            <a:r>
              <a:t> - Pattern A: a six-cell "axe" shape covering the top row plus two cells</a:t>
            </a:r>
          </a:p>
          <a:p>
            <a:r>
              <a:t>   below — designed to capture corner arrangements.</a:t>
            </a:r>
          </a:p>
          <a:p>
            <a:r>
              <a:t> - Pattern B: another six-cell axe, shifted down one row.</a:t>
            </a:r>
          </a:p>
          <a:p>
            <a:r>
              <a:t> - Pattern C: the top row, four cells.</a:t>
            </a:r>
          </a:p>
          <a:p>
            <a:r>
              <a:t> - Pattern D: the top-left 2-by-2 corner, four cells.</a:t>
            </a:r>
          </a:p>
          <a:p>
            <a:endParaRPr/>
          </a:p>
          <a:p>
            <a:r>
              <a:t>These were the patches used in the 2014 paper. They were picked by humans</a:t>
            </a:r>
          </a:p>
          <a:p>
            <a:r>
              <a:t>based on what we know matters for 2048: corners, adjacency of large tiles,</a:t>
            </a:r>
          </a:p>
          <a:p>
            <a:r>
              <a:t>sorted rows.</a:t>
            </a:r>
          </a:p>
          <a:p>
            <a:endParaRPr/>
          </a:p>
          <a:p>
            <a:r>
              <a:t>To compute the VALUE of any board, we just read the contents of each patch</a:t>
            </a:r>
          </a:p>
          <a:p>
            <a:r>
              <a:t>on the board, look up that pattern in the corresponding table, and sum the</a:t>
            </a:r>
          </a:p>
          <a:p>
            <a:r>
              <a:t>table reads. The formula is right there: V(board) = sum of lookups.</a:t>
            </a:r>
          </a:p>
          <a:p>
            <a:endParaRPr/>
          </a:p>
          <a:p>
            <a:r>
              <a:t>A 6-cell patch with 16 possible values per cell has 16 to the 6th — about</a:t>
            </a:r>
          </a:p>
          <a:p>
            <a:r>
              <a:t>16 million — possible configurations. Each configuration gets its own slot</a:t>
            </a:r>
          </a:p>
          <a:p>
            <a:r>
              <a:t>in the lookup table. That sounds big, but it's tiny compared to a deep</a:t>
            </a:r>
          </a:p>
          <a:p>
            <a:r>
              <a:t>neural network.</a:t>
            </a:r>
          </a:p>
          <a:p>
            <a:endParaRPr/>
          </a:p>
          <a:p>
            <a:r>
              <a:t>There's also a clever trick called DIHEDRAL SYMMETRY SHARING. A square has</a:t>
            </a:r>
          </a:p>
          <a:p>
            <a:r>
              <a:t>8 symmetries — 4 rotations and 4 reflections. Each pattern is looked up</a:t>
            </a:r>
          </a:p>
          <a:p>
            <a:r>
              <a:t>not just at its canonical position but at every rotation and reflection</a:t>
            </a:r>
          </a:p>
          <a:p>
            <a:r>
              <a:t>of itself, all hitting the *same* shared lookup table. So one weight</a:t>
            </a:r>
          </a:p>
          <a:p>
            <a:r>
              <a:t>update teaches the network about all 8 symmetric variants of the board</a:t>
            </a:r>
          </a:p>
          <a:p>
            <a:r>
              <a:t>at once.</a:t>
            </a:r>
          </a:p>
          <a:p>
            <a:endParaRPr/>
          </a:p>
          <a:p>
            <a:r>
              <a:t>Two of our patterns are themselves symmetric (the top row and the corner),</a:t>
            </a:r>
          </a:p>
          <a:p>
            <a:r>
              <a:t>so their orbits have only 4 distinct positions each. Total lookups per</a:t>
            </a:r>
          </a:p>
          <a:p>
            <a:r>
              <a:t>board: 8 + 8 + 4 + 4 = 24. No neural network, no gradient descent.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idea as the DQN concrete slide — let me walk through what a real</a:t>
            </a:r>
          </a:p>
          <a:p>
            <a:r>
              <a:t>value computation looks like.</a:t>
            </a:r>
          </a:p>
          <a:p>
            <a:endParaRPr/>
          </a:p>
          <a:p>
            <a:r>
              <a:t>We have this board on the left. To get its value, we read four patches.</a:t>
            </a:r>
          </a:p>
          <a:p>
            <a:endParaRPr/>
          </a:p>
          <a:p>
            <a:r>
              <a:t>PATTERN A — the top-left axe — covers six cells. We read their log-2</a:t>
            </a:r>
          </a:p>
          <a:p>
            <a:r>
              <a:t>values: 8 is 3, 4 is 2, 2 is 1, empty is 0. So Pattern A reads as</a:t>
            </a:r>
          </a:p>
          <a:p>
            <a:r>
              <a:t>[3, 2, 1, 0, 2, 1]. We pack those six numbers into a single integer index,</a:t>
            </a:r>
          </a:p>
          <a:p>
            <a:r>
              <a:t>use it to look up Pattern A's table, and get back, say, +12.4.</a:t>
            </a:r>
          </a:p>
          <a:p>
            <a:endParaRPr/>
          </a:p>
          <a:p>
            <a:r>
              <a:t>Same thing for Patterns B, C, and D — we read the log-2 values, index into</a:t>
            </a:r>
          </a:p>
          <a:p>
            <a:r>
              <a:t>the table, get a weight back.</a:t>
            </a:r>
          </a:p>
          <a:p>
            <a:endParaRPr/>
          </a:p>
          <a:p>
            <a:r>
              <a:t>PLUS: each of the four patches is looked up at every dihedral image of</a:t>
            </a:r>
          </a:p>
          <a:p>
            <a:r>
              <a:t>itself. Pattern A and B have 8 unique images each. Pattern C and D have</a:t>
            </a:r>
          </a:p>
          <a:p>
            <a:r>
              <a:t>4 each (they're themselves symmetric, so half their orbit collapses).</a:t>
            </a:r>
          </a:p>
          <a:p>
            <a:r>
              <a:t>Total: 24 lookups per board.</a:t>
            </a:r>
          </a:p>
          <a:p>
            <a:endParaRPr/>
          </a:p>
          <a:p>
            <a:r>
              <a:t>Sum all 24 reads — V(board) ≈ 47.5.</a:t>
            </a:r>
          </a:p>
          <a:p>
            <a:endParaRPr/>
          </a:p>
          <a:p>
            <a:r>
              <a:t>That single number is how the n-tuple measures "how good is this board."</a:t>
            </a:r>
          </a:p>
          <a:p>
            <a:r>
              <a:t>To pick a move at evaluation time, it tries each swipe, computes V of the</a:t>
            </a:r>
          </a:p>
          <a:p>
            <a:r>
              <a:t>resulting board, and picks the highest one.</a:t>
            </a:r>
          </a:p>
          <a:p>
            <a:endParaRPr/>
          </a:p>
          <a:p>
            <a:r>
              <a:t>The weights themselves — those +12.4, +3.1, etc. — start at zero and get</a:t>
            </a:r>
          </a:p>
          <a:p>
            <a:r>
              <a:t>learned by playing 10,000 games. The numbers shown are illustrative.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n-tuple's training step. It's much simpler than DQN.</a:t>
            </a:r>
          </a:p>
          <a:p>
            <a:endParaRPr/>
          </a:p>
          <a:p>
            <a:r>
              <a:t>STEP 1: pick the greedy move. We try each legal swipe, compute the</a:t>
            </a:r>
          </a:p>
          <a:p>
            <a:r>
              <a:t>immediate reward plus V of the resulting </a:t>
            </a:r>
            <a:r>
              <a:rPr lang="en-GB" err="1"/>
              <a:t>afterstate</a:t>
            </a:r>
            <a:r>
              <a:t>, and keep the best.</a:t>
            </a:r>
          </a:p>
          <a:p>
            <a:r>
              <a:t>"</a:t>
            </a:r>
            <a:r>
              <a:rPr lang="en-GB" err="1"/>
              <a:t>Afterstate</a:t>
            </a:r>
            <a:r>
              <a:t>" is the board state right after the deterministic slide-and-</a:t>
            </a:r>
          </a:p>
          <a:p>
            <a:r>
              <a:t>merge, but *before* the random tile spawn — that's a key concept.</a:t>
            </a:r>
          </a:p>
          <a:p>
            <a:endParaRPr/>
          </a:p>
          <a:p>
            <a:r>
              <a:t>STEP 2: actually apply the move in the environment. The slide-and-merge</a:t>
            </a:r>
          </a:p>
          <a:p>
            <a:r>
              <a:t>gives us "</a:t>
            </a:r>
            <a:r>
              <a:rPr lang="en-GB" err="1"/>
              <a:t>after_t</a:t>
            </a:r>
            <a:r>
              <a:t>". Then a random tile spawns, giving us the next board</a:t>
            </a:r>
          </a:p>
          <a:p>
            <a:r>
              <a:t>s_{t+1}.</a:t>
            </a:r>
          </a:p>
          <a:p>
            <a:endParaRPr/>
          </a:p>
          <a:p>
            <a:r>
              <a:t>STEP 3: same procedure on s_{t+1} — find the next best move, get its</a:t>
            </a:r>
          </a:p>
          <a:p>
            <a:r>
              <a:t>reward and </a:t>
            </a:r>
            <a:r>
              <a:rPr lang="en-GB" err="1"/>
              <a:t>afterstate</a:t>
            </a:r>
            <a:r>
              <a:t>.</a:t>
            </a:r>
          </a:p>
          <a:p>
            <a:endParaRPr/>
          </a:p>
          <a:p>
            <a:r>
              <a:t>STEP 4: this is the actual *learning*. We compute the TD error, delta:</a:t>
            </a:r>
          </a:p>
          <a:p>
            <a:r>
              <a:t>"what should V(</a:t>
            </a:r>
            <a:r>
              <a:rPr lang="en-GB" err="1"/>
              <a:t>after_t</a:t>
            </a:r>
            <a:r>
              <a:t>) *have been*?" The answer, by the temporal-</a:t>
            </a:r>
          </a:p>
          <a:p>
            <a:r>
              <a:t>difference equation, is r_{t+1} + V(after_{t+1}). The error is the</a:t>
            </a:r>
          </a:p>
          <a:p>
            <a:r>
              <a:t>difference between target and current value. We add alpha times delta</a:t>
            </a:r>
          </a:p>
          <a:p>
            <a:r>
              <a:t>to every one of the 24 weights that contributed to V(</a:t>
            </a:r>
            <a:r>
              <a:rPr lang="en-GB" err="1"/>
              <a:t>after_t</a:t>
            </a:r>
            <a:r>
              <a:t>).</a:t>
            </a:r>
          </a:p>
          <a:p>
            <a:endParaRPr/>
          </a:p>
          <a:p>
            <a:r>
              <a:t>Alpha is our learning rate — about 0.004 per weight, set so that the</a:t>
            </a:r>
          </a:p>
          <a:p>
            <a:r>
              <a:t>*board-level* value update has magnitude alpha-base = 0.1.</a:t>
            </a:r>
          </a:p>
          <a:p>
            <a:endParaRPr/>
          </a:p>
          <a:p>
            <a:r>
              <a:t>That's it. No replay buffer. No batches. No gradient descent. Each</a:t>
            </a:r>
          </a:p>
          <a:p>
            <a:r>
              <a:t>update touches 24 numbers and runs in microseconds. We trained for</a:t>
            </a:r>
          </a:p>
          <a:p>
            <a:r>
              <a:t>10,000 games — about 55 minutes on CPU.</a:t>
            </a:r>
          </a:p>
          <a:p>
            <a:endParaRPr/>
          </a:p>
          <a:p>
            <a:r>
              <a:t>Note: we deliberately learn the value of *</a:t>
            </a:r>
            <a:r>
              <a:rPr lang="en-GB" err="1"/>
              <a:t>afterstates</a:t>
            </a:r>
            <a:r>
              <a:t>*, not states.</a:t>
            </a:r>
          </a:p>
          <a:p>
            <a:r>
              <a:t>That keeps the random tile spawn out of our learning target — it's</a:t>
            </a:r>
          </a:p>
          <a:p>
            <a:r>
              <a:t>just averaged out empirically by playing many games. That's one of the</a:t>
            </a:r>
          </a:p>
          <a:p>
            <a:r>
              <a:t>n-tuple's structural advantages over DQN.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talk results.</a:t>
            </a:r>
          </a:p>
          <a:p>
            <a:endParaRPr/>
          </a:p>
          <a:p>
            <a:r>
              <a:t>We trained the DQN for 5,000 games and the n-tuple for 10,000 games, then</a:t>
            </a:r>
          </a:p>
          <a:p>
            <a:r>
              <a:t>evaluated both on a fresh test set of 300 games with seeds that were *not*</a:t>
            </a:r>
          </a:p>
          <a:p>
            <a:r>
              <a:t>in training. Random and greedy don't train — they were just evaluated.</a:t>
            </a:r>
          </a:p>
          <a:p>
            <a:endParaRPr/>
          </a:p>
          <a:p>
            <a:r>
              <a:t>Look at the mean reward column on top. Random plays get about 298 points</a:t>
            </a:r>
          </a:p>
          <a:p>
            <a:r>
              <a:t>per game on average. Greedy gets 1,300. The trained DQN gets… 311.</a:t>
            </a:r>
          </a:p>
          <a:p>
            <a:r>
              <a:t>Basically tied with random.</a:t>
            </a:r>
          </a:p>
          <a:p>
            <a:endParaRPr/>
          </a:p>
          <a:p>
            <a:r>
              <a:t>The n-tuple gets 3,270 — an *order of magnitude* better than DQN.</a:t>
            </a:r>
          </a:p>
          <a:p>
            <a:endParaRPr/>
          </a:p>
          <a:p>
            <a:r>
              <a:t>A few things to notice. Even our hand-coded heuristic — with zero learning —</a:t>
            </a:r>
          </a:p>
          <a:p>
            <a:r>
              <a:t>beats vanilla deep RL by 4× on this task. The n-tuple, with its hand-picked</a:t>
            </a:r>
          </a:p>
          <a:p>
            <a:r>
              <a:t>patches and symmetry tricks, blows everything else away.</a:t>
            </a:r>
          </a:p>
          <a:p>
            <a:endParaRPr/>
          </a:p>
          <a:p>
            <a:r>
              <a:t>One housekeeping note: our scores are in "log2-merge units." We use the</a:t>
            </a:r>
          </a:p>
          <a:p>
            <a:r>
              <a:t>log-2 of the new tile as the reward, not the tile's actual value. That</a:t>
            </a:r>
          </a:p>
          <a:p>
            <a:r>
              <a:t>keeps reward magnitudes small. So 3,270 here would correspond to roughly</a:t>
            </a:r>
          </a:p>
          <a:p>
            <a:r>
              <a:t>15,000–20,000 in standard 2048 scoring. The qualitative comparison is</a:t>
            </a:r>
          </a:p>
          <a:p>
            <a:r>
              <a:t>unaffected.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*why* did the simpler method win? Three reasons, and they're all</a:t>
            </a:r>
          </a:p>
          <a:p>
            <a:r>
              <a:t>about what the agent gets *for free* before it ever starts learning.</a:t>
            </a:r>
          </a:p>
          <a:p>
            <a:endParaRPr/>
          </a:p>
          <a:p>
            <a:r>
              <a:t>REASON ONE: the right features beat raw data. The n-tuple's hand-picked</a:t>
            </a:r>
          </a:p>
          <a:p>
            <a:r>
              <a:t>patches encode exactly the structure that matters in 2048 — which tiles</a:t>
            </a:r>
          </a:p>
          <a:p>
            <a:r>
              <a:t>are adjacent to which, what's in the corner, whether the top row is</a:t>
            </a:r>
          </a:p>
          <a:p>
            <a:r>
              <a:t>sorted. DQN sees 256 raw numbers with no structure imposed on them, and</a:t>
            </a:r>
          </a:p>
          <a:p>
            <a:r>
              <a:t>has to discover from scratch that any of this matters. With 5,000 games</a:t>
            </a:r>
          </a:p>
          <a:p>
            <a:r>
              <a:t>of practice, it doesn't get there.</a:t>
            </a:r>
          </a:p>
          <a:p>
            <a:endParaRPr/>
          </a:p>
          <a:p>
            <a:r>
              <a:t>REASON TWO: the n-tuple gets symmetry for free. A clever move in the</a:t>
            </a:r>
          </a:p>
          <a:p>
            <a:r>
              <a:t>top-left corner is, by symmetry, also a clever move in the other three</a:t>
            </a:r>
          </a:p>
          <a:p>
            <a:r>
              <a:t>corners — just rotated or mirrored. The n-tuple updates all 8 symmetric</a:t>
            </a:r>
          </a:p>
          <a:p>
            <a:r>
              <a:t>variants at once because they share weights. DQN has to relearn each</a:t>
            </a:r>
          </a:p>
          <a:p>
            <a:r>
              <a:t>corner separately. That's roughly a 4-to-8× sample efficiency advantage.</a:t>
            </a:r>
          </a:p>
          <a:p>
            <a:endParaRPr/>
          </a:p>
          <a:p>
            <a:r>
              <a:t>REASON THREE: the learning signal is cleaner. The n-tuple learns values</a:t>
            </a:r>
          </a:p>
          <a:p>
            <a:r>
              <a:t>of *afterstates* — the board after your swipe but before the random tile</a:t>
            </a:r>
          </a:p>
          <a:p>
            <a:r>
              <a:t>spawn. That keeps the random spawn out of its learning target. DQN</a:t>
            </a:r>
          </a:p>
          <a:p>
            <a:r>
              <a:t>learns the post-spawn board, so every learning target it computes includes</a:t>
            </a:r>
          </a:p>
          <a:p>
            <a:r>
              <a:t>noise from a tile placement it had no control over.</a:t>
            </a:r>
          </a:p>
          <a:p>
            <a:endParaRPr/>
          </a:p>
          <a:p>
            <a:r>
              <a:t>All three of these are about REPRESENTATION, not network capacity. You</a:t>
            </a:r>
          </a:p>
          <a:p>
            <a:r>
              <a:t>can have more parameters and still lose if you're looking at the wrong</a:t>
            </a:r>
          </a:p>
          <a:p>
            <a:r>
              <a:t>thing.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Mean reward only tells half the story. This chart is more revealing —</a:t>
            </a:r>
          </a:p>
          <a:p>
            <a:r>
              <a:t>it shows the *probability* that each agent reaches a given max tile.</a:t>
            </a:r>
          </a:p>
          <a:p>
            <a:endParaRPr/>
          </a:p>
          <a:p>
            <a:r>
              <a:t>Look at the n-tuple — the gold bars. It reaches the 1024 tile in 87 % of</a:t>
            </a:r>
          </a:p>
          <a:p>
            <a:r>
              <a:t>games, and the 2048 tile — the win condition — in 25 % of games. One in</a:t>
            </a:r>
          </a:p>
          <a:p>
            <a:r>
              <a:t>four games, it *actually wins*.</a:t>
            </a:r>
          </a:p>
          <a:p>
            <a:endParaRPr/>
          </a:p>
          <a:p>
            <a:r>
              <a:t>Greedy — the orange — reaches 1024 only 11 % of the time and never reaches</a:t>
            </a:r>
          </a:p>
          <a:p>
            <a:r>
              <a:t>2048.</a:t>
            </a:r>
          </a:p>
          <a:p>
            <a:endParaRPr/>
          </a:p>
          <a:p>
            <a:r>
              <a:t>DQN — the red-orange — never even reaches 512. Its tile distribution is</a:t>
            </a:r>
          </a:p>
          <a:p>
            <a:r>
              <a:t>indistinguishable from random.</a:t>
            </a:r>
          </a:p>
          <a:p>
            <a:endParaRPr/>
          </a:p>
          <a:p>
            <a:r>
              <a:t>The 25 % number — one in four games ending with the 2048 tile — is the</a:t>
            </a:r>
          </a:p>
          <a:p>
            <a:r>
              <a:t>headline of the whole project. We built a working AI 2048 player, with no</a:t>
            </a:r>
          </a:p>
          <a:p>
            <a:r>
              <a:t>deep learning at all.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how they learn over time. Both agents started knowing nothing.</a:t>
            </a:r>
          </a:p>
          <a:p>
            <a:endParaRPr/>
          </a:p>
          <a:p>
            <a:r>
              <a:t>The chart shows their rolling-100-episode mean reward as training</a:t>
            </a:r>
          </a:p>
          <a:p>
            <a:r>
              <a:t>progresses.</a:t>
            </a:r>
          </a:p>
          <a:p>
            <a:endParaRPr/>
          </a:p>
          <a:p>
            <a:r>
              <a:t>The N-TUPLE — the gold line — climbs steadily from around 500 to around</a:t>
            </a:r>
          </a:p>
          <a:p>
            <a:r>
              <a:t>3,000 over its 10,000 training games. The two dotted vertical lines</a:t>
            </a:r>
          </a:p>
          <a:p>
            <a:r>
              <a:t>mark milestones: it built its first 1024 tile at episode 307, and its</a:t>
            </a:r>
          </a:p>
          <a:p>
            <a:r>
              <a:t>first 2048 tile at episode 1,231. It's still improving at the end of</a:t>
            </a:r>
          </a:p>
          <a:p>
            <a:r>
              <a:t>training — we could've kept going.</a:t>
            </a:r>
          </a:p>
          <a:p>
            <a:endParaRPr/>
          </a:p>
          <a:p>
            <a:r>
              <a:t>The DQN — the orange line — rises from about 100 to about 300 in the</a:t>
            </a:r>
          </a:p>
          <a:p>
            <a:r>
              <a:t>first thousand episodes, then flatlines. It learned *something* —</a:t>
            </a:r>
          </a:p>
          <a:p>
            <a:r>
              <a:t>roughly the difference between "obviously bad moves" and "average</a:t>
            </a:r>
          </a:p>
          <a:p>
            <a:r>
              <a:t>moves" — but it hit a wall. Running it longer doesn't fundamentally</a:t>
            </a:r>
          </a:p>
          <a:p>
            <a:r>
              <a:t>change the picture; the bottleneck is structural, not training time.</a:t>
            </a:r>
          </a:p>
          <a:p>
            <a:endParaRPr/>
          </a:p>
          <a:p>
            <a:r>
              <a:t>This is the cleanest visualization of "the n-tuple is actually learning;</a:t>
            </a:r>
          </a:p>
          <a:p>
            <a:r>
              <a:t>DQN is stuck."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Numbers are fine, but watching them play is more visceral.</a:t>
            </a:r>
          </a:p>
          <a:p>
            <a:endParaRPr/>
          </a:p>
          <a:p>
            <a:r>
              <a:t>This GIF shows both agents starting from the same initial board.</a:t>
            </a:r>
          </a:p>
          <a:p>
            <a:r>
              <a:t>DQN on the left, n-tuple on the right.</a:t>
            </a:r>
          </a:p>
          <a:p>
            <a:endParaRPr/>
          </a:p>
          <a:p>
            <a:r>
              <a:t>You can see — DQN's game ends quickly. It's making moves that look</a:t>
            </a:r>
          </a:p>
          <a:p>
            <a:r>
              <a:t>mostly reasonable, but the board fills up before it can build anything</a:t>
            </a:r>
          </a:p>
          <a:p>
            <a:r>
              <a:t>significant. It dies around tile 128 or 256.</a:t>
            </a:r>
          </a:p>
          <a:p>
            <a:endParaRPr/>
          </a:p>
          <a:p>
            <a:r>
              <a:t>The n-tuple, on the right, does something very specific: it builds a</a:t>
            </a:r>
          </a:p>
          <a:p>
            <a:r>
              <a:t>"snake" of tiles in one corner. That's the classic *human* strategy for</a:t>
            </a:r>
          </a:p>
          <a:p>
            <a:r>
              <a:t>2048 — keep the biggest tile pinned in a corner and chain merges down</a:t>
            </a:r>
          </a:p>
          <a:p>
            <a:r>
              <a:t>a snake of decreasing tiles next to it.</a:t>
            </a:r>
          </a:p>
          <a:p>
            <a:endParaRPr/>
          </a:p>
          <a:p>
            <a:r>
              <a:t>The n-tuple learned to do this on its own, just from the rewards.</a:t>
            </a:r>
          </a:p>
          <a:p>
            <a:r>
              <a:t>Nobody told it "build a snake in a corner." That </a:t>
            </a:r>
            <a:r>
              <a:rPr lang="en-GB" dirty="0" err="1"/>
              <a:t>behaviour</a:t>
            </a:r>
            <a:r>
              <a:t> emerged</a:t>
            </a:r>
          </a:p>
          <a:p>
            <a:r>
              <a:t>because the lookup-table patches happen to be sensitive to corner</a:t>
            </a:r>
          </a:p>
          <a:p>
            <a:r>
              <a:t>arrangements, and the TD updates push the values up whenever a corner</a:t>
            </a:r>
          </a:p>
          <a:p>
            <a:r>
              <a:t>snake leads to high reward.</a:t>
            </a:r>
          </a:p>
          <a:p>
            <a:endParaRPr/>
          </a:p>
          <a:p>
            <a:r>
              <a:t>[Let the GIF play out for a few seconds before clicking forward.]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that's it from us. Thanks for listening — happy to take questions</a:t>
            </a:r>
          </a:p>
          <a:p>
            <a:r>
              <a:t>on any of it.</a:t>
            </a:r>
          </a:p>
          <a:p>
            <a:endParaRPr/>
          </a:p>
          <a:p>
            <a:r>
              <a:t>Some good prompts in case the audience is shy:</a:t>
            </a:r>
          </a:p>
          <a:p>
            <a:r>
              <a:t> - "Why did you pick those four patches for the n-tuple?" → S&amp;J 2014</a:t>
            </a:r>
          </a:p>
          <a:p>
            <a:r>
              <a:t>   paper's pattern set, picked by humans based on what matters in 2048.</a:t>
            </a:r>
          </a:p>
          <a:p>
            <a:r>
              <a:t> - "How would you make DQN actually work here?" → CNN encoder, n-step</a:t>
            </a:r>
          </a:p>
          <a:p>
            <a:r>
              <a:t>   returns, prioritized replay, ~10× longer training budget.</a:t>
            </a:r>
          </a:p>
          <a:p>
            <a:r>
              <a:t> - "What's the official 2048 score equivalent of 3,270 in your units?"</a:t>
            </a:r>
          </a:p>
          <a:p>
            <a:r>
              <a:t>   → roughly 15,000–20,000 in standard scoring.</a:t>
            </a:r>
          </a:p>
          <a:p>
            <a:r>
              <a:t> - "Is the n-tuple just a memo'd table — could it overfit?" → it</a:t>
            </a:r>
          </a:p>
          <a:p>
            <a:r>
              <a:t>   could in principle, but the dihedral symmetry sharing means each</a:t>
            </a:r>
          </a:p>
          <a:p>
            <a:r>
              <a:t>   weight is hit by many board configurations, and 16M weights vs.</a:t>
            </a:r>
          </a:p>
          <a:p>
            <a:r>
              <a:t>   millions of board configurations means it generalizes well in</a:t>
            </a:r>
          </a:p>
          <a:p>
            <a:r>
              <a:t>   practice.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a:p>
        </p:txBody>
      </p:sp>
    </p:spTree>
    <p:extLst>
      <p:ext uri="{BB962C8B-B14F-4D97-AF65-F5344CB8AC3E}">
        <p14:creationId xmlns:p14="http://schemas.microsoft.com/office/powerpoint/2010/main" val="7943447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microsoft.com/office/2018/10/relationships/comments" Target="../comments/modernComment_10C_0.xml"/><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365760" y="822960"/>
            <a:ext cx="7315200" cy="457200"/>
          </a:xfrm>
          <a:prstGeom prst="rect">
            <a:avLst/>
          </a:prstGeom>
          <a:noFill/>
        </p:spPr>
        <p:txBody>
          <a:bodyPr wrap="square" lIns="0" tIns="0" rIns="0" bIns="0">
            <a:spAutoFit/>
          </a:bodyPr>
          <a:lstStyle/>
          <a:p>
            <a:pPr algn="l"/>
            <a:r>
              <a:rPr sz="1600" b="0" i="0">
                <a:solidFill>
                  <a:srgbClr val="776E65"/>
                </a:solidFill>
                <a:latin typeface="Segoe UI"/>
              </a:rPr>
              <a:t>Florian Robrecht · Janin Jankovski · Anna Hartmann</a:t>
            </a:r>
          </a:p>
        </p:txBody>
      </p:sp>
      <p:sp>
        <p:nvSpPr>
          <p:cNvPr id="3" name="TextBox 2"/>
          <p:cNvSpPr txBox="1"/>
          <p:nvPr/>
        </p:nvSpPr>
        <p:spPr>
          <a:xfrm>
            <a:off x="365760" y="1463040"/>
            <a:ext cx="7315200" cy="1188720"/>
          </a:xfrm>
          <a:prstGeom prst="rect">
            <a:avLst/>
          </a:prstGeom>
          <a:noFill/>
        </p:spPr>
        <p:txBody>
          <a:bodyPr wrap="square" lIns="0" tIns="0" rIns="0" bIns="0">
            <a:spAutoFit/>
          </a:bodyPr>
          <a:lstStyle/>
          <a:p>
            <a:pPr algn="l"/>
            <a:r>
              <a:rPr sz="5400" b="1" i="0">
                <a:solidFill>
                  <a:srgbClr val="776E65"/>
                </a:solidFill>
                <a:latin typeface="Segoe UI Semibold"/>
              </a:rPr>
              <a:t>Reinforcement learning</a:t>
            </a:r>
          </a:p>
        </p:txBody>
      </p:sp>
      <p:sp>
        <p:nvSpPr>
          <p:cNvPr id="4" name="TextBox 3"/>
          <p:cNvSpPr txBox="1"/>
          <p:nvPr/>
        </p:nvSpPr>
        <p:spPr>
          <a:xfrm>
            <a:off x="365760" y="2286000"/>
            <a:ext cx="7315200" cy="1188720"/>
          </a:xfrm>
          <a:prstGeom prst="rect">
            <a:avLst/>
          </a:prstGeom>
          <a:noFill/>
        </p:spPr>
        <p:txBody>
          <a:bodyPr wrap="square" lIns="0" tIns="0" rIns="0" bIns="0">
            <a:spAutoFit/>
          </a:bodyPr>
          <a:lstStyle/>
          <a:p>
            <a:pPr algn="l"/>
            <a:r>
              <a:rPr sz="5400" b="1" i="0">
                <a:solidFill>
                  <a:srgbClr val="776E65"/>
                </a:solidFill>
                <a:latin typeface="Segoe UI Semibold"/>
              </a:rPr>
              <a:t>with 2048</a:t>
            </a:r>
          </a:p>
        </p:txBody>
      </p:sp>
      <p:sp>
        <p:nvSpPr>
          <p:cNvPr id="5" name="TextBox 4"/>
          <p:cNvSpPr txBox="1"/>
          <p:nvPr/>
        </p:nvSpPr>
        <p:spPr>
          <a:xfrm>
            <a:off x="365760" y="3474720"/>
            <a:ext cx="7315200" cy="338554"/>
          </a:xfrm>
          <a:prstGeom prst="rect">
            <a:avLst/>
          </a:prstGeom>
          <a:noFill/>
        </p:spPr>
        <p:txBody>
          <a:bodyPr wrap="square" lIns="0" tIns="0" rIns="0" bIns="0">
            <a:spAutoFit/>
          </a:bodyPr>
          <a:lstStyle/>
          <a:p>
            <a:r>
              <a:rPr sz="2200" b="0" i="1">
                <a:solidFill>
                  <a:srgbClr val="A9A097"/>
                </a:solidFill>
                <a:latin typeface="Segoe UI"/>
              </a:rPr>
              <a:t>Machine Learning 2  ·  Assignment 5</a:t>
            </a:r>
            <a:r>
              <a:rPr lang="de-DE" sz="2200" i="1">
                <a:solidFill>
                  <a:srgbClr val="A9A097"/>
                </a:solidFill>
                <a:latin typeface="Segoe UI"/>
              </a:rPr>
              <a:t> ·  Group 5</a:t>
            </a:r>
            <a:endParaRPr lang="de-DE" sz="2200" b="0" i="1">
              <a:solidFill>
                <a:srgbClr val="A9A097"/>
              </a:solidFill>
              <a:latin typeface="Segoe UI"/>
            </a:endParaRPr>
          </a:p>
        </p:txBody>
      </p:sp>
      <p:sp>
        <p:nvSpPr>
          <p:cNvPr id="12" name="Rounded Rectangle 6">
            <a:extLst>
              <a:ext uri="{FF2B5EF4-FFF2-40B4-BE49-F238E27FC236}">
                <a16:creationId xmlns:a16="http://schemas.microsoft.com/office/drawing/2014/main" id="{6E3F8FA4-EA00-0ECC-B8AB-4CEB9F1DFBD8}"/>
              </a:ext>
            </a:extLst>
          </p:cNvPr>
          <p:cNvSpPr/>
          <p:nvPr/>
        </p:nvSpPr>
        <p:spPr>
          <a:xfrm>
            <a:off x="7838277" y="5212080"/>
            <a:ext cx="1005840" cy="100584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3400" b="1">
                <a:solidFill>
                  <a:srgbClr val="776E65"/>
                </a:solidFill>
                <a:latin typeface="Calibri"/>
              </a:rPr>
              <a:t>2</a:t>
            </a:r>
          </a:p>
        </p:txBody>
      </p:sp>
      <p:sp>
        <p:nvSpPr>
          <p:cNvPr id="13" name="Rounded Rectangle 7">
            <a:extLst>
              <a:ext uri="{FF2B5EF4-FFF2-40B4-BE49-F238E27FC236}">
                <a16:creationId xmlns:a16="http://schemas.microsoft.com/office/drawing/2014/main" id="{94AD1763-2FD7-4B56-3C09-3F283B90F785}"/>
              </a:ext>
            </a:extLst>
          </p:cNvPr>
          <p:cNvSpPr/>
          <p:nvPr/>
        </p:nvSpPr>
        <p:spPr>
          <a:xfrm>
            <a:off x="10450216" y="1371600"/>
            <a:ext cx="1005840" cy="100584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3400" b="1">
                <a:solidFill>
                  <a:srgbClr val="776E65"/>
                </a:solidFill>
                <a:latin typeface="Calibri"/>
              </a:rPr>
              <a:t>4</a:t>
            </a:r>
          </a:p>
        </p:txBody>
      </p:sp>
      <p:sp>
        <p:nvSpPr>
          <p:cNvPr id="14" name="Rounded Rectangle 8">
            <a:extLst>
              <a:ext uri="{FF2B5EF4-FFF2-40B4-BE49-F238E27FC236}">
                <a16:creationId xmlns:a16="http://schemas.microsoft.com/office/drawing/2014/main" id="{8CAC8BC2-0941-A825-077F-29F495FE1524}"/>
              </a:ext>
            </a:extLst>
          </p:cNvPr>
          <p:cNvSpPr/>
          <p:nvPr/>
        </p:nvSpPr>
        <p:spPr>
          <a:xfrm>
            <a:off x="9170056" y="2651760"/>
            <a:ext cx="1005840" cy="1005840"/>
          </a:xfrm>
          <a:prstGeom prst="roundRect">
            <a:avLst>
              <a:gd name="adj" fmla="val 8000"/>
            </a:avLst>
          </a:prstGeom>
          <a:solidFill>
            <a:srgbClr val="F2B179"/>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3400" b="1">
                <a:solidFill>
                  <a:srgbClr val="F9F6F2"/>
                </a:solidFill>
                <a:latin typeface="Calibri"/>
              </a:rPr>
              <a:t>8</a:t>
            </a:r>
          </a:p>
        </p:txBody>
      </p:sp>
      <p:sp>
        <p:nvSpPr>
          <p:cNvPr id="15" name="Rounded Rectangle 9">
            <a:extLst>
              <a:ext uri="{FF2B5EF4-FFF2-40B4-BE49-F238E27FC236}">
                <a16:creationId xmlns:a16="http://schemas.microsoft.com/office/drawing/2014/main" id="{F09995DE-AA24-D39A-3139-D40C4D13CAE9}"/>
              </a:ext>
            </a:extLst>
          </p:cNvPr>
          <p:cNvSpPr/>
          <p:nvPr/>
        </p:nvSpPr>
        <p:spPr>
          <a:xfrm>
            <a:off x="10450216" y="2651760"/>
            <a:ext cx="1005840" cy="1005840"/>
          </a:xfrm>
          <a:prstGeom prst="roundRect">
            <a:avLst>
              <a:gd name="adj" fmla="val 8000"/>
            </a:avLst>
          </a:prstGeom>
          <a:solidFill>
            <a:srgbClr val="F59563"/>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3400" b="1">
                <a:solidFill>
                  <a:srgbClr val="F9F6F2"/>
                </a:solidFill>
                <a:latin typeface="Calibri"/>
              </a:rPr>
              <a:t>16</a:t>
            </a:r>
          </a:p>
        </p:txBody>
      </p:sp>
      <p:sp>
        <p:nvSpPr>
          <p:cNvPr id="16" name="Rounded Rectangle 10">
            <a:extLst>
              <a:ext uri="{FF2B5EF4-FFF2-40B4-BE49-F238E27FC236}">
                <a16:creationId xmlns:a16="http://schemas.microsoft.com/office/drawing/2014/main" id="{8AB66F6B-87E8-73F9-6A9C-85DB70F234E5}"/>
              </a:ext>
            </a:extLst>
          </p:cNvPr>
          <p:cNvSpPr/>
          <p:nvPr/>
        </p:nvSpPr>
        <p:spPr>
          <a:xfrm>
            <a:off x="9170056" y="3931920"/>
            <a:ext cx="2286000" cy="2286000"/>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600" b="1">
                <a:solidFill>
                  <a:srgbClr val="F9F6F2"/>
                </a:solidFill>
                <a:latin typeface="Calibri"/>
              </a:rPr>
              <a:t>2048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A short history of 2048</a:t>
            </a:r>
          </a:p>
        </p:txBody>
      </p:sp>
      <p:sp>
        <p:nvSpPr>
          <p:cNvPr id="3" name="TextBox 2"/>
          <p:cNvSpPr txBox="1"/>
          <p:nvPr/>
        </p:nvSpPr>
        <p:spPr>
          <a:xfrm>
            <a:off x="548640" y="914400"/>
            <a:ext cx="11064240" cy="230832"/>
          </a:xfrm>
          <a:prstGeom prst="rect">
            <a:avLst/>
          </a:prstGeom>
          <a:noFill/>
        </p:spPr>
        <p:txBody>
          <a:bodyPr wrap="square" lIns="0" tIns="0" rIns="0" bIns="0">
            <a:spAutoFit/>
          </a:bodyPr>
          <a:lstStyle/>
          <a:p>
            <a:pPr algn="l"/>
            <a:r>
              <a:rPr sz="1500" b="0" i="1">
                <a:solidFill>
                  <a:srgbClr val="A9A097"/>
                </a:solidFill>
                <a:latin typeface="Segoe UI"/>
              </a:rPr>
              <a:t>Built in a weekend, viral in a week</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828800"/>
            <a:ext cx="2606040" cy="2286000"/>
          </a:xfrm>
          <a:prstGeom prst="roundRect">
            <a:avLst>
              <a:gd name="adj" fmla="val 8000"/>
            </a:avLst>
          </a:prstGeom>
          <a:solidFill>
            <a:srgbClr val="F65E3B"/>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400" b="1">
                <a:solidFill>
                  <a:srgbClr val="F9F6F2"/>
                </a:solidFill>
                <a:latin typeface="Segoe UI Semibold"/>
              </a:rPr>
              <a:t>2014</a:t>
            </a:r>
          </a:p>
          <a:p>
            <a:pPr algn="ctr"/>
            <a:r>
              <a:rPr sz="1500" b="0">
                <a:solidFill>
                  <a:srgbClr val="F9F6F2"/>
                </a:solidFill>
                <a:latin typeface="Segoe UI"/>
              </a:rPr>
              <a:t>Year created</a:t>
            </a:r>
          </a:p>
        </p:txBody>
      </p:sp>
      <p:sp>
        <p:nvSpPr>
          <p:cNvPr id="6" name="Rounded Rectangle 5"/>
          <p:cNvSpPr/>
          <p:nvPr/>
        </p:nvSpPr>
        <p:spPr>
          <a:xfrm>
            <a:off x="3401568" y="1828800"/>
            <a:ext cx="2606040" cy="2286000"/>
          </a:xfrm>
          <a:prstGeom prst="roundRect">
            <a:avLst>
              <a:gd name="adj" fmla="val 8000"/>
            </a:avLst>
          </a:prstGeom>
          <a:solidFill>
            <a:srgbClr val="EDCF72"/>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400" b="1">
                <a:solidFill>
                  <a:srgbClr val="F9F6F2"/>
                </a:solidFill>
                <a:latin typeface="Segoe UI Semibold"/>
              </a:rPr>
              <a:t>19</a:t>
            </a:r>
          </a:p>
          <a:p>
            <a:pPr algn="ctr"/>
            <a:r>
              <a:rPr sz="1500" b="0">
                <a:solidFill>
                  <a:srgbClr val="F9F6F2"/>
                </a:solidFill>
                <a:latin typeface="Segoe UI"/>
              </a:rPr>
              <a:t>Age of creator</a:t>
            </a:r>
          </a:p>
        </p:txBody>
      </p:sp>
      <p:sp>
        <p:nvSpPr>
          <p:cNvPr id="7" name="Rounded Rectangle 6"/>
          <p:cNvSpPr/>
          <p:nvPr/>
        </p:nvSpPr>
        <p:spPr>
          <a:xfrm>
            <a:off x="6254496" y="1828800"/>
            <a:ext cx="2606040" cy="2286000"/>
          </a:xfrm>
          <a:prstGeom prst="roundRect">
            <a:avLst>
              <a:gd name="adj" fmla="val 8000"/>
            </a:avLst>
          </a:prstGeom>
          <a:solidFill>
            <a:srgbClr val="EDCC61"/>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400" b="1">
                <a:solidFill>
                  <a:srgbClr val="F9F6F2"/>
                </a:solidFill>
                <a:latin typeface="Segoe UI Semibold"/>
              </a:rPr>
              <a:t>48 h</a:t>
            </a:r>
          </a:p>
          <a:p>
            <a:pPr algn="ctr"/>
            <a:r>
              <a:rPr sz="1500" b="0">
                <a:solidFill>
                  <a:srgbClr val="F9F6F2"/>
                </a:solidFill>
                <a:latin typeface="Segoe UI"/>
              </a:rPr>
              <a:t>From idea to release</a:t>
            </a:r>
          </a:p>
        </p:txBody>
      </p:sp>
      <p:sp>
        <p:nvSpPr>
          <p:cNvPr id="8" name="Rounded Rectangle 7"/>
          <p:cNvSpPr/>
          <p:nvPr/>
        </p:nvSpPr>
        <p:spPr>
          <a:xfrm>
            <a:off x="9107424" y="1828800"/>
            <a:ext cx="2606040" cy="2286000"/>
          </a:xfrm>
          <a:prstGeom prst="roundRect">
            <a:avLst>
              <a:gd name="adj" fmla="val 8000"/>
            </a:avLst>
          </a:prstGeom>
          <a:solidFill>
            <a:srgbClr val="EDC850"/>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400" b="1">
                <a:solidFill>
                  <a:srgbClr val="F9F6F2"/>
                </a:solidFill>
                <a:latin typeface="Segoe UI Semibold"/>
              </a:rPr>
              <a:t>4 M+</a:t>
            </a:r>
          </a:p>
          <a:p>
            <a:pPr algn="ctr"/>
            <a:r>
              <a:rPr sz="1500" b="0">
                <a:solidFill>
                  <a:srgbClr val="F9F6F2"/>
                </a:solidFill>
                <a:latin typeface="Segoe UI"/>
              </a:rPr>
              <a:t>Players in week 1</a:t>
            </a:r>
          </a:p>
        </p:txBody>
      </p:sp>
      <p:sp>
        <p:nvSpPr>
          <p:cNvPr id="9" name="TextBox 8"/>
          <p:cNvSpPr txBox="1"/>
          <p:nvPr/>
        </p:nvSpPr>
        <p:spPr>
          <a:xfrm>
            <a:off x="548640" y="4572000"/>
            <a:ext cx="11064240" cy="1769010"/>
          </a:xfrm>
          <a:prstGeom prst="rect">
            <a:avLst/>
          </a:prstGeom>
          <a:noFill/>
        </p:spPr>
        <p:txBody>
          <a:bodyPr wrap="square" lIns="0" tIns="0" rIns="0" bIns="0">
            <a:spAutoFit/>
          </a:bodyPr>
          <a:lstStyle/>
          <a:p>
            <a:pPr algn="l">
              <a:lnSpc>
                <a:spcPct val="130000"/>
              </a:lnSpc>
            </a:pPr>
            <a:r>
              <a:rPr sz="1500">
                <a:solidFill>
                  <a:srgbClr val="776E65"/>
                </a:solidFill>
                <a:latin typeface="Segoe UI"/>
              </a:rPr>
              <a:t>•  Created by Gabriele Cirulli </a:t>
            </a:r>
            <a:r>
              <a:rPr lang="de-DE" sz="1500">
                <a:solidFill>
                  <a:srgbClr val="776E65"/>
                </a:solidFill>
                <a:latin typeface="Segoe UI"/>
              </a:rPr>
              <a:t>at </a:t>
            </a:r>
            <a:r>
              <a:rPr lang="de-DE" sz="1500" err="1">
                <a:solidFill>
                  <a:srgbClr val="776E65"/>
                </a:solidFill>
                <a:latin typeface="Segoe UI"/>
              </a:rPr>
              <a:t>age</a:t>
            </a:r>
            <a:r>
              <a:rPr lang="de-DE" sz="1500">
                <a:solidFill>
                  <a:srgbClr val="776E65"/>
                </a:solidFill>
                <a:latin typeface="Segoe UI"/>
              </a:rPr>
              <a:t> 19 </a:t>
            </a:r>
            <a:r>
              <a:rPr sz="1500">
                <a:solidFill>
                  <a:srgbClr val="776E65"/>
                </a:solidFill>
                <a:latin typeface="Segoe UI"/>
              </a:rPr>
              <a:t>(Milan) — open-source on GitHub, March 9, 2014</a:t>
            </a:r>
            <a:endParaRPr lang="en-US" sz="1500">
              <a:solidFill>
                <a:srgbClr val="776E65"/>
              </a:solidFill>
              <a:latin typeface="Segoe UI"/>
            </a:endParaRPr>
          </a:p>
          <a:p>
            <a:pPr>
              <a:lnSpc>
                <a:spcPct val="130000"/>
              </a:lnSpc>
            </a:pPr>
            <a:r>
              <a:rPr lang="en-US" sz="1500">
                <a:solidFill>
                  <a:srgbClr val="776E65"/>
                </a:solidFill>
                <a:latin typeface="Segoe UI"/>
              </a:rPr>
              <a:t>•  Cirulli built it in about a day and a half as a personal challenge — he wanted to see if he could program a game from scratch</a:t>
            </a:r>
          </a:p>
          <a:p>
            <a:pPr algn="l">
              <a:lnSpc>
                <a:spcPct val="130000"/>
              </a:lnSpc>
            </a:pPr>
            <a:r>
              <a:rPr lang="en-US" sz="1500">
                <a:solidFill>
                  <a:srgbClr val="776E65"/>
                </a:solidFill>
                <a:latin typeface="Segoe UI"/>
              </a:rPr>
              <a:t>•  </a:t>
            </a:r>
            <a:r>
              <a:rPr sz="1500">
                <a:solidFill>
                  <a:srgbClr val="776E65"/>
                </a:solidFill>
                <a:latin typeface="Segoe UI"/>
              </a:rPr>
              <a:t>Inspired by Threes! and the earlier 1024</a:t>
            </a:r>
          </a:p>
          <a:p>
            <a:pPr algn="l">
              <a:lnSpc>
                <a:spcPct val="130000"/>
              </a:lnSpc>
            </a:pPr>
            <a:r>
              <a:rPr sz="1500">
                <a:solidFill>
                  <a:srgbClr val="776E65"/>
                </a:solidFill>
                <a:latin typeface="Segoe UI"/>
              </a:rPr>
              <a:t>•  Theoretical maximum tile: 131,072 = 2¹⁷  —  no one has reached it in fair play</a:t>
            </a:r>
            <a:endParaRPr lang="en-US" sz="1500">
              <a:solidFill>
                <a:srgbClr val="776E65"/>
              </a:solidFill>
              <a:latin typeface="Segoe UI"/>
            </a:endParaRPr>
          </a:p>
          <a:p>
            <a:pPr>
              <a:lnSpc>
                <a:spcPct val="130000"/>
              </a:lnSpc>
            </a:pPr>
            <a:r>
              <a:rPr lang="en-US" sz="1500">
                <a:solidFill>
                  <a:srgbClr val="776E65"/>
                </a:solidFill>
                <a:latin typeface="Segoe UI"/>
              </a:rPr>
              <a:t>•  Within a week of launch, 2048 had been played by over 4 million people. Within a month, it hit ~100 million players</a:t>
            </a:r>
          </a:p>
          <a:p>
            <a:pPr>
              <a:lnSpc>
                <a:spcPct val="130000"/>
              </a:lnSpc>
            </a:pPr>
            <a:r>
              <a:rPr lang="en-US" sz="1500">
                <a:solidFill>
                  <a:srgbClr val="776E65"/>
                </a:solidFill>
                <a:latin typeface="Segoe UI"/>
              </a:rPr>
              <a:t>•  Sparked an entire research literature on n-tuple TD learning (</a:t>
            </a:r>
            <a:r>
              <a:rPr lang="en-US" sz="1500" err="1">
                <a:solidFill>
                  <a:srgbClr val="776E65"/>
                </a:solidFill>
                <a:latin typeface="Segoe UI"/>
              </a:rPr>
              <a:t>Szubert</a:t>
            </a:r>
            <a:r>
              <a:rPr lang="en-US" sz="1500">
                <a:solidFill>
                  <a:srgbClr val="776E65"/>
                </a:solidFill>
                <a:latin typeface="Segoe UI"/>
              </a:rPr>
              <a:t> &amp; </a:t>
            </a:r>
            <a:r>
              <a:rPr lang="en-US" sz="1500" err="1">
                <a:solidFill>
                  <a:srgbClr val="776E65"/>
                </a:solidFill>
                <a:latin typeface="Segoe UI"/>
              </a:rPr>
              <a:t>Jaśkowski</a:t>
            </a:r>
            <a:r>
              <a:rPr lang="en-US" sz="1500">
                <a:solidFill>
                  <a:srgbClr val="776E65"/>
                </a:solidFill>
                <a:latin typeface="Segoe UI"/>
              </a:rPr>
              <a:t> 2014 onwards)</a:t>
            </a:r>
          </a:p>
        </p:txBody>
      </p:sp>
      <p:sp>
        <p:nvSpPr>
          <p:cNvPr id="10" name="TextBox 9"/>
          <p:cNvSpPr txBox="1"/>
          <p:nvPr/>
        </p:nvSpPr>
        <p:spPr>
          <a:xfrm>
            <a:off x="10515600" y="6473952"/>
            <a:ext cx="1280160" cy="274320"/>
          </a:xfrm>
          <a:prstGeom prst="rect">
            <a:avLst/>
          </a:prstGeom>
          <a:noFill/>
        </p:spPr>
        <p:txBody>
          <a:bodyPr wrap="square" lIns="0" tIns="0" rIns="0" bIns="0">
            <a:spAutoFit/>
          </a:bodyPr>
          <a:lstStyle/>
          <a:p>
            <a:pPr algn="r"/>
            <a:r>
              <a:rPr sz="1000" b="0" i="0">
                <a:solidFill>
                  <a:srgbClr val="A9A097"/>
                </a:solidFill>
                <a:latin typeface="Segoe UI"/>
              </a:rPr>
              <a:t>02 / 19</a:t>
            </a:r>
          </a:p>
        </p:txBody>
      </p:sp>
      <p:pic>
        <p:nvPicPr>
          <p:cNvPr id="1026" name="Picture 2" descr="Threes!">
            <a:extLst>
              <a:ext uri="{FF2B5EF4-FFF2-40B4-BE49-F238E27FC236}">
                <a16:creationId xmlns:a16="http://schemas.microsoft.com/office/drawing/2014/main" id="{B9D3F2F4-17C8-A840-059C-8FFC11C2F3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62812" y="7995139"/>
            <a:ext cx="3154430" cy="504708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1024 - Math Puzzle - Educational Games For Kids">
            <a:extLst>
              <a:ext uri="{FF2B5EF4-FFF2-40B4-BE49-F238E27FC236}">
                <a16:creationId xmlns:a16="http://schemas.microsoft.com/office/drawing/2014/main" id="{3EEA3118-E5E0-F590-5AC2-C95002AF4A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08882" y="9602525"/>
            <a:ext cx="4174236" cy="277586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2048 – Apps bei Google Play">
            <a:extLst>
              <a:ext uri="{FF2B5EF4-FFF2-40B4-BE49-F238E27FC236}">
                <a16:creationId xmlns:a16="http://schemas.microsoft.com/office/drawing/2014/main" id="{47A44DBF-CE9C-5E21-8781-E83F8472A0A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02185" y="8258157"/>
            <a:ext cx="3588053" cy="47840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0.04649 0.23194 L 0.47904 -0.9338 " pathEditMode="relative" rAng="0" ptsTypes="AA">
                                      <p:cBhvr>
                                        <p:cTn id="6" dur="2000" fill="hold"/>
                                        <p:tgtEl>
                                          <p:spTgt spid="1026"/>
                                        </p:tgtEl>
                                        <p:attrNameLst>
                                          <p:attrName>ppt_x</p:attrName>
                                          <p:attrName>ppt_y</p:attrName>
                                        </p:attrNameLst>
                                      </p:cBhvr>
                                      <p:rCtr x="21628" y="-58287"/>
                                    </p:animMotion>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 3.7037E-6 L 0 -0.99977 " pathEditMode="relative" rAng="0" ptsTypes="AA">
                                      <p:cBhvr>
                                        <p:cTn id="14" dur="2000" fill="hold"/>
                                        <p:tgtEl>
                                          <p:spTgt spid="1028"/>
                                        </p:tgtEl>
                                        <p:attrNameLst>
                                          <p:attrName>ppt_x</p:attrName>
                                          <p:attrName>ppt_y</p:attrName>
                                        </p:attrNameLst>
                                      </p:cBhvr>
                                      <p:rCtr x="0" y="-50000"/>
                                    </p:animMotion>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02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42" presetClass="path" presetSubtype="0" accel="50000" decel="50000" fill="hold" nodeType="clickEffect">
                                  <p:stCondLst>
                                    <p:cond delay="0"/>
                                  </p:stCondLst>
                                  <p:childTnLst>
                                    <p:animMotion origin="layout" path="M -2.5E-6 7.40741E-7 L -0.42226 -0.93241 " pathEditMode="relative" rAng="0" ptsTypes="AA">
                                      <p:cBhvr>
                                        <p:cTn id="22" dur="2000" fill="hold"/>
                                        <p:tgtEl>
                                          <p:spTgt spid="1030"/>
                                        </p:tgtEl>
                                        <p:attrNameLst>
                                          <p:attrName>ppt_x</p:attrName>
                                          <p:attrName>ppt_y</p:attrName>
                                        </p:attrNameLst>
                                      </p:cBhvr>
                                      <p:rCtr x="-21120" y="-46620"/>
                                    </p:animMotion>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10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The rules</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Slide, merge, repeat — until 2048 or until the board fills up</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00200"/>
            <a:ext cx="10972800" cy="1188720"/>
          </a:xfrm>
          <a:prstGeom prst="rect">
            <a:avLst/>
          </a:prstGeom>
          <a:noFill/>
        </p:spPr>
        <p:txBody>
          <a:bodyPr wrap="square" lIns="0" tIns="0" rIns="0" bIns="0">
            <a:spAutoFit/>
          </a:bodyPr>
          <a:lstStyle/>
          <a:p>
            <a:pPr algn="l">
              <a:lnSpc>
                <a:spcPct val="130000"/>
              </a:lnSpc>
            </a:pPr>
            <a:r>
              <a:rPr sz="1500">
                <a:solidFill>
                  <a:srgbClr val="776E65"/>
                </a:solidFill>
                <a:latin typeface="Segoe UI"/>
              </a:rPr>
              <a:t>•  </a:t>
            </a:r>
            <a:r>
              <a:rPr lang="de-DE" sz="1500">
                <a:solidFill>
                  <a:srgbClr val="776E65"/>
                </a:solidFill>
                <a:latin typeface="Segoe UI"/>
              </a:rPr>
              <a:t>4×4 </a:t>
            </a:r>
            <a:r>
              <a:rPr lang="de-DE" sz="1500" err="1">
                <a:solidFill>
                  <a:srgbClr val="776E65"/>
                </a:solidFill>
                <a:latin typeface="Segoe UI"/>
              </a:rPr>
              <a:t>grid</a:t>
            </a:r>
            <a:r>
              <a:rPr lang="de-DE" sz="1500">
                <a:solidFill>
                  <a:srgbClr val="776E65"/>
                </a:solidFill>
                <a:latin typeface="Segoe UI"/>
              </a:rPr>
              <a:t>, swipe</a:t>
            </a:r>
            <a:r>
              <a:rPr sz="1500">
                <a:solidFill>
                  <a:srgbClr val="776E65"/>
                </a:solidFill>
                <a:latin typeface="Segoe UI"/>
              </a:rPr>
              <a:t> up, down, left or right · every tile slides as far as it can in that direction</a:t>
            </a:r>
          </a:p>
          <a:p>
            <a:pPr algn="l">
              <a:lnSpc>
                <a:spcPct val="130000"/>
              </a:lnSpc>
            </a:pPr>
            <a:r>
              <a:rPr sz="1500">
                <a:solidFill>
                  <a:srgbClr val="776E65"/>
                </a:solidFill>
                <a:latin typeface="Segoe UI"/>
              </a:rPr>
              <a:t>•  Two tiles with the same number that collide merge into one tile of double the value</a:t>
            </a:r>
          </a:p>
          <a:p>
            <a:pPr algn="l">
              <a:lnSpc>
                <a:spcPct val="130000"/>
              </a:lnSpc>
            </a:pPr>
            <a:r>
              <a:rPr sz="1500">
                <a:solidFill>
                  <a:srgbClr val="776E65"/>
                </a:solidFill>
                <a:latin typeface="Segoe UI"/>
              </a:rPr>
              <a:t>•  After every swipe a new 2 (90 %) or 4 (10 %) appears in a random empty cell</a:t>
            </a:r>
          </a:p>
          <a:p>
            <a:pPr algn="l">
              <a:lnSpc>
                <a:spcPct val="130000"/>
              </a:lnSpc>
            </a:pPr>
            <a:r>
              <a:rPr sz="1500">
                <a:solidFill>
                  <a:srgbClr val="776E65"/>
                </a:solidFill>
                <a:latin typeface="Segoe UI"/>
              </a:rPr>
              <a:t>•  Win at 2048 · Lose when the board is full with no legal merge</a:t>
            </a:r>
          </a:p>
        </p:txBody>
      </p:sp>
      <p:sp>
        <p:nvSpPr>
          <p:cNvPr id="6" name="Rounded Rectangle 5"/>
          <p:cNvSpPr/>
          <p:nvPr/>
        </p:nvSpPr>
        <p:spPr>
          <a:xfrm>
            <a:off x="305409" y="3688688"/>
            <a:ext cx="2253081" cy="2253081"/>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5760"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08913"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452067"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1995220"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65760"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08913"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452067" y="4292192"/>
            <a:ext cx="502920" cy="50292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2</a:t>
            </a:r>
          </a:p>
        </p:txBody>
      </p:sp>
      <p:sp>
        <p:nvSpPr>
          <p:cNvPr id="14" name="Rounded Rectangle 13"/>
          <p:cNvSpPr/>
          <p:nvPr/>
        </p:nvSpPr>
        <p:spPr>
          <a:xfrm>
            <a:off x="1995220" y="4292192"/>
            <a:ext cx="502920" cy="50292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2</a:t>
            </a:r>
          </a:p>
        </p:txBody>
      </p:sp>
      <p:sp>
        <p:nvSpPr>
          <p:cNvPr id="15" name="Rounded Rectangle 14"/>
          <p:cNvSpPr/>
          <p:nvPr/>
        </p:nvSpPr>
        <p:spPr>
          <a:xfrm>
            <a:off x="36576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08913"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452067"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99522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36576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908913"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452067"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99522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2697480" y="4754879"/>
            <a:ext cx="59436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651760" y="4343399"/>
            <a:ext cx="777240" cy="365760"/>
          </a:xfrm>
          <a:prstGeom prst="rect">
            <a:avLst/>
          </a:prstGeom>
          <a:noFill/>
        </p:spPr>
        <p:txBody>
          <a:bodyPr wrap="square" lIns="0" tIns="0" rIns="0" bIns="0">
            <a:spAutoFit/>
          </a:bodyPr>
          <a:lstStyle/>
          <a:p>
            <a:pPr algn="ctr"/>
            <a:r>
              <a:rPr sz="1000" b="0" i="1">
                <a:solidFill>
                  <a:srgbClr val="A9A097"/>
                </a:solidFill>
                <a:latin typeface="Segoe UI"/>
              </a:rPr>
              <a:t>swipe →</a:t>
            </a:r>
          </a:p>
        </p:txBody>
      </p:sp>
      <p:sp>
        <p:nvSpPr>
          <p:cNvPr id="25" name="Rounded Rectangle 24"/>
          <p:cNvSpPr/>
          <p:nvPr/>
        </p:nvSpPr>
        <p:spPr>
          <a:xfrm>
            <a:off x="3322929" y="3688688"/>
            <a:ext cx="2253081" cy="2253081"/>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3383280"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3926433"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4469587"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012740"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3383280"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3926433"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4469587"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5012740" y="4292192"/>
            <a:ext cx="502920" cy="50292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4</a:t>
            </a:r>
          </a:p>
        </p:txBody>
      </p:sp>
      <p:sp>
        <p:nvSpPr>
          <p:cNvPr id="34" name="Rounded Rectangle 33"/>
          <p:cNvSpPr/>
          <p:nvPr/>
        </p:nvSpPr>
        <p:spPr>
          <a:xfrm>
            <a:off x="338328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3926433"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4469587"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501274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338328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3926433"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4469587"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501274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4320" y="6217919"/>
            <a:ext cx="4937760" cy="365760"/>
          </a:xfrm>
          <a:prstGeom prst="rect">
            <a:avLst/>
          </a:prstGeom>
          <a:noFill/>
        </p:spPr>
        <p:txBody>
          <a:bodyPr wrap="square" lIns="0" tIns="0" rIns="0" bIns="0">
            <a:spAutoFit/>
          </a:bodyPr>
          <a:lstStyle/>
          <a:p>
            <a:pPr algn="ctr"/>
            <a:r>
              <a:rPr sz="1200" b="0" i="1">
                <a:solidFill>
                  <a:srgbClr val="776E65"/>
                </a:solidFill>
                <a:latin typeface="Segoe UI"/>
              </a:rPr>
              <a:t>Simple merge: two 2s become a 4</a:t>
            </a:r>
          </a:p>
        </p:txBody>
      </p:sp>
      <p:sp>
        <p:nvSpPr>
          <p:cNvPr id="43" name="Rounded Rectangle 42"/>
          <p:cNvSpPr/>
          <p:nvPr/>
        </p:nvSpPr>
        <p:spPr>
          <a:xfrm>
            <a:off x="6477609" y="3688688"/>
            <a:ext cx="2253081" cy="2253081"/>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537960" y="3749039"/>
            <a:ext cx="502920" cy="50292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2</a:t>
            </a:r>
          </a:p>
        </p:txBody>
      </p:sp>
      <p:sp>
        <p:nvSpPr>
          <p:cNvPr id="45" name="Rounded Rectangle 44"/>
          <p:cNvSpPr/>
          <p:nvPr/>
        </p:nvSpPr>
        <p:spPr>
          <a:xfrm>
            <a:off x="7081113" y="3749039"/>
            <a:ext cx="502920" cy="50292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2</a:t>
            </a:r>
          </a:p>
        </p:txBody>
      </p:sp>
      <p:sp>
        <p:nvSpPr>
          <p:cNvPr id="46" name="Rounded Rectangle 45"/>
          <p:cNvSpPr/>
          <p:nvPr/>
        </p:nvSpPr>
        <p:spPr>
          <a:xfrm>
            <a:off x="7624267" y="3749039"/>
            <a:ext cx="502920" cy="50292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4</a:t>
            </a:r>
          </a:p>
        </p:txBody>
      </p:sp>
      <p:sp>
        <p:nvSpPr>
          <p:cNvPr id="47" name="Rounded Rectangle 46"/>
          <p:cNvSpPr/>
          <p:nvPr/>
        </p:nvSpPr>
        <p:spPr>
          <a:xfrm>
            <a:off x="8167420" y="3749039"/>
            <a:ext cx="502920" cy="50292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4</a:t>
            </a:r>
          </a:p>
        </p:txBody>
      </p:sp>
      <p:sp>
        <p:nvSpPr>
          <p:cNvPr id="48" name="Rounded Rectangle 47"/>
          <p:cNvSpPr/>
          <p:nvPr/>
        </p:nvSpPr>
        <p:spPr>
          <a:xfrm>
            <a:off x="6537960"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7081113"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p:cNvSpPr/>
          <p:nvPr/>
        </p:nvSpPr>
        <p:spPr>
          <a:xfrm>
            <a:off x="7624267"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8167420"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p:cNvSpPr/>
          <p:nvPr/>
        </p:nvSpPr>
        <p:spPr>
          <a:xfrm>
            <a:off x="653796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7081113"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7624267"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816742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ounded Rectangle 55"/>
          <p:cNvSpPr/>
          <p:nvPr/>
        </p:nvSpPr>
        <p:spPr>
          <a:xfrm>
            <a:off x="653796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7081113"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7624267"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ounded Rectangle 58"/>
          <p:cNvSpPr/>
          <p:nvPr/>
        </p:nvSpPr>
        <p:spPr>
          <a:xfrm>
            <a:off x="816742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0" name="Connector 59"/>
          <p:cNvCxnSpPr/>
          <p:nvPr/>
        </p:nvCxnSpPr>
        <p:spPr>
          <a:xfrm>
            <a:off x="8869680" y="4754879"/>
            <a:ext cx="59436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8823960" y="4343399"/>
            <a:ext cx="777240" cy="365760"/>
          </a:xfrm>
          <a:prstGeom prst="rect">
            <a:avLst/>
          </a:prstGeom>
          <a:noFill/>
        </p:spPr>
        <p:txBody>
          <a:bodyPr wrap="square" lIns="0" tIns="0" rIns="0" bIns="0">
            <a:spAutoFit/>
          </a:bodyPr>
          <a:lstStyle/>
          <a:p>
            <a:pPr algn="ctr"/>
            <a:r>
              <a:rPr sz="1000" b="0" i="1">
                <a:solidFill>
                  <a:srgbClr val="A9A097"/>
                </a:solidFill>
                <a:latin typeface="Segoe UI"/>
              </a:rPr>
              <a:t>swipe →</a:t>
            </a:r>
          </a:p>
        </p:txBody>
      </p:sp>
      <p:sp>
        <p:nvSpPr>
          <p:cNvPr id="62" name="Rounded Rectangle 61"/>
          <p:cNvSpPr/>
          <p:nvPr/>
        </p:nvSpPr>
        <p:spPr>
          <a:xfrm>
            <a:off x="9495129" y="3688688"/>
            <a:ext cx="2253081" cy="2253081"/>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9555480"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10098633" y="374903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10641787" y="3749039"/>
            <a:ext cx="502920" cy="50292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776E65"/>
                </a:solidFill>
                <a:latin typeface="Segoe UI Semibold"/>
              </a:rPr>
              <a:t>4</a:t>
            </a:r>
          </a:p>
        </p:txBody>
      </p:sp>
      <p:sp>
        <p:nvSpPr>
          <p:cNvPr id="66" name="Rounded Rectangle 65"/>
          <p:cNvSpPr/>
          <p:nvPr/>
        </p:nvSpPr>
        <p:spPr>
          <a:xfrm>
            <a:off x="11184940" y="3749039"/>
            <a:ext cx="502920" cy="502920"/>
          </a:xfrm>
          <a:prstGeom prst="roundRect">
            <a:avLst>
              <a:gd name="adj" fmla="val 8000"/>
            </a:avLst>
          </a:prstGeom>
          <a:solidFill>
            <a:srgbClr val="F2B179"/>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9F6F2"/>
                </a:solidFill>
                <a:latin typeface="Segoe UI Semibold"/>
              </a:rPr>
              <a:t>8</a:t>
            </a:r>
          </a:p>
        </p:txBody>
      </p:sp>
      <p:sp>
        <p:nvSpPr>
          <p:cNvPr id="67" name="Rounded Rectangle 66"/>
          <p:cNvSpPr/>
          <p:nvPr/>
        </p:nvSpPr>
        <p:spPr>
          <a:xfrm>
            <a:off x="9555480"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10098633"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10641787"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ounded Rectangle 69"/>
          <p:cNvSpPr/>
          <p:nvPr/>
        </p:nvSpPr>
        <p:spPr>
          <a:xfrm>
            <a:off x="11184940" y="4292192"/>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ounded Rectangle 70"/>
          <p:cNvSpPr/>
          <p:nvPr/>
        </p:nvSpPr>
        <p:spPr>
          <a:xfrm>
            <a:off x="955548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ounded Rectangle 71"/>
          <p:cNvSpPr/>
          <p:nvPr/>
        </p:nvSpPr>
        <p:spPr>
          <a:xfrm>
            <a:off x="10098633"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10641787"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ounded Rectangle 73"/>
          <p:cNvSpPr/>
          <p:nvPr/>
        </p:nvSpPr>
        <p:spPr>
          <a:xfrm>
            <a:off x="11184940" y="4835346"/>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955548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ounded Rectangle 75"/>
          <p:cNvSpPr/>
          <p:nvPr/>
        </p:nvSpPr>
        <p:spPr>
          <a:xfrm>
            <a:off x="10098633"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ounded Rectangle 76"/>
          <p:cNvSpPr/>
          <p:nvPr/>
        </p:nvSpPr>
        <p:spPr>
          <a:xfrm>
            <a:off x="10641787"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ounded Rectangle 77"/>
          <p:cNvSpPr/>
          <p:nvPr/>
        </p:nvSpPr>
        <p:spPr>
          <a:xfrm>
            <a:off x="11184940" y="5378499"/>
            <a:ext cx="502920" cy="50292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446520" y="6217919"/>
            <a:ext cx="4937760" cy="365760"/>
          </a:xfrm>
          <a:prstGeom prst="rect">
            <a:avLst/>
          </a:prstGeom>
          <a:noFill/>
        </p:spPr>
        <p:txBody>
          <a:bodyPr wrap="square" lIns="0" tIns="0" rIns="0" bIns="0">
            <a:spAutoFit/>
          </a:bodyPr>
          <a:lstStyle/>
          <a:p>
            <a:pPr algn="ctr"/>
            <a:r>
              <a:rPr sz="1200" b="0" i="1">
                <a:solidFill>
                  <a:srgbClr val="776E65"/>
                </a:solidFill>
                <a:latin typeface="Segoe UI"/>
              </a:rPr>
              <a:t>Two merges in one swipe (no chaining of new tiles)</a:t>
            </a:r>
          </a:p>
        </p:txBody>
      </p:sp>
      <p:sp>
        <p:nvSpPr>
          <p:cNvPr id="80" name="TextBox 79"/>
          <p:cNvSpPr txBox="1"/>
          <p:nvPr/>
        </p:nvSpPr>
        <p:spPr>
          <a:xfrm>
            <a:off x="10515600" y="6473952"/>
            <a:ext cx="1280160" cy="274320"/>
          </a:xfrm>
          <a:prstGeom prst="rect">
            <a:avLst/>
          </a:prstGeom>
          <a:noFill/>
        </p:spPr>
        <p:txBody>
          <a:bodyPr wrap="square" lIns="0" tIns="0" rIns="0" bIns="0">
            <a:spAutoFit/>
          </a:bodyPr>
          <a:lstStyle/>
          <a:p>
            <a:pPr algn="r"/>
            <a:r>
              <a:rPr sz="1000" b="0" i="0">
                <a:solidFill>
                  <a:srgbClr val="A9A097"/>
                </a:solidFill>
                <a:latin typeface="Segoe UI"/>
              </a:rPr>
              <a:t>03 /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a:extLst>
            <a:ext uri="{FF2B5EF4-FFF2-40B4-BE49-F238E27FC236}">
              <a16:creationId xmlns:a16="http://schemas.microsoft.com/office/drawing/2014/main" id="{16EBA8CC-DABA-DD10-5C04-CA1B1D5D70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AEBD03-9D8A-2705-4B8A-18AED6FDA9E7}"/>
              </a:ext>
            </a:extLst>
          </p:cNvPr>
          <p:cNvSpPr txBox="1"/>
          <p:nvPr/>
        </p:nvSpPr>
        <p:spPr>
          <a:xfrm>
            <a:off x="548640" y="384048"/>
            <a:ext cx="11064240" cy="492443"/>
          </a:xfrm>
          <a:prstGeom prst="rect">
            <a:avLst/>
          </a:prstGeom>
          <a:noFill/>
        </p:spPr>
        <p:txBody>
          <a:bodyPr wrap="square" lIns="0" tIns="0" rIns="0" bIns="0">
            <a:spAutoFit/>
          </a:bodyPr>
          <a:lstStyle/>
          <a:p>
            <a:pPr algn="l"/>
            <a:r>
              <a:rPr lang="de-DE" sz="3200" b="1" i="0" dirty="0" err="1">
                <a:solidFill>
                  <a:srgbClr val="776E65"/>
                </a:solidFill>
                <a:latin typeface="Segoe UI Semibold"/>
              </a:rPr>
              <a:t>Our</a:t>
            </a:r>
            <a:r>
              <a:rPr lang="de-DE" sz="3200" b="1" i="0" dirty="0">
                <a:solidFill>
                  <a:srgbClr val="776E65"/>
                </a:solidFill>
                <a:latin typeface="Segoe UI Semibold"/>
              </a:rPr>
              <a:t> First Try</a:t>
            </a:r>
            <a:endParaRPr sz="3200" b="1" i="0" dirty="0">
              <a:solidFill>
                <a:srgbClr val="776E65"/>
              </a:solidFill>
              <a:latin typeface="Segoe UI Semibold"/>
            </a:endParaRPr>
          </a:p>
        </p:txBody>
      </p:sp>
      <p:sp>
        <p:nvSpPr>
          <p:cNvPr id="3" name="TextBox 2">
            <a:extLst>
              <a:ext uri="{FF2B5EF4-FFF2-40B4-BE49-F238E27FC236}">
                <a16:creationId xmlns:a16="http://schemas.microsoft.com/office/drawing/2014/main" id="{C129EAD8-1C69-3F50-6F84-4814F6B0742B}"/>
              </a:ext>
            </a:extLst>
          </p:cNvPr>
          <p:cNvSpPr txBox="1"/>
          <p:nvPr/>
        </p:nvSpPr>
        <p:spPr>
          <a:xfrm>
            <a:off x="548640" y="914400"/>
            <a:ext cx="11064240" cy="230832"/>
          </a:xfrm>
          <a:prstGeom prst="rect">
            <a:avLst/>
          </a:prstGeom>
          <a:noFill/>
        </p:spPr>
        <p:txBody>
          <a:bodyPr wrap="square" lIns="0" tIns="0" rIns="0" bIns="0">
            <a:spAutoFit/>
          </a:bodyPr>
          <a:lstStyle/>
          <a:p>
            <a:pPr algn="l"/>
            <a:r>
              <a:rPr lang="de-DE" sz="1500" b="0" i="1" dirty="0">
                <a:solidFill>
                  <a:srgbClr val="A9A097"/>
                </a:solidFill>
                <a:latin typeface="Segoe UI"/>
              </a:rPr>
              <a:t>Anna, Flo &amp; Janin</a:t>
            </a:r>
            <a:endParaRPr sz="1500" b="0" i="1" dirty="0">
              <a:solidFill>
                <a:srgbClr val="A9A097"/>
              </a:solidFill>
              <a:latin typeface="Segoe UI"/>
            </a:endParaRPr>
          </a:p>
        </p:txBody>
      </p:sp>
      <p:cxnSp>
        <p:nvCxnSpPr>
          <p:cNvPr id="4" name="Connector 3">
            <a:extLst>
              <a:ext uri="{FF2B5EF4-FFF2-40B4-BE49-F238E27FC236}">
                <a16:creationId xmlns:a16="http://schemas.microsoft.com/office/drawing/2014/main" id="{4B9ACA1E-709D-2E14-AC78-06F9FB8C4C37}"/>
              </a:ext>
            </a:extLst>
          </p:cNvPr>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80" name="TextBox 79">
            <a:extLst>
              <a:ext uri="{FF2B5EF4-FFF2-40B4-BE49-F238E27FC236}">
                <a16:creationId xmlns:a16="http://schemas.microsoft.com/office/drawing/2014/main" id="{47714196-F484-3855-83FA-08E831409518}"/>
              </a:ext>
            </a:extLst>
          </p:cNvPr>
          <p:cNvSpPr txBox="1"/>
          <p:nvPr/>
        </p:nvSpPr>
        <p:spPr>
          <a:xfrm>
            <a:off x="10515600" y="6473952"/>
            <a:ext cx="1280160" cy="153888"/>
          </a:xfrm>
          <a:prstGeom prst="rect">
            <a:avLst/>
          </a:prstGeom>
          <a:noFill/>
        </p:spPr>
        <p:txBody>
          <a:bodyPr wrap="square" lIns="0" tIns="0" rIns="0" bIns="0">
            <a:spAutoFit/>
          </a:bodyPr>
          <a:lstStyle/>
          <a:p>
            <a:pPr algn="r"/>
            <a:r>
              <a:rPr sz="1000" b="0" i="0" dirty="0">
                <a:solidFill>
                  <a:srgbClr val="A9A097"/>
                </a:solidFill>
                <a:latin typeface="Segoe UI"/>
              </a:rPr>
              <a:t>0</a:t>
            </a:r>
            <a:r>
              <a:rPr lang="de-DE" sz="1000" b="0" i="0" dirty="0">
                <a:solidFill>
                  <a:srgbClr val="A9A097"/>
                </a:solidFill>
                <a:latin typeface="Segoe UI"/>
              </a:rPr>
              <a:t>4</a:t>
            </a:r>
            <a:r>
              <a:rPr sz="1000" b="0" i="0" dirty="0">
                <a:solidFill>
                  <a:srgbClr val="A9A097"/>
                </a:solidFill>
                <a:latin typeface="Segoe UI"/>
              </a:rPr>
              <a:t> / 19</a:t>
            </a:r>
          </a:p>
        </p:txBody>
      </p:sp>
      <p:sp>
        <p:nvSpPr>
          <p:cNvPr id="81" name="TextBox 8">
            <a:extLst>
              <a:ext uri="{FF2B5EF4-FFF2-40B4-BE49-F238E27FC236}">
                <a16:creationId xmlns:a16="http://schemas.microsoft.com/office/drawing/2014/main" id="{E351F10B-4ADA-D5AC-1D8B-FB472DAAF0B6}"/>
              </a:ext>
            </a:extLst>
          </p:cNvPr>
          <p:cNvSpPr txBox="1"/>
          <p:nvPr/>
        </p:nvSpPr>
        <p:spPr>
          <a:xfrm>
            <a:off x="731520" y="2079522"/>
            <a:ext cx="11064240" cy="268600"/>
          </a:xfrm>
          <a:prstGeom prst="rect">
            <a:avLst/>
          </a:prstGeom>
          <a:noFill/>
        </p:spPr>
        <p:txBody>
          <a:bodyPr wrap="square" lIns="0" tIns="0" rIns="0" bIns="0">
            <a:spAutoFit/>
          </a:bodyPr>
          <a:lstStyle/>
          <a:p>
            <a:pPr algn="l">
              <a:lnSpc>
                <a:spcPct val="130000"/>
              </a:lnSpc>
            </a:pPr>
            <a:r>
              <a:rPr lang="de-DE" sz="1500" dirty="0">
                <a:solidFill>
                  <a:srgbClr val="776E65"/>
                </a:solidFill>
                <a:latin typeface="Segoe UI"/>
              </a:rPr>
              <a:t>Anna												</a:t>
            </a:r>
            <a:r>
              <a:rPr lang="en-US" sz="1500" dirty="0">
                <a:solidFill>
                  <a:srgbClr val="776E65"/>
                </a:solidFill>
                <a:latin typeface="Segoe UI"/>
              </a:rPr>
              <a:t>Flo											</a:t>
            </a:r>
            <a:r>
              <a:rPr lang="de-DE" sz="1500" dirty="0">
                <a:solidFill>
                  <a:srgbClr val="776E65"/>
                </a:solidFill>
                <a:latin typeface="Segoe UI"/>
              </a:rPr>
              <a:t>Janin</a:t>
            </a:r>
            <a:endParaRPr lang="en-US" sz="1500" dirty="0">
              <a:solidFill>
                <a:srgbClr val="776E65"/>
              </a:solidFill>
              <a:latin typeface="Segoe UI"/>
            </a:endParaRPr>
          </a:p>
        </p:txBody>
      </p:sp>
      <p:pic>
        <p:nvPicPr>
          <p:cNvPr id="82" name="Grafik 81">
            <a:extLst>
              <a:ext uri="{FF2B5EF4-FFF2-40B4-BE49-F238E27FC236}">
                <a16:creationId xmlns:a16="http://schemas.microsoft.com/office/drawing/2014/main" id="{944CF00B-C830-4A85-669F-7D49B3739A1C}"/>
              </a:ext>
            </a:extLst>
          </p:cNvPr>
          <p:cNvPicPr>
            <a:picLocks noChangeAspect="1"/>
          </p:cNvPicPr>
          <p:nvPr/>
        </p:nvPicPr>
        <p:blipFill>
          <a:blip r:embed="rId3"/>
          <a:srcRect t="5600" b="23226"/>
          <a:stretch>
            <a:fillRect/>
          </a:stretch>
        </p:blipFill>
        <p:spPr>
          <a:xfrm>
            <a:off x="9437425" y="2474520"/>
            <a:ext cx="2358335" cy="3633849"/>
          </a:xfrm>
          <a:prstGeom prst="rect">
            <a:avLst/>
          </a:prstGeom>
        </p:spPr>
      </p:pic>
      <p:pic>
        <p:nvPicPr>
          <p:cNvPr id="83" name="Grafik 82">
            <a:extLst>
              <a:ext uri="{FF2B5EF4-FFF2-40B4-BE49-F238E27FC236}">
                <a16:creationId xmlns:a16="http://schemas.microsoft.com/office/drawing/2014/main" id="{8853218E-390A-D673-1964-09FA7D9D3FB5}"/>
              </a:ext>
            </a:extLst>
          </p:cNvPr>
          <p:cNvPicPr>
            <a:picLocks noChangeAspect="1"/>
          </p:cNvPicPr>
          <p:nvPr/>
        </p:nvPicPr>
        <p:blipFill>
          <a:blip r:embed="rId4"/>
          <a:srcRect t="6667" b="23656"/>
          <a:stretch>
            <a:fillRect/>
          </a:stretch>
        </p:blipFill>
        <p:spPr>
          <a:xfrm>
            <a:off x="548640" y="2550639"/>
            <a:ext cx="2358335" cy="3557730"/>
          </a:xfrm>
          <a:prstGeom prst="rect">
            <a:avLst/>
          </a:prstGeom>
        </p:spPr>
      </p:pic>
      <p:pic>
        <p:nvPicPr>
          <p:cNvPr id="85" name="Grafik 84" descr="Krone mit einfarbiger Füllung">
            <a:extLst>
              <a:ext uri="{FF2B5EF4-FFF2-40B4-BE49-F238E27FC236}">
                <a16:creationId xmlns:a16="http://schemas.microsoft.com/office/drawing/2014/main" id="{E0F87E7A-5F3B-50BE-F59F-9FD3E5FADD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2024" y="1729310"/>
            <a:ext cx="501867" cy="501867"/>
          </a:xfrm>
          <a:prstGeom prst="rect">
            <a:avLst/>
          </a:prstGeom>
        </p:spPr>
      </p:pic>
    </p:spTree>
    <p:extLst>
      <p:ext uri="{BB962C8B-B14F-4D97-AF65-F5344CB8AC3E}">
        <p14:creationId xmlns:p14="http://schemas.microsoft.com/office/powerpoint/2010/main" val="25509427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What is reinforcement learning?</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An agent learns by trial and error — no labelled answers</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31520" y="2011680"/>
            <a:ext cx="2743200" cy="1417320"/>
          </a:xfrm>
          <a:prstGeom prst="roundRect">
            <a:avLst>
              <a:gd name="adj" fmla="val 8000"/>
            </a:avLst>
          </a:prstGeom>
          <a:solidFill>
            <a:srgbClr val="EDCF72"/>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F9F6F2"/>
                </a:solidFill>
                <a:latin typeface="Segoe UI Semibold"/>
              </a:rPr>
              <a:t>STATE</a:t>
            </a:r>
          </a:p>
          <a:p>
            <a:pPr algn="ctr"/>
            <a:r>
              <a:rPr sz="1400" b="0">
                <a:solidFill>
                  <a:srgbClr val="F9F6F2"/>
                </a:solidFill>
                <a:latin typeface="Segoe UI"/>
              </a:rPr>
              <a:t>what the agent sees
(the board)</a:t>
            </a:r>
          </a:p>
        </p:txBody>
      </p:sp>
      <p:sp>
        <p:nvSpPr>
          <p:cNvPr id="6" name="Rounded Rectangle 5"/>
          <p:cNvSpPr/>
          <p:nvPr/>
        </p:nvSpPr>
        <p:spPr>
          <a:xfrm>
            <a:off x="4709160" y="2011680"/>
            <a:ext cx="2743200" cy="1417320"/>
          </a:xfrm>
          <a:prstGeom prst="roundRect">
            <a:avLst>
              <a:gd name="adj" fmla="val 8000"/>
            </a:avLst>
          </a:prstGeom>
          <a:solidFill>
            <a:srgbClr val="EDCC61"/>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F9F6F2"/>
                </a:solidFill>
                <a:latin typeface="Segoe UI Semibold"/>
              </a:rPr>
              <a:t>ACTION</a:t>
            </a:r>
          </a:p>
          <a:p>
            <a:pPr algn="ctr"/>
            <a:r>
              <a:rPr sz="1400" b="0">
                <a:solidFill>
                  <a:srgbClr val="F9F6F2"/>
                </a:solidFill>
                <a:latin typeface="Segoe UI"/>
              </a:rPr>
              <a:t>what the agent does
(swipe direction)</a:t>
            </a:r>
          </a:p>
        </p:txBody>
      </p:sp>
      <p:sp>
        <p:nvSpPr>
          <p:cNvPr id="7" name="Rounded Rectangle 6"/>
          <p:cNvSpPr/>
          <p:nvPr/>
        </p:nvSpPr>
        <p:spPr>
          <a:xfrm>
            <a:off x="8686800" y="2011680"/>
            <a:ext cx="2743200" cy="14173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F9F6F2"/>
                </a:solidFill>
                <a:latin typeface="Segoe UI Semibold"/>
              </a:rPr>
              <a:t>REWARD</a:t>
            </a:r>
          </a:p>
          <a:p>
            <a:pPr algn="ctr"/>
            <a:r>
              <a:rPr sz="1400" b="0">
                <a:solidFill>
                  <a:srgbClr val="F9F6F2"/>
                </a:solidFill>
                <a:latin typeface="Segoe UI"/>
              </a:rPr>
              <a:t>what the agent gets
(merge points)</a:t>
            </a:r>
          </a:p>
        </p:txBody>
      </p:sp>
      <p:cxnSp>
        <p:nvCxnSpPr>
          <p:cNvPr id="8" name="Connector 7"/>
          <p:cNvCxnSpPr/>
          <p:nvPr/>
        </p:nvCxnSpPr>
        <p:spPr>
          <a:xfrm>
            <a:off x="3611880" y="2731168"/>
            <a:ext cx="96012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589520" y="2731168"/>
            <a:ext cx="96012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4343400"/>
            <a:ext cx="11064240" cy="457200"/>
          </a:xfrm>
          <a:prstGeom prst="rect">
            <a:avLst/>
          </a:prstGeom>
          <a:noFill/>
        </p:spPr>
        <p:txBody>
          <a:bodyPr wrap="square" lIns="0" tIns="0" rIns="0" bIns="0">
            <a:spAutoFit/>
          </a:bodyPr>
          <a:lstStyle/>
          <a:p>
            <a:pPr algn="ctr"/>
            <a:r>
              <a:rPr sz="1800" b="0" i="1">
                <a:solidFill>
                  <a:srgbClr val="776E65"/>
                </a:solidFill>
                <a:latin typeface="Segoe UI"/>
              </a:rPr>
              <a:t>The agent updates its strategy from rewards. No teacher, no labels.</a:t>
            </a:r>
          </a:p>
        </p:txBody>
      </p:sp>
      <p:sp>
        <p:nvSpPr>
          <p:cNvPr id="14" name="TextBox 13"/>
          <p:cNvSpPr txBox="1"/>
          <p:nvPr/>
        </p:nvSpPr>
        <p:spPr>
          <a:xfrm>
            <a:off x="1371600" y="5029200"/>
            <a:ext cx="9418320" cy="1371600"/>
          </a:xfrm>
          <a:prstGeom prst="rect">
            <a:avLst/>
          </a:prstGeom>
          <a:noFill/>
        </p:spPr>
        <p:txBody>
          <a:bodyPr wrap="square" lIns="0" tIns="0" rIns="0" bIns="0">
            <a:spAutoFit/>
          </a:bodyPr>
          <a:lstStyle/>
          <a:p>
            <a:pPr algn="l">
              <a:lnSpc>
                <a:spcPct val="130000"/>
              </a:lnSpc>
            </a:pPr>
            <a:r>
              <a:rPr sz="1500">
                <a:solidFill>
                  <a:srgbClr val="776E65"/>
                </a:solidFill>
                <a:latin typeface="Segoe UI"/>
              </a:rPr>
              <a:t>•  Every move gives the agent feedback (points scored on this move)</a:t>
            </a:r>
          </a:p>
          <a:p>
            <a:pPr algn="l">
              <a:lnSpc>
                <a:spcPct val="130000"/>
              </a:lnSpc>
            </a:pPr>
            <a:r>
              <a:rPr sz="1500">
                <a:solidFill>
                  <a:srgbClr val="776E65"/>
                </a:solidFill>
                <a:latin typeface="Segoe UI"/>
              </a:rPr>
              <a:t>•  Over many games the agent learns which moves tend to lead to high total scores</a:t>
            </a:r>
          </a:p>
          <a:p>
            <a:pPr algn="l">
              <a:lnSpc>
                <a:spcPct val="130000"/>
              </a:lnSpc>
            </a:pPr>
            <a:r>
              <a:rPr sz="1500">
                <a:solidFill>
                  <a:srgbClr val="776E65"/>
                </a:solidFill>
                <a:latin typeface="Segoe UI"/>
              </a:rPr>
              <a:t>•  The hard part: how to remember good moves when no two boards are ever quite the same</a:t>
            </a:r>
          </a:p>
        </p:txBody>
      </p:sp>
      <p:sp>
        <p:nvSpPr>
          <p:cNvPr id="15" name="TextBox 14"/>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05</a:t>
            </a:r>
            <a:r>
              <a:rPr sz="1000" b="0" i="0">
                <a:solidFill>
                  <a:srgbClr val="A9A097"/>
                </a:solidFill>
                <a:latin typeface="Segoe UI"/>
              </a:rPr>
              <a:t> / 19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What we built</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One game engine, four agents, one evaluation harness</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828800"/>
            <a:ext cx="2606040" cy="246888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Game engine</a:t>
            </a:r>
          </a:p>
          <a:p>
            <a:pPr algn="ctr"/>
            <a:r>
              <a:rPr lang="en-US" sz="1400" b="0">
                <a:solidFill>
                  <a:srgbClr val="F9F6F2"/>
                </a:solidFill>
                <a:latin typeface="Segoe UI"/>
              </a:rPr>
              <a:t>Tile stored as log base 2</a:t>
            </a:r>
            <a:r>
              <a:rPr sz="1400" b="0">
                <a:solidFill>
                  <a:srgbClr val="F9F6F2"/>
                </a:solidFill>
                <a:latin typeface="Segoe UI"/>
              </a:rPr>
              <a:t>
65k-row L</a:t>
            </a:r>
            <a:r>
              <a:rPr lang="en-US" sz="1400" b="0">
                <a:solidFill>
                  <a:srgbClr val="F9F6F2"/>
                </a:solidFill>
                <a:latin typeface="Segoe UI"/>
              </a:rPr>
              <a:t>ook Up </a:t>
            </a:r>
            <a:r>
              <a:rPr sz="1400" b="0">
                <a:solidFill>
                  <a:srgbClr val="F9F6F2"/>
                </a:solidFill>
                <a:latin typeface="Segoe UI"/>
              </a:rPr>
              <a:t>T</a:t>
            </a:r>
            <a:r>
              <a:rPr lang="en-US" sz="1400">
                <a:solidFill>
                  <a:srgbClr val="F9F6F2"/>
                </a:solidFill>
                <a:latin typeface="Segoe UI"/>
              </a:rPr>
              <a:t>able</a:t>
            </a:r>
            <a:r>
              <a:rPr sz="1400" b="0">
                <a:solidFill>
                  <a:srgbClr val="F9F6F2"/>
                </a:solidFill>
                <a:latin typeface="Segoe UI"/>
              </a:rPr>
              <a:t>
(unit-tested)</a:t>
            </a:r>
          </a:p>
        </p:txBody>
      </p:sp>
      <p:sp>
        <p:nvSpPr>
          <p:cNvPr id="6" name="Rounded Rectangle 5"/>
          <p:cNvSpPr/>
          <p:nvPr/>
        </p:nvSpPr>
        <p:spPr>
          <a:xfrm>
            <a:off x="3401568" y="1828800"/>
            <a:ext cx="2606040" cy="2468880"/>
          </a:xfrm>
          <a:prstGeom prst="roundRect">
            <a:avLst>
              <a:gd name="adj" fmla="val 8000"/>
            </a:avLst>
          </a:prstGeom>
          <a:solidFill>
            <a:srgbClr val="EDCC61"/>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4 agents</a:t>
            </a:r>
          </a:p>
          <a:p>
            <a:pPr algn="ctr"/>
            <a:r>
              <a:rPr sz="1400" b="0">
                <a:solidFill>
                  <a:srgbClr val="F9F6F2"/>
                </a:solidFill>
                <a:latin typeface="Segoe UI"/>
              </a:rPr>
              <a:t>Random · Greedy
DQN · N-tuple</a:t>
            </a:r>
          </a:p>
        </p:txBody>
      </p:sp>
      <p:sp>
        <p:nvSpPr>
          <p:cNvPr id="7" name="Rounded Rectangle 6"/>
          <p:cNvSpPr/>
          <p:nvPr/>
        </p:nvSpPr>
        <p:spPr>
          <a:xfrm>
            <a:off x="6254496" y="1828800"/>
            <a:ext cx="2606040" cy="2468880"/>
          </a:xfrm>
          <a:prstGeom prst="roundRect">
            <a:avLst>
              <a:gd name="adj" fmla="val 8000"/>
            </a:avLst>
          </a:prstGeom>
          <a:solidFill>
            <a:srgbClr val="F65E3B"/>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Training</a:t>
            </a:r>
          </a:p>
          <a:p>
            <a:pPr algn="ctr"/>
            <a:r>
              <a:rPr sz="1400" b="0">
                <a:solidFill>
                  <a:srgbClr val="F9F6F2"/>
                </a:solidFill>
                <a:latin typeface="Segoe UI"/>
              </a:rPr>
              <a:t>Separate loops
for DQN &amp; N-tuple</a:t>
            </a:r>
          </a:p>
        </p:txBody>
      </p:sp>
      <p:sp>
        <p:nvSpPr>
          <p:cNvPr id="8" name="Rounded Rectangle 7"/>
          <p:cNvSpPr/>
          <p:nvPr/>
        </p:nvSpPr>
        <p:spPr>
          <a:xfrm>
            <a:off x="9107424" y="1828800"/>
            <a:ext cx="2606040" cy="2468880"/>
          </a:xfrm>
          <a:prstGeom prst="roundRect">
            <a:avLst>
              <a:gd name="adj" fmla="val 8000"/>
            </a:avLst>
          </a:prstGeom>
          <a:solidFill>
            <a:srgbClr val="F2B179"/>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Evaluation</a:t>
            </a:r>
          </a:p>
          <a:p>
            <a:pPr algn="ctr"/>
            <a:r>
              <a:rPr sz="1400" b="0">
                <a:solidFill>
                  <a:srgbClr val="F9F6F2"/>
                </a:solidFill>
                <a:latin typeface="Segoe UI"/>
              </a:rPr>
              <a:t>Hundreds of games
seeded test set</a:t>
            </a:r>
          </a:p>
        </p:txBody>
      </p:sp>
      <p:sp>
        <p:nvSpPr>
          <p:cNvPr id="9" name="TextBox 8"/>
          <p:cNvSpPr txBox="1"/>
          <p:nvPr/>
        </p:nvSpPr>
        <p:spPr>
          <a:xfrm>
            <a:off x="548640" y="4996080"/>
            <a:ext cx="11064240" cy="411480"/>
          </a:xfrm>
          <a:prstGeom prst="rect">
            <a:avLst/>
          </a:prstGeom>
          <a:noFill/>
        </p:spPr>
        <p:txBody>
          <a:bodyPr wrap="square" lIns="0" tIns="0" rIns="0" bIns="0">
            <a:spAutoFit/>
          </a:bodyPr>
          <a:lstStyle/>
          <a:p>
            <a:pPr algn="ctr"/>
            <a:r>
              <a:rPr sz="1500" b="0" i="1" dirty="0">
                <a:solidFill>
                  <a:srgbClr val="776E65"/>
                </a:solidFill>
                <a:latin typeface="Segoe UI"/>
              </a:rPr>
              <a:t>Every agent implements   act(board, </a:t>
            </a:r>
            <a:r>
              <a:rPr sz="1500" b="0" i="1" dirty="0" err="1">
                <a:solidFill>
                  <a:srgbClr val="776E65"/>
                </a:solidFill>
                <a:latin typeface="Segoe UI"/>
              </a:rPr>
              <a:t>legal_mask</a:t>
            </a:r>
            <a:r>
              <a:rPr sz="1500" b="0" i="1" dirty="0">
                <a:solidFill>
                  <a:srgbClr val="776E65"/>
                </a:solidFill>
                <a:latin typeface="Segoe UI"/>
              </a:rPr>
              <a:t>) → swipe   —  so the evaluator can swap them freely</a:t>
            </a:r>
          </a:p>
        </p:txBody>
      </p:sp>
      <p:sp>
        <p:nvSpPr>
          <p:cNvPr id="10" name="TextBox 9"/>
          <p:cNvSpPr txBox="1"/>
          <p:nvPr/>
        </p:nvSpPr>
        <p:spPr>
          <a:xfrm>
            <a:off x="548640" y="5544720"/>
            <a:ext cx="11064240" cy="230832"/>
          </a:xfrm>
          <a:prstGeom prst="rect">
            <a:avLst/>
          </a:prstGeom>
          <a:noFill/>
        </p:spPr>
        <p:txBody>
          <a:bodyPr wrap="square" lIns="0" tIns="0" rIns="0" bIns="0">
            <a:spAutoFit/>
          </a:bodyPr>
          <a:lstStyle/>
          <a:p>
            <a:pPr algn="ctr"/>
            <a:r>
              <a:rPr sz="1500" b="0" i="1" dirty="0">
                <a:solidFill>
                  <a:srgbClr val="A9A097"/>
                </a:solidFill>
                <a:latin typeface="Segoe UI"/>
              </a:rPr>
              <a:t>Same env</a:t>
            </a:r>
            <a:r>
              <a:rPr lang="en-US" sz="1500" b="0" i="1" dirty="0">
                <a:solidFill>
                  <a:srgbClr val="A9A097"/>
                </a:solidFill>
                <a:latin typeface="Segoe UI"/>
              </a:rPr>
              <a:t>ironment</a:t>
            </a:r>
            <a:r>
              <a:rPr sz="1500" b="0" i="1" dirty="0">
                <a:solidFill>
                  <a:srgbClr val="A9A097"/>
                </a:solidFill>
                <a:latin typeface="Segoe UI"/>
              </a:rPr>
              <a:t>, same eval</a:t>
            </a:r>
            <a:r>
              <a:rPr lang="en-US" sz="1500" b="0" i="1" dirty="0">
                <a:solidFill>
                  <a:srgbClr val="A9A097"/>
                </a:solidFill>
                <a:latin typeface="Segoe UI"/>
              </a:rPr>
              <a:t>uation</a:t>
            </a:r>
            <a:r>
              <a:rPr sz="1500" b="0" i="1" dirty="0">
                <a:solidFill>
                  <a:srgbClr val="A9A097"/>
                </a:solidFill>
                <a:latin typeface="Segoe UI"/>
              </a:rPr>
              <a:t>, same metrics  →  fair comparison</a:t>
            </a:r>
          </a:p>
        </p:txBody>
      </p:sp>
      <p:sp>
        <p:nvSpPr>
          <p:cNvPr id="11" name="TextBox 10"/>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06</a:t>
            </a:r>
            <a:r>
              <a:rPr sz="1000" b="0" i="0">
                <a:solidFill>
                  <a:srgbClr val="A9A097"/>
                </a:solidFill>
                <a:latin typeface="Segoe UI"/>
              </a:rPr>
              <a:t> / 19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Meet the agents</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Two baselines · two learners</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691640"/>
            <a:ext cx="2606040" cy="1554480"/>
          </a:xfrm>
          <a:prstGeom prst="roundRect">
            <a:avLst>
              <a:gd name="adj" fmla="val 8000"/>
            </a:avLst>
          </a:prstGeom>
          <a:solidFill>
            <a:srgbClr val="EEE4DA"/>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377544" y="1994764"/>
            <a:ext cx="264260" cy="264260"/>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061515" y="1994764"/>
            <a:ext cx="264260" cy="264260"/>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19530" y="2336750"/>
            <a:ext cx="264260" cy="264260"/>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377544" y="2678735"/>
            <a:ext cx="264260" cy="264260"/>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061515" y="2678735"/>
            <a:ext cx="264260" cy="264260"/>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3383280"/>
            <a:ext cx="2606040" cy="502920"/>
          </a:xfrm>
          <a:prstGeom prst="rect">
            <a:avLst/>
          </a:prstGeom>
          <a:noFill/>
        </p:spPr>
        <p:txBody>
          <a:bodyPr wrap="square" lIns="0" tIns="0" rIns="0" bIns="0">
            <a:spAutoFit/>
          </a:bodyPr>
          <a:lstStyle/>
          <a:p>
            <a:pPr algn="ctr"/>
            <a:r>
              <a:rPr sz="2400" b="1" i="0">
                <a:solidFill>
                  <a:srgbClr val="776E65"/>
                </a:solidFill>
                <a:latin typeface="Segoe UI Semibold"/>
              </a:rPr>
              <a:t>Random</a:t>
            </a:r>
          </a:p>
        </p:txBody>
      </p:sp>
      <p:sp>
        <p:nvSpPr>
          <p:cNvPr id="12" name="TextBox 11"/>
          <p:cNvSpPr txBox="1"/>
          <p:nvPr/>
        </p:nvSpPr>
        <p:spPr>
          <a:xfrm>
            <a:off x="640080" y="4023360"/>
            <a:ext cx="2423160" cy="1783080"/>
          </a:xfrm>
          <a:prstGeom prst="rect">
            <a:avLst/>
          </a:prstGeom>
          <a:noFill/>
        </p:spPr>
        <p:txBody>
          <a:bodyPr wrap="square" lIns="0" tIns="0" rIns="0" bIns="0">
            <a:spAutoFit/>
          </a:bodyPr>
          <a:lstStyle/>
          <a:p>
            <a:pPr algn="ctr"/>
            <a:r>
              <a:rPr sz="1400" b="0" i="0">
                <a:solidFill>
                  <a:srgbClr val="776E65"/>
                </a:solidFill>
                <a:latin typeface="Segoe UI"/>
              </a:rPr>
              <a:t>Picks a legal swipe
uniformly at random.</a:t>
            </a:r>
          </a:p>
        </p:txBody>
      </p:sp>
      <p:sp>
        <p:nvSpPr>
          <p:cNvPr id="13" name="TextBox 12"/>
          <p:cNvSpPr txBox="1"/>
          <p:nvPr/>
        </p:nvSpPr>
        <p:spPr>
          <a:xfrm>
            <a:off x="640080" y="5852160"/>
            <a:ext cx="2423160" cy="184666"/>
          </a:xfrm>
          <a:prstGeom prst="rect">
            <a:avLst/>
          </a:prstGeom>
          <a:noFill/>
        </p:spPr>
        <p:txBody>
          <a:bodyPr wrap="square" lIns="0" tIns="0" rIns="0" bIns="0">
            <a:spAutoFit/>
          </a:bodyPr>
          <a:lstStyle/>
          <a:p>
            <a:pPr algn="ctr"/>
            <a:r>
              <a:rPr lang="en-US" sz="1200" b="0" i="1" dirty="0">
                <a:solidFill>
                  <a:srgbClr val="A9A097"/>
                </a:solidFill>
                <a:latin typeface="Segoe UI"/>
              </a:rPr>
              <a:t>Arbitrary. </a:t>
            </a:r>
            <a:endParaRPr sz="1200" b="0" i="1" dirty="0">
              <a:solidFill>
                <a:srgbClr val="A9A097"/>
              </a:solidFill>
              <a:latin typeface="Segoe UI"/>
            </a:endParaRPr>
          </a:p>
        </p:txBody>
      </p:sp>
      <p:sp>
        <p:nvSpPr>
          <p:cNvPr id="14" name="Rounded Rectangle 13"/>
          <p:cNvSpPr/>
          <p:nvPr/>
        </p:nvSpPr>
        <p:spPr>
          <a:xfrm>
            <a:off x="3401568" y="1691640"/>
            <a:ext cx="2606040" cy="1554480"/>
          </a:xfrm>
          <a:prstGeom prst="roundRect">
            <a:avLst>
              <a:gd name="adj" fmla="val 8000"/>
            </a:avLst>
          </a:prstGeom>
          <a:solidFill>
            <a:srgbClr val="F2B179"/>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0" y="0"/>
            <a:ext cx="0" cy="0"/>
          </a:xfrm>
          <a:prstGeom prst="line">
            <a:avLst/>
          </a:prstGeom>
          <a:ln w="25400">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0" y="0"/>
            <a:ext cx="0" cy="0"/>
          </a:xfrm>
          <a:prstGeom prst="line">
            <a:avLst/>
          </a:prstGeom>
          <a:ln w="25400">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0" y="0"/>
            <a:ext cx="0" cy="0"/>
          </a:xfrm>
          <a:prstGeom prst="line">
            <a:avLst/>
          </a:prstGeom>
          <a:ln w="25400">
            <a:solidFill>
              <a:srgbClr val="F9F6F2"/>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046574" y="2275027"/>
            <a:ext cx="248716" cy="248716"/>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113886" y="2686507"/>
            <a:ext cx="248716" cy="248716"/>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580230" y="2686507"/>
            <a:ext cx="248716" cy="248716"/>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5046574" y="2686507"/>
            <a:ext cx="248716" cy="248716"/>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401568" y="3383280"/>
            <a:ext cx="2606040" cy="502920"/>
          </a:xfrm>
          <a:prstGeom prst="rect">
            <a:avLst/>
          </a:prstGeom>
          <a:noFill/>
        </p:spPr>
        <p:txBody>
          <a:bodyPr wrap="square" lIns="0" tIns="0" rIns="0" bIns="0">
            <a:spAutoFit/>
          </a:bodyPr>
          <a:lstStyle/>
          <a:p>
            <a:pPr algn="ctr"/>
            <a:r>
              <a:rPr sz="2400" b="1" i="0">
                <a:solidFill>
                  <a:srgbClr val="776E65"/>
                </a:solidFill>
                <a:latin typeface="Segoe UI Semibold"/>
              </a:rPr>
              <a:t>Greedy</a:t>
            </a:r>
          </a:p>
        </p:txBody>
      </p:sp>
      <p:sp>
        <p:nvSpPr>
          <p:cNvPr id="23" name="TextBox 22"/>
          <p:cNvSpPr txBox="1"/>
          <p:nvPr/>
        </p:nvSpPr>
        <p:spPr>
          <a:xfrm>
            <a:off x="3493008" y="4023360"/>
            <a:ext cx="2423160" cy="1783080"/>
          </a:xfrm>
          <a:prstGeom prst="rect">
            <a:avLst/>
          </a:prstGeom>
          <a:noFill/>
        </p:spPr>
        <p:txBody>
          <a:bodyPr wrap="square" lIns="0" tIns="0" rIns="0" bIns="0">
            <a:spAutoFit/>
          </a:bodyPr>
          <a:lstStyle/>
          <a:p>
            <a:pPr algn="ctr"/>
            <a:r>
              <a:rPr sz="1400" b="0" i="0">
                <a:solidFill>
                  <a:srgbClr val="776E65"/>
                </a:solidFill>
                <a:latin typeface="Segoe UI"/>
              </a:rPr>
              <a:t>Hand-coded heuristic:
monotonicity + empty
cells + corner bonus.</a:t>
            </a:r>
          </a:p>
        </p:txBody>
      </p:sp>
      <p:sp>
        <p:nvSpPr>
          <p:cNvPr id="24" name="TextBox 23"/>
          <p:cNvSpPr txBox="1"/>
          <p:nvPr/>
        </p:nvSpPr>
        <p:spPr>
          <a:xfrm>
            <a:off x="3493008" y="5852160"/>
            <a:ext cx="2423160" cy="457200"/>
          </a:xfrm>
          <a:prstGeom prst="rect">
            <a:avLst/>
          </a:prstGeom>
          <a:noFill/>
        </p:spPr>
        <p:txBody>
          <a:bodyPr wrap="square" lIns="0" tIns="0" rIns="0" bIns="0">
            <a:spAutoFit/>
          </a:bodyPr>
          <a:lstStyle/>
          <a:p>
            <a:pPr algn="ctr"/>
            <a:r>
              <a:rPr sz="1200" b="0" i="1">
                <a:solidFill>
                  <a:srgbClr val="A9A097"/>
                </a:solidFill>
                <a:latin typeface="Segoe UI"/>
              </a:rPr>
              <a:t>Human knowledge, no learning.</a:t>
            </a:r>
          </a:p>
        </p:txBody>
      </p:sp>
      <p:sp>
        <p:nvSpPr>
          <p:cNvPr id="25" name="Rounded Rectangle 24"/>
          <p:cNvSpPr/>
          <p:nvPr/>
        </p:nvSpPr>
        <p:spPr>
          <a:xfrm>
            <a:off x="6254496" y="1691640"/>
            <a:ext cx="2606040" cy="155448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0" y="0"/>
            <a:ext cx="0" cy="0"/>
          </a:xfrm>
          <a:prstGeom prst="line">
            <a:avLst/>
          </a:prstGeom>
          <a:ln w="9525">
            <a:solidFill>
              <a:srgbClr val="F9F6F2"/>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067855" y="197921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7067855" y="236783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7067855" y="275645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7456475" y="197921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7456475" y="236783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7456475" y="275645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7845095" y="197921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7845095" y="236783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7845095" y="2756459"/>
            <a:ext cx="202082" cy="202082"/>
          </a:xfrm>
          <a:prstGeom prst="ellipse">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54496" y="3383280"/>
            <a:ext cx="2606040" cy="502920"/>
          </a:xfrm>
          <a:prstGeom prst="rect">
            <a:avLst/>
          </a:prstGeom>
          <a:noFill/>
        </p:spPr>
        <p:txBody>
          <a:bodyPr wrap="square" lIns="0" tIns="0" rIns="0" bIns="0">
            <a:spAutoFit/>
          </a:bodyPr>
          <a:lstStyle/>
          <a:p>
            <a:pPr algn="ctr"/>
            <a:r>
              <a:rPr sz="2400" b="1" i="0">
                <a:solidFill>
                  <a:srgbClr val="776E65"/>
                </a:solidFill>
                <a:latin typeface="Segoe UI Semibold"/>
              </a:rPr>
              <a:t>DQN</a:t>
            </a:r>
          </a:p>
        </p:txBody>
      </p:sp>
      <p:sp>
        <p:nvSpPr>
          <p:cNvPr id="54" name="TextBox 53"/>
          <p:cNvSpPr txBox="1"/>
          <p:nvPr/>
        </p:nvSpPr>
        <p:spPr>
          <a:xfrm>
            <a:off x="6345936" y="4023360"/>
            <a:ext cx="2423160" cy="430887"/>
          </a:xfrm>
          <a:prstGeom prst="rect">
            <a:avLst/>
          </a:prstGeom>
          <a:noFill/>
        </p:spPr>
        <p:txBody>
          <a:bodyPr wrap="square" lIns="0" tIns="0" rIns="0" bIns="0">
            <a:spAutoFit/>
          </a:bodyPr>
          <a:lstStyle/>
          <a:p>
            <a:pPr algn="ctr"/>
            <a:r>
              <a:rPr sz="1400" b="0" i="0" dirty="0">
                <a:solidFill>
                  <a:srgbClr val="776E65"/>
                </a:solidFill>
                <a:latin typeface="Segoe UI"/>
              </a:rPr>
              <a:t>Deep Q-network.
256 → 512 → 256 → 4</a:t>
            </a:r>
          </a:p>
        </p:txBody>
      </p:sp>
      <p:sp>
        <p:nvSpPr>
          <p:cNvPr id="55" name="TextBox 54"/>
          <p:cNvSpPr txBox="1"/>
          <p:nvPr/>
        </p:nvSpPr>
        <p:spPr>
          <a:xfrm>
            <a:off x="6345936" y="5852160"/>
            <a:ext cx="2423160" cy="184666"/>
          </a:xfrm>
          <a:prstGeom prst="rect">
            <a:avLst/>
          </a:prstGeom>
          <a:noFill/>
        </p:spPr>
        <p:txBody>
          <a:bodyPr wrap="square" lIns="0" tIns="0" rIns="0" bIns="0">
            <a:spAutoFit/>
          </a:bodyPr>
          <a:lstStyle/>
          <a:p>
            <a:pPr algn="ctr"/>
            <a:r>
              <a:rPr sz="1200" b="0" i="1" dirty="0">
                <a:solidFill>
                  <a:srgbClr val="A9A097"/>
                </a:solidFill>
                <a:latin typeface="Segoe UI"/>
              </a:rPr>
              <a:t>Modern RL.</a:t>
            </a:r>
          </a:p>
        </p:txBody>
      </p:sp>
      <p:sp>
        <p:nvSpPr>
          <p:cNvPr id="56" name="Rounded Rectangle 55"/>
          <p:cNvSpPr/>
          <p:nvPr/>
        </p:nvSpPr>
        <p:spPr>
          <a:xfrm>
            <a:off x="9107424" y="1691640"/>
            <a:ext cx="2606040" cy="155448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9928555" y="1986991"/>
            <a:ext cx="321259" cy="321259"/>
          </a:xfrm>
          <a:prstGeom prst="rect">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0281940" y="1986991"/>
            <a:ext cx="321259" cy="321259"/>
          </a:xfrm>
          <a:prstGeom prst="rect">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0635325" y="1986991"/>
            <a:ext cx="321259" cy="321259"/>
          </a:xfrm>
          <a:prstGeom prst="rect">
            <a:avLst/>
          </a:prstGeom>
          <a:noFill/>
          <a:ln w="17780">
            <a:solidFill>
              <a:srgbClr val="F9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9928555" y="2340376"/>
            <a:ext cx="321259" cy="321259"/>
          </a:xfrm>
          <a:prstGeom prst="rect">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10281940" y="2340376"/>
            <a:ext cx="321259" cy="321259"/>
          </a:xfrm>
          <a:prstGeom prst="rect">
            <a:avLst/>
          </a:prstGeom>
          <a:solidFill>
            <a:srgbClr val="F9F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0635325" y="2340376"/>
            <a:ext cx="321259" cy="321259"/>
          </a:xfrm>
          <a:prstGeom prst="rect">
            <a:avLst/>
          </a:prstGeom>
          <a:noFill/>
          <a:ln w="17780">
            <a:solidFill>
              <a:srgbClr val="F9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9928555" y="2693761"/>
            <a:ext cx="321259" cy="321259"/>
          </a:xfrm>
          <a:prstGeom prst="rect">
            <a:avLst/>
          </a:prstGeom>
          <a:noFill/>
          <a:ln w="17780">
            <a:solidFill>
              <a:srgbClr val="F9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0281940" y="2693761"/>
            <a:ext cx="321259" cy="321259"/>
          </a:xfrm>
          <a:prstGeom prst="rect">
            <a:avLst/>
          </a:prstGeom>
          <a:noFill/>
          <a:ln w="17780">
            <a:solidFill>
              <a:srgbClr val="F9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0635325" y="2693761"/>
            <a:ext cx="321259" cy="321259"/>
          </a:xfrm>
          <a:prstGeom prst="rect">
            <a:avLst/>
          </a:prstGeom>
          <a:noFill/>
          <a:ln w="17780">
            <a:solidFill>
              <a:srgbClr val="F9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107424" y="3383280"/>
            <a:ext cx="2606040" cy="502920"/>
          </a:xfrm>
          <a:prstGeom prst="rect">
            <a:avLst/>
          </a:prstGeom>
          <a:noFill/>
        </p:spPr>
        <p:txBody>
          <a:bodyPr wrap="square" lIns="0" tIns="0" rIns="0" bIns="0">
            <a:spAutoFit/>
          </a:bodyPr>
          <a:lstStyle/>
          <a:p>
            <a:pPr algn="ctr"/>
            <a:r>
              <a:rPr sz="2400" b="1" i="0">
                <a:solidFill>
                  <a:srgbClr val="776E65"/>
                </a:solidFill>
                <a:latin typeface="Segoe UI Semibold"/>
              </a:rPr>
              <a:t>N-tuple</a:t>
            </a:r>
          </a:p>
        </p:txBody>
      </p:sp>
      <p:sp>
        <p:nvSpPr>
          <p:cNvPr id="67" name="TextBox 66"/>
          <p:cNvSpPr txBox="1"/>
          <p:nvPr/>
        </p:nvSpPr>
        <p:spPr>
          <a:xfrm>
            <a:off x="9198864" y="4023360"/>
            <a:ext cx="2423160" cy="1783080"/>
          </a:xfrm>
          <a:prstGeom prst="rect">
            <a:avLst/>
          </a:prstGeom>
          <a:noFill/>
        </p:spPr>
        <p:txBody>
          <a:bodyPr wrap="square" lIns="0" tIns="0" rIns="0" bIns="0">
            <a:spAutoFit/>
          </a:bodyPr>
          <a:lstStyle/>
          <a:p>
            <a:pPr algn="ctr"/>
            <a:r>
              <a:rPr sz="1400" b="0" i="0">
                <a:solidFill>
                  <a:srgbClr val="776E65"/>
                </a:solidFill>
                <a:latin typeface="Segoe UI"/>
              </a:rPr>
              <a:t>Lookup tables on
4 hand-picked board
patches. Linear,
symmetric.</a:t>
            </a:r>
          </a:p>
        </p:txBody>
      </p:sp>
      <p:sp>
        <p:nvSpPr>
          <p:cNvPr id="68" name="TextBox 67"/>
          <p:cNvSpPr txBox="1"/>
          <p:nvPr/>
        </p:nvSpPr>
        <p:spPr>
          <a:xfrm>
            <a:off x="9198864" y="5852160"/>
            <a:ext cx="2423160" cy="457200"/>
          </a:xfrm>
          <a:prstGeom prst="rect">
            <a:avLst/>
          </a:prstGeom>
          <a:noFill/>
        </p:spPr>
        <p:txBody>
          <a:bodyPr wrap="square" lIns="0" tIns="0" rIns="0" bIns="0">
            <a:spAutoFit/>
          </a:bodyPr>
          <a:lstStyle/>
          <a:p>
            <a:pPr algn="ctr"/>
            <a:r>
              <a:rPr sz="1200" b="0" i="1">
                <a:solidFill>
                  <a:srgbClr val="A9A097"/>
                </a:solidFill>
                <a:latin typeface="Segoe UI"/>
              </a:rPr>
              <a:t>Classical 2048 method.</a:t>
            </a:r>
          </a:p>
        </p:txBody>
      </p:sp>
      <p:sp>
        <p:nvSpPr>
          <p:cNvPr id="69" name="TextBox 68"/>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07 </a:t>
            </a:r>
            <a:r>
              <a:rPr sz="1000" b="0" i="0">
                <a:solidFill>
                  <a:srgbClr val="A9A097"/>
                </a:solidFill>
                <a:latin typeface="Segoe UI"/>
              </a:rPr>
              <a:t>/ 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DQN — Deep Q-Network</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A neural network predicts each swipe's long-term value</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810512"/>
            <a:ext cx="1843430" cy="1843430"/>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98018" y="1859890"/>
            <a:ext cx="411480" cy="41148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776E65"/>
                </a:solidFill>
                <a:latin typeface="Segoe UI Semibold"/>
              </a:rPr>
              <a:t>2</a:t>
            </a:r>
          </a:p>
        </p:txBody>
      </p:sp>
      <p:sp>
        <p:nvSpPr>
          <p:cNvPr id="7" name="Rounded Rectangle 6"/>
          <p:cNvSpPr/>
          <p:nvPr/>
        </p:nvSpPr>
        <p:spPr>
          <a:xfrm>
            <a:off x="1042416" y="1859890"/>
            <a:ext cx="411480" cy="41148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776E65"/>
                </a:solidFill>
                <a:latin typeface="Segoe UI Semibold"/>
              </a:rPr>
              <a:t>4</a:t>
            </a:r>
          </a:p>
        </p:txBody>
      </p:sp>
      <p:sp>
        <p:nvSpPr>
          <p:cNvPr id="8" name="Rounded Rectangle 7"/>
          <p:cNvSpPr/>
          <p:nvPr/>
        </p:nvSpPr>
        <p:spPr>
          <a:xfrm>
            <a:off x="1486814" y="1859890"/>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931213" y="1859890"/>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98018" y="2304288"/>
            <a:ext cx="411480" cy="411480"/>
          </a:xfrm>
          <a:prstGeom prst="roundRect">
            <a:avLst>
              <a:gd name="adj" fmla="val 8000"/>
            </a:avLst>
          </a:prstGeom>
          <a:solidFill>
            <a:srgbClr val="F2B179"/>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F9F6F2"/>
                </a:solidFill>
                <a:latin typeface="Segoe UI Semibold"/>
              </a:rPr>
              <a:t>8</a:t>
            </a:r>
          </a:p>
        </p:txBody>
      </p:sp>
      <p:sp>
        <p:nvSpPr>
          <p:cNvPr id="11" name="Rounded Rectangle 10"/>
          <p:cNvSpPr/>
          <p:nvPr/>
        </p:nvSpPr>
        <p:spPr>
          <a:xfrm>
            <a:off x="1042416" y="2304288"/>
            <a:ext cx="411480" cy="41148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776E65"/>
                </a:solidFill>
                <a:latin typeface="Segoe UI Semibold"/>
              </a:rPr>
              <a:t>2</a:t>
            </a:r>
          </a:p>
        </p:txBody>
      </p:sp>
      <p:sp>
        <p:nvSpPr>
          <p:cNvPr id="12" name="Rounded Rectangle 11"/>
          <p:cNvSpPr/>
          <p:nvPr/>
        </p:nvSpPr>
        <p:spPr>
          <a:xfrm>
            <a:off x="1486814" y="2304288"/>
            <a:ext cx="411480" cy="41148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776E65"/>
                </a:solidFill>
                <a:latin typeface="Segoe UI Semibold"/>
              </a:rPr>
              <a:t>4</a:t>
            </a:r>
          </a:p>
        </p:txBody>
      </p:sp>
      <p:sp>
        <p:nvSpPr>
          <p:cNvPr id="13" name="Rounded Rectangle 12"/>
          <p:cNvSpPr/>
          <p:nvPr/>
        </p:nvSpPr>
        <p:spPr>
          <a:xfrm>
            <a:off x="1931213" y="2304288"/>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98018" y="2748686"/>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042416" y="2748686"/>
            <a:ext cx="411480" cy="411480"/>
          </a:xfrm>
          <a:prstGeom prst="roundRect">
            <a:avLst>
              <a:gd name="adj" fmla="val 8000"/>
            </a:avLst>
          </a:prstGeom>
          <a:solidFill>
            <a:srgbClr val="F59563"/>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F9F6F2"/>
                </a:solidFill>
                <a:latin typeface="Segoe UI Semibold"/>
              </a:rPr>
              <a:t>16</a:t>
            </a:r>
          </a:p>
        </p:txBody>
      </p:sp>
      <p:sp>
        <p:nvSpPr>
          <p:cNvPr id="16" name="Rounded Rectangle 15"/>
          <p:cNvSpPr/>
          <p:nvPr/>
        </p:nvSpPr>
        <p:spPr>
          <a:xfrm>
            <a:off x="1486814" y="2748686"/>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931213" y="2748686"/>
            <a:ext cx="411480" cy="41148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776E65"/>
                </a:solidFill>
                <a:latin typeface="Segoe UI Semibold"/>
              </a:rPr>
              <a:t>2</a:t>
            </a:r>
          </a:p>
        </p:txBody>
      </p:sp>
      <p:sp>
        <p:nvSpPr>
          <p:cNvPr id="18" name="Rounded Rectangle 17"/>
          <p:cNvSpPr/>
          <p:nvPr/>
        </p:nvSpPr>
        <p:spPr>
          <a:xfrm>
            <a:off x="598018" y="3193085"/>
            <a:ext cx="411480" cy="411480"/>
          </a:xfrm>
          <a:prstGeom prst="roundRect">
            <a:avLst>
              <a:gd name="adj" fmla="val 8000"/>
            </a:avLst>
          </a:prstGeom>
          <a:solidFill>
            <a:srgbClr val="F67C5F"/>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F9F6F2"/>
                </a:solidFill>
                <a:latin typeface="Segoe UI Semibold"/>
              </a:rPr>
              <a:t>32</a:t>
            </a:r>
          </a:p>
        </p:txBody>
      </p:sp>
      <p:sp>
        <p:nvSpPr>
          <p:cNvPr id="19" name="Rounded Rectangle 18"/>
          <p:cNvSpPr/>
          <p:nvPr/>
        </p:nvSpPr>
        <p:spPr>
          <a:xfrm>
            <a:off x="1042416" y="3193085"/>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486814" y="3193085"/>
            <a:ext cx="411480" cy="4114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931213" y="3193085"/>
            <a:ext cx="411480" cy="41148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a:solidFill>
                  <a:srgbClr val="776E65"/>
                </a:solidFill>
                <a:latin typeface="Segoe UI Semibold"/>
              </a:rPr>
              <a:t>4</a:t>
            </a:r>
          </a:p>
        </p:txBody>
      </p:sp>
      <p:sp>
        <p:nvSpPr>
          <p:cNvPr id="22" name="TextBox 21"/>
          <p:cNvSpPr txBox="1"/>
          <p:nvPr/>
        </p:nvSpPr>
        <p:spPr>
          <a:xfrm>
            <a:off x="598018" y="3741725"/>
            <a:ext cx="1744675" cy="274320"/>
          </a:xfrm>
          <a:prstGeom prst="rect">
            <a:avLst/>
          </a:prstGeom>
          <a:noFill/>
        </p:spPr>
        <p:txBody>
          <a:bodyPr wrap="square" lIns="0" tIns="0" rIns="0" bIns="0">
            <a:spAutoFit/>
          </a:bodyPr>
          <a:lstStyle/>
          <a:p>
            <a:pPr algn="ctr"/>
            <a:r>
              <a:rPr sz="1100" b="0" i="1">
                <a:solidFill>
                  <a:srgbClr val="A9A097"/>
                </a:solidFill>
                <a:latin typeface="Segoe UI"/>
              </a:rPr>
              <a:t>Board (4×4)</a:t>
            </a:r>
          </a:p>
        </p:txBody>
      </p:sp>
      <p:cxnSp>
        <p:nvCxnSpPr>
          <p:cNvPr id="23" name="Connector 22"/>
          <p:cNvCxnSpPr/>
          <p:nvPr/>
        </p:nvCxnSpPr>
        <p:spPr>
          <a:xfrm>
            <a:off x="0" y="0"/>
            <a:ext cx="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53681" y="2163470"/>
            <a:ext cx="1188720" cy="1104595"/>
          </a:xfrm>
          <a:prstGeom prst="roundRect">
            <a:avLst>
              <a:gd name="adj" fmla="val 8000"/>
            </a:avLst>
          </a:prstGeom>
          <a:solidFill>
            <a:srgbClr val="EDE0C8"/>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400" b="1" dirty="0">
                <a:solidFill>
                  <a:srgbClr val="776E65"/>
                </a:solidFill>
                <a:latin typeface="Segoe UI Semibold"/>
              </a:rPr>
              <a:t>256</a:t>
            </a:r>
          </a:p>
          <a:p>
            <a:pPr algn="ctr"/>
            <a:r>
              <a:rPr sz="1000" b="0" dirty="0">
                <a:solidFill>
                  <a:srgbClr val="776E65"/>
                </a:solidFill>
                <a:latin typeface="Segoe UI"/>
              </a:rPr>
              <a:t>one-hot
floats</a:t>
            </a:r>
          </a:p>
        </p:txBody>
      </p:sp>
      <p:cxnSp>
        <p:nvCxnSpPr>
          <p:cNvPr id="25" name="Connector 24"/>
          <p:cNvCxnSpPr/>
          <p:nvPr/>
        </p:nvCxnSpPr>
        <p:spPr>
          <a:xfrm>
            <a:off x="0" y="0"/>
            <a:ext cx="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0" y="0"/>
            <a:ext cx="0" cy="0"/>
          </a:xfrm>
          <a:prstGeom prst="line">
            <a:avLst/>
          </a:prstGeom>
          <a:ln w="5715">
            <a:solidFill>
              <a:srgbClr val="BBADA0"/>
            </a:solidFill>
          </a:ln>
        </p:spPr>
        <p:style>
          <a:lnRef idx="2">
            <a:schemeClr val="accent1"/>
          </a:lnRef>
          <a:fillRef idx="0">
            <a:schemeClr val="accent1"/>
          </a:fillRef>
          <a:effectRef idx="1">
            <a:schemeClr val="accent1"/>
          </a:effectRef>
          <a:fontRef idx="minor">
            <a:schemeClr val="tx1"/>
          </a:fontRef>
        </p:style>
      </p:cxnSp>
      <p:sp>
        <p:nvSpPr>
          <p:cNvPr id="170" name="Oval 169"/>
          <p:cNvSpPr/>
          <p:nvPr/>
        </p:nvSpPr>
        <p:spPr>
          <a:xfrm>
            <a:off x="4410151" y="2056485"/>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4410151" y="2601833"/>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4410151" y="3147181"/>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4410151" y="3692530"/>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4410151" y="4237878"/>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4410151" y="4783226"/>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6330391" y="2056485"/>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6330391" y="2359456"/>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6330391" y="2662428"/>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6330391" y="2965399"/>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6330391" y="3268370"/>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6330391" y="3571341"/>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6330391" y="3874312"/>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6330391" y="4177284"/>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6330391" y="4480255"/>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6330391" y="4783226"/>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8250631" y="2056485"/>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Oval 186"/>
          <p:cNvSpPr/>
          <p:nvPr/>
        </p:nvSpPr>
        <p:spPr>
          <a:xfrm>
            <a:off x="8250631" y="2601833"/>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Oval 187"/>
          <p:cNvSpPr/>
          <p:nvPr/>
        </p:nvSpPr>
        <p:spPr>
          <a:xfrm>
            <a:off x="8250631" y="3147181"/>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Oval 188"/>
          <p:cNvSpPr/>
          <p:nvPr/>
        </p:nvSpPr>
        <p:spPr>
          <a:xfrm>
            <a:off x="8250631" y="3692530"/>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Oval 189"/>
          <p:cNvSpPr/>
          <p:nvPr/>
        </p:nvSpPr>
        <p:spPr>
          <a:xfrm>
            <a:off x="8250631" y="4237878"/>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Oval 190"/>
          <p:cNvSpPr/>
          <p:nvPr/>
        </p:nvSpPr>
        <p:spPr>
          <a:xfrm>
            <a:off x="8250631" y="4783226"/>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Oval 191"/>
          <p:cNvSpPr/>
          <p:nvPr/>
        </p:nvSpPr>
        <p:spPr>
          <a:xfrm>
            <a:off x="10170871" y="2056485"/>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Oval 192"/>
          <p:cNvSpPr/>
          <p:nvPr/>
        </p:nvSpPr>
        <p:spPr>
          <a:xfrm>
            <a:off x="10170871" y="2965399"/>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Oval 193"/>
          <p:cNvSpPr/>
          <p:nvPr/>
        </p:nvSpPr>
        <p:spPr>
          <a:xfrm>
            <a:off x="10170871" y="3874312"/>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Oval 194"/>
          <p:cNvSpPr/>
          <p:nvPr/>
        </p:nvSpPr>
        <p:spPr>
          <a:xfrm>
            <a:off x="10170871" y="4783226"/>
            <a:ext cx="155448" cy="155448"/>
          </a:xfrm>
          <a:prstGeom prst="ellipse">
            <a:avLst/>
          </a:prstGeom>
          <a:solidFill>
            <a:srgbClr val="776E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p:cNvSpPr txBox="1"/>
          <p:nvPr/>
        </p:nvSpPr>
        <p:spPr>
          <a:xfrm>
            <a:off x="3756355" y="5212080"/>
            <a:ext cx="1463040" cy="365760"/>
          </a:xfrm>
          <a:prstGeom prst="rect">
            <a:avLst/>
          </a:prstGeom>
          <a:noFill/>
        </p:spPr>
        <p:txBody>
          <a:bodyPr wrap="square" lIns="0" tIns="0" rIns="0" bIns="0">
            <a:spAutoFit/>
          </a:bodyPr>
          <a:lstStyle/>
          <a:p>
            <a:pPr algn="ctr"/>
            <a:r>
              <a:rPr sz="1800" b="1" i="0">
                <a:solidFill>
                  <a:srgbClr val="776E65"/>
                </a:solidFill>
                <a:latin typeface="Segoe UI Semibold"/>
              </a:rPr>
              <a:t>256</a:t>
            </a:r>
          </a:p>
        </p:txBody>
      </p:sp>
      <p:sp>
        <p:nvSpPr>
          <p:cNvPr id="197" name="TextBox 196"/>
          <p:cNvSpPr txBox="1"/>
          <p:nvPr/>
        </p:nvSpPr>
        <p:spPr>
          <a:xfrm>
            <a:off x="3756355" y="5623560"/>
            <a:ext cx="1463040" cy="457200"/>
          </a:xfrm>
          <a:prstGeom prst="rect">
            <a:avLst/>
          </a:prstGeom>
          <a:noFill/>
        </p:spPr>
        <p:txBody>
          <a:bodyPr wrap="square" lIns="0" tIns="0" rIns="0" bIns="0">
            <a:spAutoFit/>
          </a:bodyPr>
          <a:lstStyle/>
          <a:p>
            <a:pPr algn="ctr"/>
            <a:r>
              <a:rPr sz="1100" b="0" i="1">
                <a:solidFill>
                  <a:srgbClr val="A9A097"/>
                </a:solidFill>
                <a:latin typeface="Segoe UI"/>
              </a:rPr>
              <a:t>input
(one-hot)</a:t>
            </a:r>
          </a:p>
        </p:txBody>
      </p:sp>
      <p:sp>
        <p:nvSpPr>
          <p:cNvPr id="198" name="TextBox 197"/>
          <p:cNvSpPr txBox="1"/>
          <p:nvPr/>
        </p:nvSpPr>
        <p:spPr>
          <a:xfrm>
            <a:off x="5676595" y="5212080"/>
            <a:ext cx="1463040" cy="365760"/>
          </a:xfrm>
          <a:prstGeom prst="rect">
            <a:avLst/>
          </a:prstGeom>
          <a:noFill/>
        </p:spPr>
        <p:txBody>
          <a:bodyPr wrap="square" lIns="0" tIns="0" rIns="0" bIns="0">
            <a:spAutoFit/>
          </a:bodyPr>
          <a:lstStyle/>
          <a:p>
            <a:pPr algn="ctr"/>
            <a:r>
              <a:rPr sz="1800" b="1" i="0">
                <a:solidFill>
                  <a:srgbClr val="776E65"/>
                </a:solidFill>
                <a:latin typeface="Segoe UI Semibold"/>
              </a:rPr>
              <a:t>512</a:t>
            </a:r>
          </a:p>
        </p:txBody>
      </p:sp>
      <p:sp>
        <p:nvSpPr>
          <p:cNvPr id="199" name="TextBox 198"/>
          <p:cNvSpPr txBox="1"/>
          <p:nvPr/>
        </p:nvSpPr>
        <p:spPr>
          <a:xfrm>
            <a:off x="5676595" y="5623560"/>
            <a:ext cx="1463040" cy="457200"/>
          </a:xfrm>
          <a:prstGeom prst="rect">
            <a:avLst/>
          </a:prstGeom>
          <a:noFill/>
        </p:spPr>
        <p:txBody>
          <a:bodyPr wrap="square" lIns="0" tIns="0" rIns="0" bIns="0">
            <a:spAutoFit/>
          </a:bodyPr>
          <a:lstStyle/>
          <a:p>
            <a:pPr algn="ctr"/>
            <a:r>
              <a:rPr sz="1100" b="0" i="1">
                <a:solidFill>
                  <a:srgbClr val="A9A097"/>
                </a:solidFill>
                <a:latin typeface="Segoe UI"/>
              </a:rPr>
              <a:t>hidden
ReLU</a:t>
            </a:r>
          </a:p>
        </p:txBody>
      </p:sp>
      <p:sp>
        <p:nvSpPr>
          <p:cNvPr id="200" name="TextBox 199"/>
          <p:cNvSpPr txBox="1"/>
          <p:nvPr/>
        </p:nvSpPr>
        <p:spPr>
          <a:xfrm>
            <a:off x="7596835" y="5212080"/>
            <a:ext cx="1463040" cy="365760"/>
          </a:xfrm>
          <a:prstGeom prst="rect">
            <a:avLst/>
          </a:prstGeom>
          <a:noFill/>
        </p:spPr>
        <p:txBody>
          <a:bodyPr wrap="square" lIns="0" tIns="0" rIns="0" bIns="0">
            <a:spAutoFit/>
          </a:bodyPr>
          <a:lstStyle/>
          <a:p>
            <a:pPr algn="ctr"/>
            <a:r>
              <a:rPr sz="1800" b="1" i="0">
                <a:solidFill>
                  <a:srgbClr val="776E65"/>
                </a:solidFill>
                <a:latin typeface="Segoe UI Semibold"/>
              </a:rPr>
              <a:t>256</a:t>
            </a:r>
          </a:p>
        </p:txBody>
      </p:sp>
      <p:sp>
        <p:nvSpPr>
          <p:cNvPr id="201" name="TextBox 200"/>
          <p:cNvSpPr txBox="1"/>
          <p:nvPr/>
        </p:nvSpPr>
        <p:spPr>
          <a:xfrm>
            <a:off x="7596835" y="5623560"/>
            <a:ext cx="1463040" cy="457200"/>
          </a:xfrm>
          <a:prstGeom prst="rect">
            <a:avLst/>
          </a:prstGeom>
          <a:noFill/>
        </p:spPr>
        <p:txBody>
          <a:bodyPr wrap="square" lIns="0" tIns="0" rIns="0" bIns="0">
            <a:spAutoFit/>
          </a:bodyPr>
          <a:lstStyle/>
          <a:p>
            <a:pPr algn="ctr"/>
            <a:r>
              <a:rPr sz="1100" b="0" i="1">
                <a:solidFill>
                  <a:srgbClr val="A9A097"/>
                </a:solidFill>
                <a:latin typeface="Segoe UI"/>
              </a:rPr>
              <a:t>hidden
ReLU</a:t>
            </a:r>
          </a:p>
        </p:txBody>
      </p:sp>
      <p:sp>
        <p:nvSpPr>
          <p:cNvPr id="202" name="TextBox 201"/>
          <p:cNvSpPr txBox="1"/>
          <p:nvPr/>
        </p:nvSpPr>
        <p:spPr>
          <a:xfrm>
            <a:off x="9517075" y="5212080"/>
            <a:ext cx="1463040" cy="365760"/>
          </a:xfrm>
          <a:prstGeom prst="rect">
            <a:avLst/>
          </a:prstGeom>
          <a:noFill/>
        </p:spPr>
        <p:txBody>
          <a:bodyPr wrap="square" lIns="0" tIns="0" rIns="0" bIns="0">
            <a:spAutoFit/>
          </a:bodyPr>
          <a:lstStyle/>
          <a:p>
            <a:pPr algn="ctr"/>
            <a:r>
              <a:rPr sz="1800" b="1" i="0">
                <a:solidFill>
                  <a:srgbClr val="776E65"/>
                </a:solidFill>
                <a:latin typeface="Segoe UI Semibold"/>
              </a:rPr>
              <a:t>4</a:t>
            </a:r>
          </a:p>
        </p:txBody>
      </p:sp>
      <p:sp>
        <p:nvSpPr>
          <p:cNvPr id="203" name="TextBox 202"/>
          <p:cNvSpPr txBox="1"/>
          <p:nvPr/>
        </p:nvSpPr>
        <p:spPr>
          <a:xfrm>
            <a:off x="9517075" y="5623560"/>
            <a:ext cx="1463040" cy="457200"/>
          </a:xfrm>
          <a:prstGeom prst="rect">
            <a:avLst/>
          </a:prstGeom>
          <a:noFill/>
        </p:spPr>
        <p:txBody>
          <a:bodyPr wrap="square" lIns="0" tIns="0" rIns="0" bIns="0">
            <a:spAutoFit/>
          </a:bodyPr>
          <a:lstStyle/>
          <a:p>
            <a:pPr algn="ctr"/>
            <a:r>
              <a:rPr sz="1100" b="0" i="1">
                <a:solidFill>
                  <a:srgbClr val="A9A097"/>
                </a:solidFill>
                <a:latin typeface="Segoe UI"/>
              </a:rPr>
              <a:t>output
Q-values</a:t>
            </a:r>
          </a:p>
        </p:txBody>
      </p:sp>
      <p:sp>
        <p:nvSpPr>
          <p:cNvPr id="204" name="TextBox 203"/>
          <p:cNvSpPr txBox="1"/>
          <p:nvPr/>
        </p:nvSpPr>
        <p:spPr>
          <a:xfrm>
            <a:off x="10447325" y="2029053"/>
            <a:ext cx="822960" cy="365760"/>
          </a:xfrm>
          <a:prstGeom prst="rect">
            <a:avLst/>
          </a:prstGeom>
          <a:noFill/>
        </p:spPr>
        <p:txBody>
          <a:bodyPr wrap="square" lIns="0" tIns="0" rIns="0" bIns="0">
            <a:spAutoFit/>
          </a:bodyPr>
          <a:lstStyle/>
          <a:p>
            <a:pPr algn="l"/>
            <a:r>
              <a:rPr sz="1200" b="1" i="0">
                <a:solidFill>
                  <a:srgbClr val="776E65"/>
                </a:solidFill>
                <a:latin typeface="Segoe UI Semibold"/>
              </a:rPr>
              <a:t>Q(↑)</a:t>
            </a:r>
          </a:p>
        </p:txBody>
      </p:sp>
      <p:sp>
        <p:nvSpPr>
          <p:cNvPr id="205" name="TextBox 204"/>
          <p:cNvSpPr txBox="1"/>
          <p:nvPr/>
        </p:nvSpPr>
        <p:spPr>
          <a:xfrm>
            <a:off x="10447325" y="2937967"/>
            <a:ext cx="822960" cy="365760"/>
          </a:xfrm>
          <a:prstGeom prst="rect">
            <a:avLst/>
          </a:prstGeom>
          <a:noFill/>
        </p:spPr>
        <p:txBody>
          <a:bodyPr wrap="square" lIns="0" tIns="0" rIns="0" bIns="0">
            <a:spAutoFit/>
          </a:bodyPr>
          <a:lstStyle/>
          <a:p>
            <a:pPr algn="l"/>
            <a:r>
              <a:rPr sz="1200" b="1" i="0">
                <a:solidFill>
                  <a:srgbClr val="776E65"/>
                </a:solidFill>
                <a:latin typeface="Segoe UI Semibold"/>
              </a:rPr>
              <a:t>Q(→)</a:t>
            </a:r>
          </a:p>
        </p:txBody>
      </p:sp>
      <p:sp>
        <p:nvSpPr>
          <p:cNvPr id="206" name="TextBox 205"/>
          <p:cNvSpPr txBox="1"/>
          <p:nvPr/>
        </p:nvSpPr>
        <p:spPr>
          <a:xfrm>
            <a:off x="10453588" y="3842040"/>
            <a:ext cx="822960" cy="365760"/>
          </a:xfrm>
          <a:prstGeom prst="rect">
            <a:avLst/>
          </a:prstGeom>
          <a:noFill/>
        </p:spPr>
        <p:txBody>
          <a:bodyPr wrap="square" lIns="0" tIns="0" rIns="0" bIns="0">
            <a:spAutoFit/>
          </a:bodyPr>
          <a:lstStyle/>
          <a:p>
            <a:pPr algn="l"/>
            <a:r>
              <a:rPr sz="1200" b="1" i="0">
                <a:solidFill>
                  <a:srgbClr val="776E65"/>
                </a:solidFill>
                <a:latin typeface="Segoe UI Semibold"/>
              </a:rPr>
              <a:t>Q(↓)</a:t>
            </a:r>
          </a:p>
        </p:txBody>
      </p:sp>
      <p:sp>
        <p:nvSpPr>
          <p:cNvPr id="207" name="TextBox 206"/>
          <p:cNvSpPr txBox="1"/>
          <p:nvPr/>
        </p:nvSpPr>
        <p:spPr>
          <a:xfrm>
            <a:off x="10447325" y="4755794"/>
            <a:ext cx="822960" cy="365760"/>
          </a:xfrm>
          <a:prstGeom prst="rect">
            <a:avLst/>
          </a:prstGeom>
          <a:noFill/>
        </p:spPr>
        <p:txBody>
          <a:bodyPr wrap="square" lIns="0" tIns="0" rIns="0" bIns="0">
            <a:spAutoFit/>
          </a:bodyPr>
          <a:lstStyle/>
          <a:p>
            <a:pPr algn="l"/>
            <a:r>
              <a:rPr sz="1200" b="1" i="0">
                <a:solidFill>
                  <a:srgbClr val="776E65"/>
                </a:solidFill>
                <a:latin typeface="Segoe UI Semibold"/>
              </a:rPr>
              <a:t>Q(←)</a:t>
            </a:r>
          </a:p>
        </p:txBody>
      </p:sp>
      <p:sp>
        <p:nvSpPr>
          <p:cNvPr id="208" name="TextBox 207"/>
          <p:cNvSpPr txBox="1"/>
          <p:nvPr/>
        </p:nvSpPr>
        <p:spPr>
          <a:xfrm>
            <a:off x="548640" y="6180456"/>
            <a:ext cx="11064240" cy="411480"/>
          </a:xfrm>
          <a:prstGeom prst="rect">
            <a:avLst/>
          </a:prstGeom>
          <a:noFill/>
        </p:spPr>
        <p:txBody>
          <a:bodyPr wrap="square" lIns="0" tIns="0" rIns="0" bIns="0">
            <a:spAutoFit/>
          </a:bodyPr>
          <a:lstStyle/>
          <a:p>
            <a:pPr algn="ctr"/>
            <a:r>
              <a:rPr sz="1300" b="0" i="1" dirty="0">
                <a:solidFill>
                  <a:srgbClr val="776E65"/>
                </a:solidFill>
                <a:latin typeface="Segoe UI"/>
              </a:rPr>
              <a:t>The network sees 256 raw numbers. No domain knowledge — it has to discover everything itself.</a:t>
            </a:r>
          </a:p>
        </p:txBody>
      </p:sp>
      <p:sp>
        <p:nvSpPr>
          <p:cNvPr id="209" name="TextBox 208"/>
          <p:cNvSpPr txBox="1"/>
          <p:nvPr/>
        </p:nvSpPr>
        <p:spPr>
          <a:xfrm>
            <a:off x="548640" y="6446520"/>
            <a:ext cx="11064240" cy="184666"/>
          </a:xfrm>
          <a:prstGeom prst="rect">
            <a:avLst/>
          </a:prstGeom>
          <a:noFill/>
        </p:spPr>
        <p:txBody>
          <a:bodyPr wrap="square" lIns="0" tIns="0" rIns="0" bIns="0">
            <a:spAutoFit/>
          </a:bodyPr>
          <a:lstStyle/>
          <a:p>
            <a:pPr algn="ctr"/>
            <a:r>
              <a:rPr sz="1200" b="0" i="1">
                <a:solidFill>
                  <a:srgbClr val="A9A097"/>
                </a:solidFill>
                <a:latin typeface="Segoe UI"/>
              </a:rPr>
              <a:t>Trained 5,000 games (~25 min on Apple-MPS)</a:t>
            </a:r>
            <a:r>
              <a:rPr lang="en-GB" sz="1200" b="0" i="1">
                <a:solidFill>
                  <a:srgbClr val="A9A097"/>
                </a:solidFill>
                <a:latin typeface="Segoe UI"/>
              </a:rPr>
              <a:t> </a:t>
            </a:r>
            <a:endParaRPr sz="1200" b="0" i="1">
              <a:solidFill>
                <a:srgbClr val="A9A097"/>
              </a:solidFill>
              <a:latin typeface="Segoe UI"/>
            </a:endParaRPr>
          </a:p>
        </p:txBody>
      </p:sp>
      <p:sp>
        <p:nvSpPr>
          <p:cNvPr id="210" name="TextBox 209"/>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08</a:t>
            </a:r>
            <a:r>
              <a:rPr sz="1000" b="0" i="0">
                <a:solidFill>
                  <a:srgbClr val="A9A097"/>
                </a:solidFill>
                <a:latin typeface="Segoe UI"/>
              </a:rPr>
              <a:t> / 19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DQN — a concrete forward pass</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What the numbers actually look like for one board</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71830" y="1751990"/>
            <a:ext cx="2867558" cy="2867558"/>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828800"/>
            <a:ext cx="640080" cy="640080"/>
          </a:xfrm>
          <a:prstGeom prst="roundRect">
            <a:avLst>
              <a:gd name="adj" fmla="val 8000"/>
            </a:avLst>
          </a:prstGeom>
          <a:solidFill>
            <a:srgbClr val="F2B179"/>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F9F6F2"/>
                </a:solidFill>
                <a:latin typeface="Segoe UI Semibold"/>
              </a:rPr>
              <a:t>8</a:t>
            </a:r>
          </a:p>
        </p:txBody>
      </p:sp>
      <p:sp>
        <p:nvSpPr>
          <p:cNvPr id="7" name="Rounded Rectangle 6"/>
          <p:cNvSpPr/>
          <p:nvPr/>
        </p:nvSpPr>
        <p:spPr>
          <a:xfrm>
            <a:off x="1239926" y="1828800"/>
            <a:ext cx="640080" cy="64008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4</a:t>
            </a:r>
          </a:p>
        </p:txBody>
      </p:sp>
      <p:sp>
        <p:nvSpPr>
          <p:cNvPr id="8" name="Rounded Rectangle 7"/>
          <p:cNvSpPr/>
          <p:nvPr/>
        </p:nvSpPr>
        <p:spPr>
          <a:xfrm>
            <a:off x="1931212" y="1828800"/>
            <a:ext cx="640080" cy="64008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2</a:t>
            </a:r>
          </a:p>
        </p:txBody>
      </p:sp>
      <p:sp>
        <p:nvSpPr>
          <p:cNvPr id="9" name="Rounded Rectangle 8"/>
          <p:cNvSpPr/>
          <p:nvPr/>
        </p:nvSpPr>
        <p:spPr>
          <a:xfrm>
            <a:off x="2622499" y="1828800"/>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48640" y="2520086"/>
            <a:ext cx="640080" cy="64008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4</a:t>
            </a:r>
          </a:p>
        </p:txBody>
      </p:sp>
      <p:sp>
        <p:nvSpPr>
          <p:cNvPr id="11" name="Rounded Rectangle 10"/>
          <p:cNvSpPr/>
          <p:nvPr/>
        </p:nvSpPr>
        <p:spPr>
          <a:xfrm>
            <a:off x="1239926" y="2520086"/>
            <a:ext cx="640080" cy="64008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2</a:t>
            </a:r>
          </a:p>
        </p:txBody>
      </p:sp>
      <p:sp>
        <p:nvSpPr>
          <p:cNvPr id="12" name="Rounded Rectangle 11"/>
          <p:cNvSpPr/>
          <p:nvPr/>
        </p:nvSpPr>
        <p:spPr>
          <a:xfrm>
            <a:off x="1931212" y="2520086"/>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622499" y="2520086"/>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48640" y="3211372"/>
            <a:ext cx="640080" cy="64008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2</a:t>
            </a:r>
          </a:p>
        </p:txBody>
      </p:sp>
      <p:sp>
        <p:nvSpPr>
          <p:cNvPr id="15" name="Rounded Rectangle 14"/>
          <p:cNvSpPr/>
          <p:nvPr/>
        </p:nvSpPr>
        <p:spPr>
          <a:xfrm>
            <a:off x="1239926" y="3211372"/>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1931212" y="3211372"/>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2622499" y="3211372"/>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48640" y="3902659"/>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239926" y="3902659"/>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931212" y="3902659"/>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622499" y="3902659"/>
            <a:ext cx="640080" cy="64008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4725619"/>
            <a:ext cx="2896819" cy="365760"/>
          </a:xfrm>
          <a:prstGeom prst="rect">
            <a:avLst/>
          </a:prstGeom>
          <a:noFill/>
        </p:spPr>
        <p:txBody>
          <a:bodyPr wrap="square" lIns="0" tIns="0" rIns="0" bIns="0">
            <a:spAutoFit/>
          </a:bodyPr>
          <a:lstStyle/>
          <a:p>
            <a:pPr algn="ctr"/>
            <a:r>
              <a:rPr sz="1400" b="0" i="1">
                <a:solidFill>
                  <a:srgbClr val="A9A097"/>
                </a:solidFill>
                <a:latin typeface="Segoe UI"/>
              </a:rPr>
              <a:t>Input board</a:t>
            </a:r>
          </a:p>
        </p:txBody>
      </p:sp>
      <p:sp>
        <p:nvSpPr>
          <p:cNvPr id="23" name="TextBox 22"/>
          <p:cNvSpPr txBox="1"/>
          <p:nvPr/>
        </p:nvSpPr>
        <p:spPr>
          <a:xfrm>
            <a:off x="4114800" y="1737360"/>
            <a:ext cx="4114800" cy="365760"/>
          </a:xfrm>
          <a:prstGeom prst="rect">
            <a:avLst/>
          </a:prstGeom>
          <a:noFill/>
        </p:spPr>
        <p:txBody>
          <a:bodyPr wrap="square" lIns="0" tIns="0" rIns="0" bIns="0">
            <a:spAutoFit/>
          </a:bodyPr>
          <a:lstStyle/>
          <a:p>
            <a:pPr algn="l"/>
            <a:r>
              <a:rPr sz="1500" b="1" i="0">
                <a:solidFill>
                  <a:srgbClr val="776E65"/>
                </a:solidFill>
                <a:latin typeface="Segoe UI Semibold"/>
              </a:rPr>
              <a:t>One-hot encoding (256 floats)</a:t>
            </a:r>
          </a:p>
        </p:txBody>
      </p:sp>
      <p:sp>
        <p:nvSpPr>
          <p:cNvPr id="24" name="TextBox 23"/>
          <p:cNvSpPr txBox="1"/>
          <p:nvPr/>
        </p:nvSpPr>
        <p:spPr>
          <a:xfrm>
            <a:off x="4114799" y="2194560"/>
            <a:ext cx="4586631" cy="1523494"/>
          </a:xfrm>
          <a:prstGeom prst="rect">
            <a:avLst/>
          </a:prstGeom>
          <a:noFill/>
        </p:spPr>
        <p:txBody>
          <a:bodyPr wrap="square" lIns="0" tIns="0" rIns="0" bIns="0">
            <a:spAutoFit/>
          </a:bodyPr>
          <a:lstStyle/>
          <a:p>
            <a:pPr algn="l"/>
            <a:r>
              <a:rPr sz="1100" b="0" i="0" dirty="0">
                <a:solidFill>
                  <a:srgbClr val="776E65"/>
                </a:solidFill>
                <a:latin typeface="Consolas"/>
              </a:rPr>
              <a:t>Cell (0,0) = 8 (= 2³)
→ bucket 3 of 16:
[0, 0, 0, 1, 0, 0, 0, 0, 0, 0, 0, 0, 0, 0, 0, 0]
Cell (0,1) = 4 (= 2²)
→ bucket 2:
[0, 0, 1, 0, 0, 0, 0, 0, 0, 0, 0, 0, 0, 0, 0, 0]
… 16 cells × 16 buckets = 256 numbers fed into the </a:t>
            </a:r>
            <a:r>
              <a:rPr lang="en-US" sz="1100" b="0" i="0" dirty="0">
                <a:solidFill>
                  <a:srgbClr val="776E65"/>
                </a:solidFill>
                <a:latin typeface="Consolas"/>
              </a:rPr>
              <a:t>network</a:t>
            </a:r>
            <a:endParaRPr sz="1100" b="0" i="0" dirty="0">
              <a:solidFill>
                <a:srgbClr val="776E65"/>
              </a:solidFill>
              <a:latin typeface="Consolas"/>
            </a:endParaRPr>
          </a:p>
        </p:txBody>
      </p:sp>
      <p:sp>
        <p:nvSpPr>
          <p:cNvPr id="25" name="TextBox 24"/>
          <p:cNvSpPr txBox="1"/>
          <p:nvPr/>
        </p:nvSpPr>
        <p:spPr>
          <a:xfrm>
            <a:off x="8778240" y="1737360"/>
            <a:ext cx="3017520" cy="365760"/>
          </a:xfrm>
          <a:prstGeom prst="rect">
            <a:avLst/>
          </a:prstGeom>
          <a:noFill/>
        </p:spPr>
        <p:txBody>
          <a:bodyPr wrap="square" lIns="0" tIns="0" rIns="0" bIns="0">
            <a:spAutoFit/>
          </a:bodyPr>
          <a:lstStyle/>
          <a:p>
            <a:pPr algn="l"/>
            <a:r>
              <a:rPr sz="1500" b="1" i="0">
                <a:solidFill>
                  <a:srgbClr val="776E65"/>
                </a:solidFill>
                <a:latin typeface="Segoe UI Semibold"/>
              </a:rPr>
              <a:t>Network outputs (Q-values)</a:t>
            </a:r>
          </a:p>
        </p:txBody>
      </p:sp>
      <p:sp>
        <p:nvSpPr>
          <p:cNvPr id="26" name="Rounded Rectangle 25"/>
          <p:cNvSpPr/>
          <p:nvPr/>
        </p:nvSpPr>
        <p:spPr>
          <a:xfrm>
            <a:off x="8778240" y="2194560"/>
            <a:ext cx="2926080" cy="594360"/>
          </a:xfrm>
          <a:prstGeom prst="roundRect">
            <a:avLst>
              <a:gd name="adj" fmla="val 8000"/>
            </a:avLst>
          </a:prstGeom>
          <a:solidFill>
            <a:srgbClr val="F65E3B"/>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dirty="0">
                <a:solidFill>
                  <a:srgbClr val="F9F6F2"/>
                </a:solidFill>
                <a:latin typeface="Segoe UI Semibold"/>
              </a:rPr>
              <a:t>Q(↑)  =   −</a:t>
            </a:r>
            <a:r>
              <a:rPr lang="en-US" b="1" dirty="0">
                <a:solidFill>
                  <a:srgbClr val="F9F6F2"/>
                </a:solidFill>
                <a:latin typeface="Segoe UI Semibold"/>
              </a:rPr>
              <a:t>1e9</a:t>
            </a:r>
            <a:endParaRPr sz="1800" b="1" dirty="0">
              <a:solidFill>
                <a:srgbClr val="F9F6F2"/>
              </a:solidFill>
              <a:latin typeface="Segoe UI Semibold"/>
            </a:endParaRPr>
          </a:p>
        </p:txBody>
      </p:sp>
      <p:sp>
        <p:nvSpPr>
          <p:cNvPr id="27" name="Rounded Rectangle 26"/>
          <p:cNvSpPr/>
          <p:nvPr/>
        </p:nvSpPr>
        <p:spPr>
          <a:xfrm>
            <a:off x="8778240" y="2907792"/>
            <a:ext cx="2926080" cy="59436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9F6F2"/>
                </a:solidFill>
                <a:latin typeface="Segoe UI Semibold"/>
              </a:rPr>
              <a:t>Q(→)  =  +12.7</a:t>
            </a:r>
          </a:p>
        </p:txBody>
      </p:sp>
      <p:sp>
        <p:nvSpPr>
          <p:cNvPr id="28" name="Rounded Rectangle 27"/>
          <p:cNvSpPr/>
          <p:nvPr/>
        </p:nvSpPr>
        <p:spPr>
          <a:xfrm>
            <a:off x="8778240" y="3621024"/>
            <a:ext cx="2926080" cy="59436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9F6F2"/>
                </a:solidFill>
                <a:latin typeface="Segoe UI Semibold"/>
              </a:rPr>
              <a:t>Q(↓)  =   +5.1</a:t>
            </a:r>
          </a:p>
        </p:txBody>
      </p:sp>
      <p:sp>
        <p:nvSpPr>
          <p:cNvPr id="29" name="Rounded Rectangle 28"/>
          <p:cNvSpPr/>
          <p:nvPr/>
        </p:nvSpPr>
        <p:spPr>
          <a:xfrm>
            <a:off x="8778240" y="4334256"/>
            <a:ext cx="2926080" cy="594360"/>
          </a:xfrm>
          <a:prstGeom prst="roundRect">
            <a:avLst>
              <a:gd name="adj" fmla="val 8000"/>
            </a:avLst>
          </a:prstGeom>
          <a:solidFill>
            <a:srgbClr val="F67C5F"/>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dirty="0">
                <a:solidFill>
                  <a:srgbClr val="F9F6F2"/>
                </a:solidFill>
                <a:latin typeface="Segoe UI Semibold"/>
              </a:rPr>
              <a:t>Q(←)  = </a:t>
            </a:r>
            <a:r>
              <a:rPr lang="en-GB" b="1" dirty="0">
                <a:solidFill>
                  <a:srgbClr val="F9F6F2"/>
                </a:solidFill>
                <a:latin typeface="Segoe UI Semibold"/>
              </a:rPr>
              <a:t>−1e9</a:t>
            </a:r>
            <a:endParaRPr sz="1800" b="1" dirty="0">
              <a:solidFill>
                <a:srgbClr val="F9F6F2"/>
              </a:solidFill>
              <a:latin typeface="Segoe UI Semibold"/>
            </a:endParaRPr>
          </a:p>
        </p:txBody>
      </p:sp>
      <p:sp>
        <p:nvSpPr>
          <p:cNvPr id="30" name="TextBox 29"/>
          <p:cNvSpPr txBox="1"/>
          <p:nvPr/>
        </p:nvSpPr>
        <p:spPr>
          <a:xfrm>
            <a:off x="8778240" y="5093208"/>
            <a:ext cx="2926080" cy="365760"/>
          </a:xfrm>
          <a:prstGeom prst="rect">
            <a:avLst/>
          </a:prstGeom>
          <a:noFill/>
        </p:spPr>
        <p:txBody>
          <a:bodyPr wrap="square" lIns="0" tIns="0" rIns="0" bIns="0">
            <a:spAutoFit/>
          </a:bodyPr>
          <a:lstStyle/>
          <a:p>
            <a:pPr algn="ctr"/>
            <a:r>
              <a:rPr sz="1400" b="1" i="0">
                <a:solidFill>
                  <a:srgbClr val="776E65"/>
                </a:solidFill>
                <a:latin typeface="Segoe UI Semibold"/>
              </a:rPr>
              <a:t>→ Pick swipe RIGHT</a:t>
            </a:r>
          </a:p>
        </p:txBody>
      </p:sp>
      <p:sp>
        <p:nvSpPr>
          <p:cNvPr id="31" name="TextBox 30"/>
          <p:cNvSpPr txBox="1"/>
          <p:nvPr/>
        </p:nvSpPr>
        <p:spPr>
          <a:xfrm>
            <a:off x="548640" y="6126480"/>
            <a:ext cx="11064240" cy="184666"/>
          </a:xfrm>
          <a:prstGeom prst="rect">
            <a:avLst/>
          </a:prstGeom>
          <a:noFill/>
        </p:spPr>
        <p:txBody>
          <a:bodyPr wrap="square" lIns="0" tIns="0" rIns="0" bIns="0">
            <a:spAutoFit/>
          </a:bodyPr>
          <a:lstStyle/>
          <a:p>
            <a:pPr algn="ctr"/>
            <a:r>
              <a:rPr sz="1200" b="0" i="1" dirty="0">
                <a:solidFill>
                  <a:srgbClr val="A9A097"/>
                </a:solidFill>
                <a:latin typeface="Segoe UI"/>
              </a:rPr>
              <a:t>In practice </a:t>
            </a:r>
            <a:r>
              <a:rPr lang="en-US" sz="1200" i="1" dirty="0">
                <a:solidFill>
                  <a:srgbClr val="A9A097"/>
                </a:solidFill>
                <a:latin typeface="Segoe UI"/>
              </a:rPr>
              <a:t>Q-values</a:t>
            </a:r>
            <a:r>
              <a:rPr sz="1200" b="0" i="1" dirty="0">
                <a:solidFill>
                  <a:srgbClr val="A9A097"/>
                </a:solidFill>
                <a:latin typeface="Segoe UI"/>
              </a:rPr>
              <a:t> shift every gradient step as the network learns from its mistakes.</a:t>
            </a:r>
          </a:p>
        </p:txBody>
      </p:sp>
      <p:sp>
        <p:nvSpPr>
          <p:cNvPr id="32" name="TextBox 31"/>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09</a:t>
            </a:r>
            <a:r>
              <a:rPr sz="1000" b="0" i="0">
                <a:solidFill>
                  <a:srgbClr val="A9A097"/>
                </a:solidFill>
                <a:latin typeface="Segoe UI"/>
              </a:rPr>
              <a:t> / 19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DQN — one training step</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Play · store · sample · compute target · gradient step  (×1,000,000)</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57200" y="2302689"/>
            <a:ext cx="2157984" cy="914400"/>
          </a:xfrm>
          <a:prstGeom prst="roundRect">
            <a:avLst>
              <a:gd name="adj" fmla="val 8000"/>
            </a:avLst>
          </a:prstGeom>
          <a:solidFill>
            <a:srgbClr val="F2B179"/>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dirty="0">
                <a:solidFill>
                  <a:srgbClr val="F9F6F2"/>
                </a:solidFill>
                <a:latin typeface="Segoe UI Semibold"/>
              </a:rPr>
              <a:t>Play a move</a:t>
            </a:r>
          </a:p>
        </p:txBody>
      </p:sp>
      <p:sp>
        <p:nvSpPr>
          <p:cNvPr id="7" name="TextBox 6"/>
          <p:cNvSpPr txBox="1"/>
          <p:nvPr/>
        </p:nvSpPr>
        <p:spPr>
          <a:xfrm>
            <a:off x="548640" y="3308529"/>
            <a:ext cx="1975104" cy="2103120"/>
          </a:xfrm>
          <a:prstGeom prst="rect">
            <a:avLst/>
          </a:prstGeom>
          <a:noFill/>
        </p:spPr>
        <p:txBody>
          <a:bodyPr wrap="square" lIns="0" tIns="0" rIns="0" bIns="0">
            <a:spAutoFit/>
          </a:bodyPr>
          <a:lstStyle/>
          <a:p>
            <a:pPr algn="ctr"/>
            <a:r>
              <a:rPr sz="1300" b="0" i="0" dirty="0">
                <a:solidFill>
                  <a:srgbClr val="776E65"/>
                </a:solidFill>
                <a:latin typeface="Segoe UI"/>
              </a:rPr>
              <a:t>Observe s, swipe a,
get reward r and
next board s'</a:t>
            </a:r>
          </a:p>
        </p:txBody>
      </p:sp>
      <p:cxnSp>
        <p:nvCxnSpPr>
          <p:cNvPr id="8" name="Connector 7"/>
          <p:cNvCxnSpPr/>
          <p:nvPr/>
        </p:nvCxnSpPr>
        <p:spPr>
          <a:xfrm>
            <a:off x="2624328" y="2759889"/>
            <a:ext cx="13716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79776" y="2302689"/>
            <a:ext cx="2157984" cy="91440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9F6F2"/>
                </a:solidFill>
                <a:latin typeface="Segoe UI Semibold"/>
              </a:rPr>
              <a:t>Store in buffer</a:t>
            </a:r>
          </a:p>
        </p:txBody>
      </p:sp>
      <p:sp>
        <p:nvSpPr>
          <p:cNvPr id="5" name="Rounded Rectangle 4"/>
          <p:cNvSpPr/>
          <p:nvPr/>
        </p:nvSpPr>
        <p:spPr>
          <a:xfrm>
            <a:off x="1284732" y="1845489"/>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1</a:t>
            </a:r>
          </a:p>
        </p:txBody>
      </p:sp>
      <p:sp>
        <p:nvSpPr>
          <p:cNvPr id="11" name="TextBox 10"/>
          <p:cNvSpPr txBox="1"/>
          <p:nvPr/>
        </p:nvSpPr>
        <p:spPr>
          <a:xfrm>
            <a:off x="2871216" y="3308529"/>
            <a:ext cx="1975104" cy="2103120"/>
          </a:xfrm>
          <a:prstGeom prst="rect">
            <a:avLst/>
          </a:prstGeom>
          <a:noFill/>
        </p:spPr>
        <p:txBody>
          <a:bodyPr wrap="square" lIns="0" tIns="0" rIns="0" bIns="0">
            <a:spAutoFit/>
          </a:bodyPr>
          <a:lstStyle/>
          <a:p>
            <a:pPr algn="ctr"/>
            <a:r>
              <a:rPr sz="1300" b="0" i="0" dirty="0">
                <a:solidFill>
                  <a:srgbClr val="776E65"/>
                </a:solidFill>
                <a:latin typeface="Segoe UI"/>
              </a:rPr>
              <a:t>Append (s, a, r, s', done)
to a 100k-step
ring buffer</a:t>
            </a:r>
          </a:p>
        </p:txBody>
      </p:sp>
      <p:cxnSp>
        <p:nvCxnSpPr>
          <p:cNvPr id="12" name="Connector 11"/>
          <p:cNvCxnSpPr/>
          <p:nvPr/>
        </p:nvCxnSpPr>
        <p:spPr>
          <a:xfrm>
            <a:off x="4946904" y="2759889"/>
            <a:ext cx="13716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02352" y="2302689"/>
            <a:ext cx="2157984" cy="914400"/>
          </a:xfrm>
          <a:prstGeom prst="roundRect">
            <a:avLst>
              <a:gd name="adj" fmla="val 8000"/>
            </a:avLst>
          </a:prstGeom>
          <a:solidFill>
            <a:srgbClr val="F67C5F"/>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9F6F2"/>
                </a:solidFill>
                <a:latin typeface="Segoe UI Semibold"/>
              </a:rPr>
              <a:t>Sample mini-batch</a:t>
            </a:r>
          </a:p>
        </p:txBody>
      </p:sp>
      <p:sp>
        <p:nvSpPr>
          <p:cNvPr id="9" name="Rounded Rectangle 8"/>
          <p:cNvSpPr/>
          <p:nvPr/>
        </p:nvSpPr>
        <p:spPr>
          <a:xfrm>
            <a:off x="3607308" y="1845489"/>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2</a:t>
            </a:r>
          </a:p>
        </p:txBody>
      </p:sp>
      <p:sp>
        <p:nvSpPr>
          <p:cNvPr id="15" name="TextBox 14"/>
          <p:cNvSpPr txBox="1"/>
          <p:nvPr/>
        </p:nvSpPr>
        <p:spPr>
          <a:xfrm>
            <a:off x="5193792" y="3308529"/>
            <a:ext cx="1975104" cy="600164"/>
          </a:xfrm>
          <a:prstGeom prst="rect">
            <a:avLst/>
          </a:prstGeom>
          <a:noFill/>
        </p:spPr>
        <p:txBody>
          <a:bodyPr wrap="square" lIns="0" tIns="0" rIns="0" bIns="0">
            <a:spAutoFit/>
          </a:bodyPr>
          <a:lstStyle/>
          <a:p>
            <a:pPr algn="ctr"/>
            <a:r>
              <a:rPr sz="1300" b="0" i="0" dirty="0">
                <a:solidFill>
                  <a:srgbClr val="776E65"/>
                </a:solidFill>
                <a:latin typeface="Segoe UI"/>
              </a:rPr>
              <a:t>Pull 512 random
old transitions
from the buffer</a:t>
            </a:r>
            <a:r>
              <a:rPr lang="en-US" sz="1300" b="0" i="0" dirty="0">
                <a:solidFill>
                  <a:srgbClr val="776E65"/>
                </a:solidFill>
                <a:latin typeface="Segoe UI"/>
              </a:rPr>
              <a:t> (0.5%)</a:t>
            </a:r>
            <a:endParaRPr sz="1300" b="0" i="0" dirty="0">
              <a:solidFill>
                <a:srgbClr val="776E65"/>
              </a:solidFill>
              <a:latin typeface="Segoe UI"/>
            </a:endParaRPr>
          </a:p>
        </p:txBody>
      </p:sp>
      <p:cxnSp>
        <p:nvCxnSpPr>
          <p:cNvPr id="16" name="Connector 15"/>
          <p:cNvCxnSpPr/>
          <p:nvPr/>
        </p:nvCxnSpPr>
        <p:spPr>
          <a:xfrm>
            <a:off x="7269480" y="2759889"/>
            <a:ext cx="13716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24928" y="2302689"/>
            <a:ext cx="2157984" cy="914400"/>
          </a:xfrm>
          <a:prstGeom prst="roundRect">
            <a:avLst>
              <a:gd name="adj" fmla="val 8000"/>
            </a:avLst>
          </a:prstGeom>
          <a:solidFill>
            <a:srgbClr val="EDCC61"/>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9F6F2"/>
                </a:solidFill>
                <a:latin typeface="Segoe UI Semibold"/>
              </a:rPr>
              <a:t>Compute target</a:t>
            </a:r>
          </a:p>
        </p:txBody>
      </p:sp>
      <p:sp>
        <p:nvSpPr>
          <p:cNvPr id="13" name="Rounded Rectangle 12"/>
          <p:cNvSpPr/>
          <p:nvPr/>
        </p:nvSpPr>
        <p:spPr>
          <a:xfrm>
            <a:off x="5929884" y="1845489"/>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3</a:t>
            </a:r>
          </a:p>
        </p:txBody>
      </p:sp>
      <p:sp>
        <p:nvSpPr>
          <p:cNvPr id="19" name="TextBox 18"/>
          <p:cNvSpPr txBox="1"/>
          <p:nvPr/>
        </p:nvSpPr>
        <p:spPr>
          <a:xfrm>
            <a:off x="7516368" y="3308529"/>
            <a:ext cx="1975104" cy="1800493"/>
          </a:xfrm>
          <a:prstGeom prst="rect">
            <a:avLst/>
          </a:prstGeom>
          <a:noFill/>
        </p:spPr>
        <p:txBody>
          <a:bodyPr wrap="square" lIns="0" tIns="0" rIns="0" bIns="0">
            <a:spAutoFit/>
          </a:bodyPr>
          <a:lstStyle/>
          <a:p>
            <a:pPr algn="ctr"/>
            <a:r>
              <a:rPr sz="1300" b="0" i="0" dirty="0">
                <a:solidFill>
                  <a:srgbClr val="776E65"/>
                </a:solidFill>
                <a:latin typeface="Segoe UI"/>
              </a:rPr>
              <a:t>target </a:t>
            </a:r>
            <a:endParaRPr lang="en-US" sz="1300" b="0" i="0" dirty="0">
              <a:solidFill>
                <a:srgbClr val="776E65"/>
              </a:solidFill>
              <a:latin typeface="Segoe UI"/>
            </a:endParaRPr>
          </a:p>
          <a:p>
            <a:pPr algn="ctr"/>
            <a:r>
              <a:rPr sz="1300" b="0" i="0" dirty="0">
                <a:solidFill>
                  <a:srgbClr val="776E65"/>
                </a:solidFill>
                <a:latin typeface="Segoe UI"/>
              </a:rPr>
              <a:t>= </a:t>
            </a:r>
            <a:endParaRPr lang="en-US" sz="1300" b="0" i="0" dirty="0">
              <a:solidFill>
                <a:srgbClr val="776E65"/>
              </a:solidFill>
              <a:latin typeface="Segoe UI"/>
            </a:endParaRPr>
          </a:p>
          <a:p>
            <a:pPr algn="ctr"/>
            <a:r>
              <a:rPr sz="1300" b="0" i="0" dirty="0">
                <a:solidFill>
                  <a:srgbClr val="776E65"/>
                </a:solidFill>
                <a:latin typeface="Segoe UI"/>
              </a:rPr>
              <a:t>r + γ · </a:t>
            </a:r>
            <a:r>
              <a:rPr lang="en-GB" sz="1300" b="0" i="0" dirty="0">
                <a:solidFill>
                  <a:srgbClr val="776E65"/>
                </a:solidFill>
                <a:latin typeface="Segoe UI"/>
              </a:rPr>
              <a:t>m</a:t>
            </a:r>
            <a:r>
              <a:rPr sz="1300" b="0" i="0" dirty="0">
                <a:solidFill>
                  <a:srgbClr val="776E65"/>
                </a:solidFill>
                <a:latin typeface="Segoe UI"/>
              </a:rPr>
              <a:t>ax</a:t>
            </a:r>
            <a:r>
              <a:rPr lang="en-US" sz="1300" b="0" i="0" dirty="0">
                <a:solidFill>
                  <a:srgbClr val="776E65"/>
                </a:solidFill>
                <a:latin typeface="Segoe UI"/>
              </a:rPr>
              <a:t> </a:t>
            </a:r>
            <a:r>
              <a:rPr sz="1300" b="0" i="0" dirty="0" err="1">
                <a:solidFill>
                  <a:srgbClr val="776E65"/>
                </a:solidFill>
                <a:latin typeface="Segoe UI"/>
              </a:rPr>
              <a:t>Q_target</a:t>
            </a:r>
            <a:r>
              <a:rPr sz="1300" b="0" i="0" dirty="0">
                <a:solidFill>
                  <a:srgbClr val="776E65"/>
                </a:solidFill>
                <a:latin typeface="Segoe UI"/>
              </a:rPr>
              <a:t>(s', a')
</a:t>
            </a:r>
            <a:endParaRPr lang="en-US" sz="1300" dirty="0">
              <a:solidFill>
                <a:srgbClr val="776E65"/>
              </a:solidFill>
              <a:latin typeface="Segoe UI"/>
            </a:endParaRPr>
          </a:p>
          <a:p>
            <a:pPr algn="ctr"/>
            <a:endParaRPr lang="en-GB" sz="1300" dirty="0">
              <a:solidFill>
                <a:srgbClr val="776E65"/>
              </a:solidFill>
              <a:latin typeface="Segoe UI"/>
            </a:endParaRPr>
          </a:p>
          <a:p>
            <a:pPr algn="ctr"/>
            <a:r>
              <a:rPr lang="en-US" sz="1300" b="0" i="0" dirty="0">
                <a:solidFill>
                  <a:srgbClr val="776E65"/>
                </a:solidFill>
                <a:latin typeface="Segoe UI"/>
              </a:rPr>
              <a:t>Example:</a:t>
            </a:r>
          </a:p>
          <a:p>
            <a:pPr algn="ctr"/>
            <a:r>
              <a:rPr lang="en-US" sz="1300" b="0" i="0" dirty="0">
                <a:solidFill>
                  <a:srgbClr val="776E65"/>
                </a:solidFill>
                <a:latin typeface="Segoe UI"/>
              </a:rPr>
              <a:t>target = </a:t>
            </a:r>
          </a:p>
          <a:p>
            <a:pPr algn="ctr"/>
            <a:r>
              <a:rPr lang="en-US" sz="1300" b="0" i="0" dirty="0">
                <a:solidFill>
                  <a:srgbClr val="776E65"/>
                </a:solidFill>
                <a:latin typeface="Segoe UI"/>
              </a:rPr>
              <a:t>3 + 0.99 · 20 = 22.8</a:t>
            </a:r>
          </a:p>
          <a:p>
            <a:pPr algn="ctr"/>
            <a:r>
              <a:rPr lang="en-US" sz="1300" b="0" i="0" dirty="0">
                <a:solidFill>
                  <a:srgbClr val="776E65"/>
                </a:solidFill>
                <a:latin typeface="Segoe UI"/>
              </a:rPr>
              <a:t>        </a:t>
            </a:r>
            <a:endParaRPr sz="1300" b="0" i="0" dirty="0">
              <a:solidFill>
                <a:srgbClr val="776E65"/>
              </a:solidFill>
              <a:latin typeface="Segoe UI"/>
            </a:endParaRPr>
          </a:p>
        </p:txBody>
      </p:sp>
      <p:cxnSp>
        <p:nvCxnSpPr>
          <p:cNvPr id="20" name="Connector 19"/>
          <p:cNvCxnSpPr/>
          <p:nvPr/>
        </p:nvCxnSpPr>
        <p:spPr>
          <a:xfrm>
            <a:off x="9592056" y="2759889"/>
            <a:ext cx="137160"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747504" y="2302689"/>
            <a:ext cx="2157984" cy="91440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9F6F2"/>
                </a:solidFill>
                <a:latin typeface="Segoe UI Semibold"/>
              </a:rPr>
              <a:t>Gradient step</a:t>
            </a:r>
          </a:p>
        </p:txBody>
      </p:sp>
      <p:sp>
        <p:nvSpPr>
          <p:cNvPr id="17" name="Rounded Rectangle 16"/>
          <p:cNvSpPr/>
          <p:nvPr/>
        </p:nvSpPr>
        <p:spPr>
          <a:xfrm>
            <a:off x="8252460" y="1845489"/>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4</a:t>
            </a:r>
          </a:p>
        </p:txBody>
      </p:sp>
      <p:sp>
        <p:nvSpPr>
          <p:cNvPr id="23" name="TextBox 22"/>
          <p:cNvSpPr txBox="1"/>
          <p:nvPr/>
        </p:nvSpPr>
        <p:spPr>
          <a:xfrm>
            <a:off x="9838944" y="3308529"/>
            <a:ext cx="1975104" cy="2103120"/>
          </a:xfrm>
          <a:prstGeom prst="rect">
            <a:avLst/>
          </a:prstGeom>
          <a:noFill/>
        </p:spPr>
        <p:txBody>
          <a:bodyPr wrap="square" lIns="0" tIns="0" rIns="0" bIns="0">
            <a:spAutoFit/>
          </a:bodyPr>
          <a:lstStyle/>
          <a:p>
            <a:pPr algn="ctr"/>
            <a:r>
              <a:rPr sz="1300" b="0" i="0">
                <a:solidFill>
                  <a:srgbClr val="776E65"/>
                </a:solidFill>
                <a:latin typeface="Segoe UI"/>
              </a:rPr>
              <a:t>Smooth-L1 loss
Backprop
Adam (5e-4)</a:t>
            </a:r>
          </a:p>
        </p:txBody>
      </p:sp>
      <p:sp>
        <p:nvSpPr>
          <p:cNvPr id="21" name="Rounded Rectangle 20"/>
          <p:cNvSpPr/>
          <p:nvPr/>
        </p:nvSpPr>
        <p:spPr>
          <a:xfrm>
            <a:off x="10575036" y="1845489"/>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5</a:t>
            </a:r>
          </a:p>
        </p:txBody>
      </p:sp>
      <p:sp>
        <p:nvSpPr>
          <p:cNvPr id="26" name="TextBox 25"/>
          <p:cNvSpPr txBox="1"/>
          <p:nvPr/>
        </p:nvSpPr>
        <p:spPr>
          <a:xfrm>
            <a:off x="10515600" y="6473952"/>
            <a:ext cx="1280160" cy="153888"/>
          </a:xfrm>
          <a:prstGeom prst="rect">
            <a:avLst/>
          </a:prstGeom>
          <a:noFill/>
        </p:spPr>
        <p:txBody>
          <a:bodyPr wrap="square" lIns="0" tIns="0" rIns="0" bIns="0">
            <a:spAutoFit/>
          </a:bodyPr>
          <a:lstStyle/>
          <a:p>
            <a:pPr algn="r"/>
            <a:r>
              <a:rPr lang="de-DE" sz="1000" dirty="0">
                <a:solidFill>
                  <a:srgbClr val="A9A097"/>
                </a:solidFill>
                <a:latin typeface="Segoe UI"/>
              </a:rPr>
              <a:t>10</a:t>
            </a:r>
            <a:r>
              <a:rPr sz="1000" b="0" i="0">
                <a:solidFill>
                  <a:srgbClr val="A9A097"/>
                </a:solidFill>
                <a:latin typeface="Segoe UI"/>
              </a:rPr>
              <a:t> / 19</a:t>
            </a:r>
          </a:p>
        </p:txBody>
      </p:sp>
      <p:sp>
        <p:nvSpPr>
          <p:cNvPr id="29" name="TextBox 28">
            <a:extLst>
              <a:ext uri="{FF2B5EF4-FFF2-40B4-BE49-F238E27FC236}">
                <a16:creationId xmlns:a16="http://schemas.microsoft.com/office/drawing/2014/main" id="{EC96FD65-A4FD-9E10-BDB5-ECAE487B3373}"/>
              </a:ext>
            </a:extLst>
          </p:cNvPr>
          <p:cNvSpPr txBox="1"/>
          <p:nvPr/>
        </p:nvSpPr>
        <p:spPr>
          <a:xfrm>
            <a:off x="7249948" y="5169982"/>
            <a:ext cx="928458" cy="400110"/>
          </a:xfrm>
          <a:prstGeom prst="rect">
            <a:avLst/>
          </a:prstGeom>
          <a:noFill/>
        </p:spPr>
        <p:txBody>
          <a:bodyPr wrap="square" lIns="0" tIns="0" rIns="0" bIns="0">
            <a:spAutoFit/>
          </a:bodyPr>
          <a:lstStyle/>
          <a:p>
            <a:pPr algn="ctr"/>
            <a:r>
              <a:rPr lang="en-US" sz="1300" b="0" i="0" dirty="0">
                <a:solidFill>
                  <a:srgbClr val="776E65"/>
                </a:solidFill>
                <a:latin typeface="Segoe UI"/>
              </a:rPr>
              <a:t>Reward now</a:t>
            </a:r>
          </a:p>
          <a:p>
            <a:pPr algn="ctr"/>
            <a:r>
              <a:rPr lang="en-US" sz="1300" b="0" i="0" dirty="0">
                <a:solidFill>
                  <a:srgbClr val="776E65"/>
                </a:solidFill>
                <a:latin typeface="Segoe UI"/>
              </a:rPr>
              <a:t>        </a:t>
            </a:r>
            <a:endParaRPr sz="1300" b="0" i="0" dirty="0">
              <a:solidFill>
                <a:srgbClr val="776E65"/>
              </a:solidFill>
              <a:latin typeface="Segoe UI"/>
            </a:endParaRPr>
          </a:p>
        </p:txBody>
      </p:sp>
      <p:sp>
        <p:nvSpPr>
          <p:cNvPr id="30" name="TextBox 29">
            <a:extLst>
              <a:ext uri="{FF2B5EF4-FFF2-40B4-BE49-F238E27FC236}">
                <a16:creationId xmlns:a16="http://schemas.microsoft.com/office/drawing/2014/main" id="{727FE48F-C622-0730-7CFD-B3876EAB37BA}"/>
              </a:ext>
            </a:extLst>
          </p:cNvPr>
          <p:cNvSpPr txBox="1"/>
          <p:nvPr/>
        </p:nvSpPr>
        <p:spPr>
          <a:xfrm>
            <a:off x="6286173" y="5943600"/>
            <a:ext cx="3946569" cy="400110"/>
          </a:xfrm>
          <a:prstGeom prst="rect">
            <a:avLst/>
          </a:prstGeom>
          <a:noFill/>
        </p:spPr>
        <p:txBody>
          <a:bodyPr wrap="square" lIns="0" tIns="0" rIns="0" bIns="0">
            <a:spAutoFit/>
          </a:bodyPr>
          <a:lstStyle/>
          <a:p>
            <a:pPr algn="ctr"/>
            <a:r>
              <a:rPr lang="en-US" sz="1300" b="0" i="0">
                <a:solidFill>
                  <a:srgbClr val="776E65"/>
                </a:solidFill>
                <a:latin typeface="Segoe UI"/>
              </a:rPr>
              <a:t>Discount next board</a:t>
            </a:r>
          </a:p>
          <a:p>
            <a:pPr algn="ctr"/>
            <a:r>
              <a:rPr lang="en-US" sz="1300" b="0" i="0">
                <a:solidFill>
                  <a:srgbClr val="776E65"/>
                </a:solidFill>
                <a:latin typeface="Segoe UI"/>
              </a:rPr>
              <a:t>        </a:t>
            </a:r>
            <a:endParaRPr sz="1300" b="0" i="0">
              <a:solidFill>
                <a:srgbClr val="776E65"/>
              </a:solidFill>
              <a:latin typeface="Segoe UI"/>
            </a:endParaRPr>
          </a:p>
        </p:txBody>
      </p:sp>
      <p:sp>
        <p:nvSpPr>
          <p:cNvPr id="31" name="TextBox 30">
            <a:extLst>
              <a:ext uri="{FF2B5EF4-FFF2-40B4-BE49-F238E27FC236}">
                <a16:creationId xmlns:a16="http://schemas.microsoft.com/office/drawing/2014/main" id="{5284052B-251E-10DB-F654-5EF60265480B}"/>
              </a:ext>
            </a:extLst>
          </p:cNvPr>
          <p:cNvSpPr txBox="1"/>
          <p:nvPr/>
        </p:nvSpPr>
        <p:spPr>
          <a:xfrm>
            <a:off x="8178406" y="5318292"/>
            <a:ext cx="2171306" cy="400110"/>
          </a:xfrm>
          <a:prstGeom prst="rect">
            <a:avLst/>
          </a:prstGeom>
          <a:noFill/>
        </p:spPr>
        <p:txBody>
          <a:bodyPr wrap="square" lIns="0" tIns="0" rIns="0" bIns="0">
            <a:spAutoFit/>
          </a:bodyPr>
          <a:lstStyle/>
          <a:p>
            <a:pPr algn="ctr"/>
            <a:r>
              <a:rPr lang="en-US" sz="1300" b="0" i="0">
                <a:solidFill>
                  <a:srgbClr val="776E65"/>
                </a:solidFill>
                <a:latin typeface="Segoe UI"/>
              </a:rPr>
              <a:t>Value of next board</a:t>
            </a:r>
          </a:p>
          <a:p>
            <a:pPr algn="ctr"/>
            <a:r>
              <a:rPr lang="en-US" sz="1300" b="0" i="0">
                <a:solidFill>
                  <a:srgbClr val="776E65"/>
                </a:solidFill>
                <a:latin typeface="Segoe UI"/>
              </a:rPr>
              <a:t>        </a:t>
            </a:r>
            <a:endParaRPr sz="1300" b="0" i="0">
              <a:solidFill>
                <a:srgbClr val="776E65"/>
              </a:solidFill>
              <a:latin typeface="Segoe UI"/>
            </a:endParaRPr>
          </a:p>
        </p:txBody>
      </p:sp>
      <p:cxnSp>
        <p:nvCxnSpPr>
          <p:cNvPr id="33" name="Straight Connector 32">
            <a:extLst>
              <a:ext uri="{FF2B5EF4-FFF2-40B4-BE49-F238E27FC236}">
                <a16:creationId xmlns:a16="http://schemas.microsoft.com/office/drawing/2014/main" id="{F8B891D1-EBA3-5BEA-0A25-2682F3F75F18}"/>
              </a:ext>
            </a:extLst>
          </p:cNvPr>
          <p:cNvCxnSpPr>
            <a:cxnSpLocks/>
          </p:cNvCxnSpPr>
          <p:nvPr/>
        </p:nvCxnSpPr>
        <p:spPr>
          <a:xfrm>
            <a:off x="7846174" y="4891208"/>
            <a:ext cx="0" cy="278774"/>
          </a:xfrm>
          <a:prstGeom prst="line">
            <a:avLst/>
          </a:prstGeom>
          <a:ln w="9525">
            <a:solidFill>
              <a:srgbClr val="9E978D"/>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735CB9F-918D-D2F1-64A7-3984AB5736C8}"/>
              </a:ext>
            </a:extLst>
          </p:cNvPr>
          <p:cNvCxnSpPr>
            <a:cxnSpLocks/>
          </p:cNvCxnSpPr>
          <p:nvPr/>
        </p:nvCxnSpPr>
        <p:spPr>
          <a:xfrm>
            <a:off x="8259458" y="4891208"/>
            <a:ext cx="0" cy="965582"/>
          </a:xfrm>
          <a:prstGeom prst="line">
            <a:avLst/>
          </a:prstGeom>
          <a:ln w="9525">
            <a:solidFill>
              <a:srgbClr val="9E978D"/>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F7DD7077-8538-72A3-EE78-237C121037C5}"/>
              </a:ext>
            </a:extLst>
          </p:cNvPr>
          <p:cNvCxnSpPr>
            <a:cxnSpLocks/>
          </p:cNvCxnSpPr>
          <p:nvPr/>
        </p:nvCxnSpPr>
        <p:spPr>
          <a:xfrm>
            <a:off x="8622170" y="4867477"/>
            <a:ext cx="0" cy="405563"/>
          </a:xfrm>
          <a:prstGeom prst="line">
            <a:avLst/>
          </a:prstGeom>
          <a:ln w="9525">
            <a:solidFill>
              <a:srgbClr val="9E978D"/>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972BFB7-8572-654A-7636-334ADEB30502}"/>
              </a:ext>
            </a:extLst>
          </p:cNvPr>
          <p:cNvSpPr txBox="1"/>
          <p:nvPr/>
        </p:nvSpPr>
        <p:spPr>
          <a:xfrm>
            <a:off x="1161075" y="4208775"/>
            <a:ext cx="750233" cy="430887"/>
          </a:xfrm>
          <a:prstGeom prst="rect">
            <a:avLst/>
          </a:prstGeom>
          <a:noFill/>
        </p:spPr>
        <p:txBody>
          <a:bodyPr wrap="square" lIns="0" tIns="0" rIns="0" bIns="0">
            <a:spAutoFit/>
          </a:bodyPr>
          <a:lstStyle/>
          <a:p>
            <a:r>
              <a:rPr lang="en-GB" sz="1400" dirty="0">
                <a:solidFill>
                  <a:srgbClr val="8C8C8C"/>
                </a:solidFill>
                <a:latin typeface="Segoe UI" panose="020B0502040204020203" pitchFamily="34" charset="0"/>
                <a:cs typeface="Segoe UI" panose="020B0502040204020203" pitchFamily="34" charset="0"/>
              </a:rPr>
              <a:t>Example</a:t>
            </a:r>
          </a:p>
          <a:p>
            <a:r>
              <a:rPr lang="en-GB" sz="1400" dirty="0">
                <a:solidFill>
                  <a:srgbClr val="8C8C8C"/>
                </a:solidFill>
                <a:latin typeface="Segoe UI" panose="020B0502040204020203" pitchFamily="34" charset="0"/>
                <a:cs typeface="Segoe UI" panose="020B0502040204020203" pitchFamily="34" charset="0"/>
              </a:rPr>
              <a:t>Q(s, →)</a:t>
            </a:r>
            <a:endParaRPr lang="en-GB" sz="1400" dirty="0">
              <a:latin typeface="Segoe UI" panose="020B0502040204020203" pitchFamily="34" charset="0"/>
              <a:cs typeface="Segoe UI" panose="020B0502040204020203"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N-tuple TD — pattern-based value</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Decompose the board into 4 small patches · sum 24 table reads</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02920" y="1691640"/>
            <a:ext cx="1902683" cy="1902683"/>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40080"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054851"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469623"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884395"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0080"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054851"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1469623"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884395"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40080"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054851"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1469623"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884395"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40080"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54851"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469623"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884395"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685763"/>
            <a:ext cx="1902683" cy="365760"/>
          </a:xfrm>
          <a:prstGeom prst="rect">
            <a:avLst/>
          </a:prstGeom>
          <a:noFill/>
        </p:spPr>
        <p:txBody>
          <a:bodyPr wrap="square" lIns="0" tIns="0" rIns="0" bIns="0">
            <a:spAutoFit/>
          </a:bodyPr>
          <a:lstStyle/>
          <a:p>
            <a:pPr algn="ctr"/>
            <a:r>
              <a:rPr sz="1500" b="1" i="0">
                <a:solidFill>
                  <a:srgbClr val="776E65"/>
                </a:solidFill>
                <a:latin typeface="Segoe UI Semibold"/>
              </a:rPr>
              <a:t>Pattern A</a:t>
            </a:r>
          </a:p>
        </p:txBody>
      </p:sp>
      <p:sp>
        <p:nvSpPr>
          <p:cNvPr id="23" name="TextBox 22"/>
          <p:cNvSpPr txBox="1"/>
          <p:nvPr/>
        </p:nvSpPr>
        <p:spPr>
          <a:xfrm>
            <a:off x="502920" y="4051523"/>
            <a:ext cx="1902683" cy="365760"/>
          </a:xfrm>
          <a:prstGeom prst="rect">
            <a:avLst/>
          </a:prstGeom>
          <a:noFill/>
        </p:spPr>
        <p:txBody>
          <a:bodyPr wrap="square" lIns="0" tIns="0" rIns="0" bIns="0">
            <a:spAutoFit/>
          </a:bodyPr>
          <a:lstStyle/>
          <a:p>
            <a:pPr algn="ctr"/>
            <a:r>
              <a:rPr sz="1200" b="0" i="1">
                <a:solidFill>
                  <a:srgbClr val="A9A097"/>
                </a:solidFill>
                <a:latin typeface="Segoe UI"/>
              </a:rPr>
              <a:t>6-cell axe</a:t>
            </a:r>
          </a:p>
        </p:txBody>
      </p:sp>
      <p:sp>
        <p:nvSpPr>
          <p:cNvPr id="24" name="Rounded Rectangle 23"/>
          <p:cNvSpPr/>
          <p:nvPr/>
        </p:nvSpPr>
        <p:spPr>
          <a:xfrm>
            <a:off x="2771363" y="1691640"/>
            <a:ext cx="1902683" cy="1902683"/>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2908523" y="1828800"/>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3323295" y="1828800"/>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3738067" y="1828800"/>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4152839" y="1828800"/>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2908523"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3323295"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3738067"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4152839"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2908523" y="2658343"/>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3323295" y="2658343"/>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3738067"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4152839"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2908523"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3323295"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3738067"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4152839"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771363" y="3685763"/>
            <a:ext cx="1902683" cy="365760"/>
          </a:xfrm>
          <a:prstGeom prst="rect">
            <a:avLst/>
          </a:prstGeom>
          <a:noFill/>
        </p:spPr>
        <p:txBody>
          <a:bodyPr wrap="square" lIns="0" tIns="0" rIns="0" bIns="0">
            <a:spAutoFit/>
          </a:bodyPr>
          <a:lstStyle/>
          <a:p>
            <a:pPr algn="ctr"/>
            <a:r>
              <a:rPr sz="1500" b="1" i="0">
                <a:solidFill>
                  <a:srgbClr val="776E65"/>
                </a:solidFill>
                <a:latin typeface="Segoe UI Semibold"/>
              </a:rPr>
              <a:t>Pattern B</a:t>
            </a:r>
          </a:p>
        </p:txBody>
      </p:sp>
      <p:sp>
        <p:nvSpPr>
          <p:cNvPr id="42" name="TextBox 41"/>
          <p:cNvSpPr txBox="1"/>
          <p:nvPr/>
        </p:nvSpPr>
        <p:spPr>
          <a:xfrm>
            <a:off x="2771363" y="4051523"/>
            <a:ext cx="1902683" cy="365760"/>
          </a:xfrm>
          <a:prstGeom prst="rect">
            <a:avLst/>
          </a:prstGeom>
          <a:noFill/>
        </p:spPr>
        <p:txBody>
          <a:bodyPr wrap="square" lIns="0" tIns="0" rIns="0" bIns="0">
            <a:spAutoFit/>
          </a:bodyPr>
          <a:lstStyle/>
          <a:p>
            <a:pPr algn="ctr"/>
            <a:r>
              <a:rPr sz="1200" b="0" i="1">
                <a:solidFill>
                  <a:srgbClr val="A9A097"/>
                </a:solidFill>
                <a:latin typeface="Segoe UI"/>
              </a:rPr>
              <a:t>row-2 axe</a:t>
            </a:r>
          </a:p>
        </p:txBody>
      </p:sp>
      <p:sp>
        <p:nvSpPr>
          <p:cNvPr id="43" name="Rounded Rectangle 42"/>
          <p:cNvSpPr/>
          <p:nvPr/>
        </p:nvSpPr>
        <p:spPr>
          <a:xfrm>
            <a:off x="5039807" y="1691640"/>
            <a:ext cx="1902683" cy="1902683"/>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176967"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5591738"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5"/>
          <p:cNvSpPr/>
          <p:nvPr/>
        </p:nvSpPr>
        <p:spPr>
          <a:xfrm>
            <a:off x="6006510"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6421282"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5176967"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5591738"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p:cNvSpPr/>
          <p:nvPr/>
        </p:nvSpPr>
        <p:spPr>
          <a:xfrm>
            <a:off x="6006510"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6421282"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p:cNvSpPr/>
          <p:nvPr/>
        </p:nvSpPr>
        <p:spPr>
          <a:xfrm>
            <a:off x="5176967"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5591738"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6006510"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6421282"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ounded Rectangle 55"/>
          <p:cNvSpPr/>
          <p:nvPr/>
        </p:nvSpPr>
        <p:spPr>
          <a:xfrm>
            <a:off x="5176967"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5591738"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6006510"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ounded Rectangle 58"/>
          <p:cNvSpPr/>
          <p:nvPr/>
        </p:nvSpPr>
        <p:spPr>
          <a:xfrm>
            <a:off x="6421282"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5039807" y="3685763"/>
            <a:ext cx="1902683" cy="365760"/>
          </a:xfrm>
          <a:prstGeom prst="rect">
            <a:avLst/>
          </a:prstGeom>
          <a:noFill/>
        </p:spPr>
        <p:txBody>
          <a:bodyPr wrap="square" lIns="0" tIns="0" rIns="0" bIns="0">
            <a:spAutoFit/>
          </a:bodyPr>
          <a:lstStyle/>
          <a:p>
            <a:pPr algn="ctr"/>
            <a:r>
              <a:rPr sz="1500" b="1" i="0">
                <a:solidFill>
                  <a:srgbClr val="776E65"/>
                </a:solidFill>
                <a:latin typeface="Segoe UI Semibold"/>
              </a:rPr>
              <a:t>Pattern C</a:t>
            </a:r>
          </a:p>
        </p:txBody>
      </p:sp>
      <p:sp>
        <p:nvSpPr>
          <p:cNvPr id="61" name="TextBox 60"/>
          <p:cNvSpPr txBox="1"/>
          <p:nvPr/>
        </p:nvSpPr>
        <p:spPr>
          <a:xfrm>
            <a:off x="5039807" y="4051523"/>
            <a:ext cx="1902683" cy="365760"/>
          </a:xfrm>
          <a:prstGeom prst="rect">
            <a:avLst/>
          </a:prstGeom>
          <a:noFill/>
        </p:spPr>
        <p:txBody>
          <a:bodyPr wrap="square" lIns="0" tIns="0" rIns="0" bIns="0">
            <a:spAutoFit/>
          </a:bodyPr>
          <a:lstStyle/>
          <a:p>
            <a:pPr algn="ctr"/>
            <a:r>
              <a:rPr sz="1200" b="0" i="1">
                <a:solidFill>
                  <a:srgbClr val="A9A097"/>
                </a:solidFill>
                <a:latin typeface="Segoe UI"/>
              </a:rPr>
              <a:t>top row (4 cells)</a:t>
            </a:r>
          </a:p>
        </p:txBody>
      </p:sp>
      <p:sp>
        <p:nvSpPr>
          <p:cNvPr id="62" name="Rounded Rectangle 61"/>
          <p:cNvSpPr/>
          <p:nvPr/>
        </p:nvSpPr>
        <p:spPr>
          <a:xfrm>
            <a:off x="7308250" y="1691640"/>
            <a:ext cx="1902683" cy="1902683"/>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7445410"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7860182" y="1828800"/>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8274954" y="1828800"/>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ounded Rectangle 65"/>
          <p:cNvSpPr/>
          <p:nvPr/>
        </p:nvSpPr>
        <p:spPr>
          <a:xfrm>
            <a:off x="8689726" y="1828800"/>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7445410"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7860182" y="2243571"/>
            <a:ext cx="384048" cy="384048"/>
          </a:xfrm>
          <a:prstGeom prst="roundRect">
            <a:avLst>
              <a:gd name="adj" fmla="val 8000"/>
            </a:avLst>
          </a:prstGeom>
          <a:solidFill>
            <a:srgbClr val="EDC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8274954"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ounded Rectangle 69"/>
          <p:cNvSpPr/>
          <p:nvPr/>
        </p:nvSpPr>
        <p:spPr>
          <a:xfrm>
            <a:off x="8689726" y="2243571"/>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ounded Rectangle 70"/>
          <p:cNvSpPr/>
          <p:nvPr/>
        </p:nvSpPr>
        <p:spPr>
          <a:xfrm>
            <a:off x="7445410"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ounded Rectangle 71"/>
          <p:cNvSpPr/>
          <p:nvPr/>
        </p:nvSpPr>
        <p:spPr>
          <a:xfrm>
            <a:off x="7860182"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8274954"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ounded Rectangle 73"/>
          <p:cNvSpPr/>
          <p:nvPr/>
        </p:nvSpPr>
        <p:spPr>
          <a:xfrm>
            <a:off x="8689726" y="2658343"/>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7445410"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ounded Rectangle 75"/>
          <p:cNvSpPr/>
          <p:nvPr/>
        </p:nvSpPr>
        <p:spPr>
          <a:xfrm>
            <a:off x="7860182"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ounded Rectangle 76"/>
          <p:cNvSpPr/>
          <p:nvPr/>
        </p:nvSpPr>
        <p:spPr>
          <a:xfrm>
            <a:off x="8274954"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ounded Rectangle 77"/>
          <p:cNvSpPr/>
          <p:nvPr/>
        </p:nvSpPr>
        <p:spPr>
          <a:xfrm>
            <a:off x="8689726" y="3073115"/>
            <a:ext cx="384048" cy="384048"/>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7308250" y="3685763"/>
            <a:ext cx="1902683" cy="365760"/>
          </a:xfrm>
          <a:prstGeom prst="rect">
            <a:avLst/>
          </a:prstGeom>
          <a:noFill/>
        </p:spPr>
        <p:txBody>
          <a:bodyPr wrap="square" lIns="0" tIns="0" rIns="0" bIns="0">
            <a:spAutoFit/>
          </a:bodyPr>
          <a:lstStyle/>
          <a:p>
            <a:pPr algn="ctr"/>
            <a:r>
              <a:rPr sz="1500" b="1" i="0">
                <a:solidFill>
                  <a:srgbClr val="776E65"/>
                </a:solidFill>
                <a:latin typeface="Segoe UI Semibold"/>
              </a:rPr>
              <a:t>Pattern D</a:t>
            </a:r>
          </a:p>
        </p:txBody>
      </p:sp>
      <p:sp>
        <p:nvSpPr>
          <p:cNvPr id="80" name="TextBox 79"/>
          <p:cNvSpPr txBox="1"/>
          <p:nvPr/>
        </p:nvSpPr>
        <p:spPr>
          <a:xfrm>
            <a:off x="7308250" y="4051523"/>
            <a:ext cx="1902683" cy="365760"/>
          </a:xfrm>
          <a:prstGeom prst="rect">
            <a:avLst/>
          </a:prstGeom>
          <a:noFill/>
        </p:spPr>
        <p:txBody>
          <a:bodyPr wrap="square" lIns="0" tIns="0" rIns="0" bIns="0">
            <a:spAutoFit/>
          </a:bodyPr>
          <a:lstStyle/>
          <a:p>
            <a:pPr algn="ctr"/>
            <a:r>
              <a:rPr sz="1200" b="0" i="1">
                <a:solidFill>
                  <a:srgbClr val="A9A097"/>
                </a:solidFill>
                <a:latin typeface="Segoe UI"/>
              </a:rPr>
              <a:t>2×2 corner (4 cells)</a:t>
            </a:r>
          </a:p>
        </p:txBody>
      </p:sp>
      <p:sp>
        <p:nvSpPr>
          <p:cNvPr id="81" name="TextBox 80"/>
          <p:cNvSpPr txBox="1"/>
          <p:nvPr/>
        </p:nvSpPr>
        <p:spPr>
          <a:xfrm>
            <a:off x="548640" y="4617720"/>
            <a:ext cx="11064240" cy="457200"/>
          </a:xfrm>
          <a:prstGeom prst="rect">
            <a:avLst/>
          </a:prstGeom>
          <a:noFill/>
        </p:spPr>
        <p:txBody>
          <a:bodyPr wrap="square" lIns="0" tIns="0" rIns="0" bIns="0">
            <a:spAutoFit/>
          </a:bodyPr>
          <a:lstStyle/>
          <a:p>
            <a:pPr algn="ctr"/>
            <a:r>
              <a:rPr sz="2400" b="1" i="0">
                <a:solidFill>
                  <a:srgbClr val="776E65"/>
                </a:solidFill>
                <a:latin typeface="Segoe UI Semibold"/>
              </a:rPr>
              <a:t>V(board) = sum of all 24 lookup-table reads</a:t>
            </a:r>
          </a:p>
        </p:txBody>
      </p:sp>
      <p:sp>
        <p:nvSpPr>
          <p:cNvPr id="82" name="TextBox 81"/>
          <p:cNvSpPr txBox="1"/>
          <p:nvPr/>
        </p:nvSpPr>
        <p:spPr>
          <a:xfrm>
            <a:off x="914400" y="5257800"/>
            <a:ext cx="10332720" cy="1828800"/>
          </a:xfrm>
          <a:prstGeom prst="rect">
            <a:avLst/>
          </a:prstGeom>
          <a:noFill/>
        </p:spPr>
        <p:txBody>
          <a:bodyPr wrap="square" lIns="0" tIns="0" rIns="0" bIns="0">
            <a:spAutoFit/>
          </a:bodyPr>
          <a:lstStyle/>
          <a:p>
            <a:pPr algn="l">
              <a:lnSpc>
                <a:spcPct val="130000"/>
              </a:lnSpc>
            </a:pPr>
            <a:r>
              <a:rPr sz="1400">
                <a:solidFill>
                  <a:srgbClr val="776E65"/>
                </a:solidFill>
                <a:latin typeface="Segoe UI"/>
              </a:rPr>
              <a:t>•  Each cell holds one of ~16 log₂ values, so a 6-cell pattern has 16⁶ ≈ 16 M-entry lookup table</a:t>
            </a:r>
          </a:p>
          <a:p>
            <a:pPr algn="l">
              <a:lnSpc>
                <a:spcPct val="130000"/>
              </a:lnSpc>
            </a:pPr>
            <a:r>
              <a:rPr sz="1400">
                <a:solidFill>
                  <a:srgbClr val="776E65"/>
                </a:solidFill>
                <a:latin typeface="Segoe UI"/>
              </a:rPr>
              <a:t>•  Weights are shared across all 8 board symmetries — one update teaches all rotated/reflected variants</a:t>
            </a:r>
          </a:p>
          <a:p>
            <a:pPr algn="l">
              <a:lnSpc>
                <a:spcPct val="130000"/>
              </a:lnSpc>
            </a:pPr>
            <a:r>
              <a:rPr sz="1400">
                <a:solidFill>
                  <a:srgbClr val="776E65"/>
                </a:solidFill>
                <a:latin typeface="Segoe UI"/>
              </a:rPr>
              <a:t>•  Total lookups per board: 8 + 8 + 4 + 4 = 24 table reads.  No neural network, no gradient descent.</a:t>
            </a:r>
          </a:p>
        </p:txBody>
      </p:sp>
      <p:sp>
        <p:nvSpPr>
          <p:cNvPr id="83" name="TextBox 82"/>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a:t>
            </a:r>
            <a:r>
              <a:rPr lang="en-GB" sz="1000" dirty="0">
                <a:solidFill>
                  <a:srgbClr val="A9A097"/>
                </a:solidFill>
                <a:latin typeface="Segoe UI"/>
              </a:rPr>
              <a:t>1</a:t>
            </a:r>
            <a:r>
              <a:rPr sz="1000" b="0" i="0">
                <a:solidFill>
                  <a:srgbClr val="A9A097"/>
                </a:solidFill>
                <a:latin typeface="Segoe UI"/>
              </a:rPr>
              <a:t> / 19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N-tuple — a concrete value computation</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Read the patches · look up · sum</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66344" y="1700784"/>
            <a:ext cx="3072384" cy="3072384"/>
          </a:xfrm>
          <a:prstGeom prst="roundRect">
            <a:avLst>
              <a:gd name="adj" fmla="val 5000"/>
            </a:avLst>
          </a:prstGeom>
          <a:solidFill>
            <a:srgbClr val="BBAD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48640" y="1783080"/>
            <a:ext cx="685800" cy="685800"/>
          </a:xfrm>
          <a:prstGeom prst="roundRect">
            <a:avLst>
              <a:gd name="adj" fmla="val 8000"/>
            </a:avLst>
          </a:prstGeom>
          <a:solidFill>
            <a:srgbClr val="F2B179"/>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F9F6F2"/>
                </a:solidFill>
                <a:latin typeface="Segoe UI Semibold"/>
              </a:rPr>
              <a:t>8</a:t>
            </a:r>
          </a:p>
        </p:txBody>
      </p:sp>
      <p:sp>
        <p:nvSpPr>
          <p:cNvPr id="7" name="Rounded Rectangle 6"/>
          <p:cNvSpPr/>
          <p:nvPr/>
        </p:nvSpPr>
        <p:spPr>
          <a:xfrm>
            <a:off x="1289304" y="1783080"/>
            <a:ext cx="685800" cy="68580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4</a:t>
            </a:r>
          </a:p>
        </p:txBody>
      </p:sp>
      <p:sp>
        <p:nvSpPr>
          <p:cNvPr id="8" name="Rounded Rectangle 7"/>
          <p:cNvSpPr/>
          <p:nvPr/>
        </p:nvSpPr>
        <p:spPr>
          <a:xfrm>
            <a:off x="2029968" y="1783080"/>
            <a:ext cx="685800" cy="68580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2</a:t>
            </a:r>
          </a:p>
        </p:txBody>
      </p:sp>
      <p:sp>
        <p:nvSpPr>
          <p:cNvPr id="9" name="Rounded Rectangle 8"/>
          <p:cNvSpPr/>
          <p:nvPr/>
        </p:nvSpPr>
        <p:spPr>
          <a:xfrm>
            <a:off x="2770632" y="1783080"/>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48640" y="2523744"/>
            <a:ext cx="685800" cy="68580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4</a:t>
            </a:r>
          </a:p>
        </p:txBody>
      </p:sp>
      <p:sp>
        <p:nvSpPr>
          <p:cNvPr id="11" name="Rounded Rectangle 10"/>
          <p:cNvSpPr/>
          <p:nvPr/>
        </p:nvSpPr>
        <p:spPr>
          <a:xfrm>
            <a:off x="1289304" y="2523744"/>
            <a:ext cx="685800" cy="68580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2</a:t>
            </a:r>
          </a:p>
        </p:txBody>
      </p:sp>
      <p:sp>
        <p:nvSpPr>
          <p:cNvPr id="12" name="Rounded Rectangle 11"/>
          <p:cNvSpPr/>
          <p:nvPr/>
        </p:nvSpPr>
        <p:spPr>
          <a:xfrm>
            <a:off x="2029968" y="2523744"/>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770632" y="2523744"/>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48640" y="3264408"/>
            <a:ext cx="685800" cy="68580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776E65"/>
                </a:solidFill>
                <a:latin typeface="Segoe UI Semibold"/>
              </a:rPr>
              <a:t>2</a:t>
            </a:r>
          </a:p>
        </p:txBody>
      </p:sp>
      <p:sp>
        <p:nvSpPr>
          <p:cNvPr id="15" name="Rounded Rectangle 14"/>
          <p:cNvSpPr/>
          <p:nvPr/>
        </p:nvSpPr>
        <p:spPr>
          <a:xfrm>
            <a:off x="1289304" y="3264408"/>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029968" y="3264408"/>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2770632" y="3264408"/>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48640" y="4005072"/>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289304" y="4005072"/>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029968" y="4005072"/>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770632" y="4005072"/>
            <a:ext cx="685800" cy="685800"/>
          </a:xfrm>
          <a:prstGeom prst="roundRect">
            <a:avLst>
              <a:gd name="adj" fmla="val 8000"/>
            </a:avLst>
          </a:prstGeom>
          <a:solidFill>
            <a:srgbClr val="CDC1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4873752"/>
            <a:ext cx="2907792" cy="365760"/>
          </a:xfrm>
          <a:prstGeom prst="rect">
            <a:avLst/>
          </a:prstGeom>
          <a:noFill/>
        </p:spPr>
        <p:txBody>
          <a:bodyPr wrap="square" lIns="0" tIns="0" rIns="0" bIns="0">
            <a:spAutoFit/>
          </a:bodyPr>
          <a:lstStyle/>
          <a:p>
            <a:pPr algn="ctr"/>
            <a:r>
              <a:rPr sz="1300" b="0" i="1">
                <a:solidFill>
                  <a:srgbClr val="A9A097"/>
                </a:solidFill>
                <a:latin typeface="Segoe UI"/>
              </a:rPr>
              <a:t>Input board</a:t>
            </a:r>
          </a:p>
        </p:txBody>
      </p:sp>
      <p:sp>
        <p:nvSpPr>
          <p:cNvPr id="23" name="TextBox 22"/>
          <p:cNvSpPr txBox="1"/>
          <p:nvPr/>
        </p:nvSpPr>
        <p:spPr>
          <a:xfrm>
            <a:off x="4114800" y="1691640"/>
            <a:ext cx="4389120" cy="365760"/>
          </a:xfrm>
          <a:prstGeom prst="rect">
            <a:avLst/>
          </a:prstGeom>
          <a:noFill/>
        </p:spPr>
        <p:txBody>
          <a:bodyPr wrap="square" lIns="0" tIns="0" rIns="0" bIns="0">
            <a:spAutoFit/>
          </a:bodyPr>
          <a:lstStyle/>
          <a:p>
            <a:pPr algn="l"/>
            <a:r>
              <a:rPr sz="1400" b="1" i="0">
                <a:solidFill>
                  <a:srgbClr val="776E65"/>
                </a:solidFill>
                <a:latin typeface="Segoe UI Semibold"/>
              </a:rPr>
              <a:t>Read log₂ values at each patch</a:t>
            </a:r>
          </a:p>
        </p:txBody>
      </p:sp>
      <p:sp>
        <p:nvSpPr>
          <p:cNvPr id="24" name="TextBox 23"/>
          <p:cNvSpPr txBox="1"/>
          <p:nvPr/>
        </p:nvSpPr>
        <p:spPr>
          <a:xfrm>
            <a:off x="4114800" y="2194560"/>
            <a:ext cx="1280160" cy="365760"/>
          </a:xfrm>
          <a:prstGeom prst="rect">
            <a:avLst/>
          </a:prstGeom>
          <a:noFill/>
        </p:spPr>
        <p:txBody>
          <a:bodyPr wrap="square" lIns="0" tIns="0" rIns="0" bIns="0">
            <a:spAutoFit/>
          </a:bodyPr>
          <a:lstStyle/>
          <a:p>
            <a:pPr algn="l"/>
            <a:r>
              <a:rPr sz="1300" b="1" i="0">
                <a:solidFill>
                  <a:srgbClr val="776E65"/>
                </a:solidFill>
                <a:latin typeface="Segoe UI Semibold"/>
              </a:rPr>
              <a:t>Pattern A</a:t>
            </a:r>
          </a:p>
        </p:txBody>
      </p:sp>
      <p:sp>
        <p:nvSpPr>
          <p:cNvPr id="25" name="TextBox 24"/>
          <p:cNvSpPr txBox="1"/>
          <p:nvPr/>
        </p:nvSpPr>
        <p:spPr>
          <a:xfrm>
            <a:off x="5440680" y="2194560"/>
            <a:ext cx="2194560" cy="365760"/>
          </a:xfrm>
          <a:prstGeom prst="rect">
            <a:avLst/>
          </a:prstGeom>
          <a:noFill/>
        </p:spPr>
        <p:txBody>
          <a:bodyPr wrap="square" lIns="0" tIns="0" rIns="0" bIns="0">
            <a:spAutoFit/>
          </a:bodyPr>
          <a:lstStyle/>
          <a:p>
            <a:pPr algn="l"/>
            <a:r>
              <a:rPr sz="1300" b="0" i="0">
                <a:solidFill>
                  <a:srgbClr val="776E65"/>
                </a:solidFill>
                <a:latin typeface="Consolas"/>
              </a:rPr>
              <a:t>[3, 2, 1, 0, 2, 1]</a:t>
            </a:r>
          </a:p>
        </p:txBody>
      </p:sp>
      <p:sp>
        <p:nvSpPr>
          <p:cNvPr id="26" name="TextBox 25"/>
          <p:cNvSpPr txBox="1"/>
          <p:nvPr/>
        </p:nvSpPr>
        <p:spPr>
          <a:xfrm>
            <a:off x="7223760" y="2194560"/>
            <a:ext cx="1645920" cy="365760"/>
          </a:xfrm>
          <a:prstGeom prst="rect">
            <a:avLst/>
          </a:prstGeom>
          <a:noFill/>
        </p:spPr>
        <p:txBody>
          <a:bodyPr wrap="square" lIns="0" tIns="0" rIns="0" bIns="0">
            <a:spAutoFit/>
          </a:bodyPr>
          <a:lstStyle/>
          <a:p>
            <a:pPr algn="l"/>
            <a:r>
              <a:rPr sz="1100" b="0" i="1">
                <a:solidFill>
                  <a:srgbClr val="A9A097"/>
                </a:solidFill>
                <a:latin typeface="Segoe UI"/>
              </a:rPr>
              <a:t>axe top-left</a:t>
            </a:r>
          </a:p>
        </p:txBody>
      </p:sp>
      <p:sp>
        <p:nvSpPr>
          <p:cNvPr id="27" name="TextBox 26"/>
          <p:cNvSpPr txBox="1"/>
          <p:nvPr/>
        </p:nvSpPr>
        <p:spPr>
          <a:xfrm>
            <a:off x="4114800" y="2651760"/>
            <a:ext cx="1280160" cy="365760"/>
          </a:xfrm>
          <a:prstGeom prst="rect">
            <a:avLst/>
          </a:prstGeom>
          <a:noFill/>
        </p:spPr>
        <p:txBody>
          <a:bodyPr wrap="square" lIns="0" tIns="0" rIns="0" bIns="0">
            <a:spAutoFit/>
          </a:bodyPr>
          <a:lstStyle/>
          <a:p>
            <a:pPr algn="l"/>
            <a:r>
              <a:rPr sz="1300" b="1" i="0">
                <a:solidFill>
                  <a:srgbClr val="776E65"/>
                </a:solidFill>
                <a:latin typeface="Segoe UI Semibold"/>
              </a:rPr>
              <a:t>Pattern B</a:t>
            </a:r>
          </a:p>
        </p:txBody>
      </p:sp>
      <p:sp>
        <p:nvSpPr>
          <p:cNvPr id="28" name="TextBox 27"/>
          <p:cNvSpPr txBox="1"/>
          <p:nvPr/>
        </p:nvSpPr>
        <p:spPr>
          <a:xfrm>
            <a:off x="5440680" y="2651760"/>
            <a:ext cx="2194560" cy="365760"/>
          </a:xfrm>
          <a:prstGeom prst="rect">
            <a:avLst/>
          </a:prstGeom>
          <a:noFill/>
        </p:spPr>
        <p:txBody>
          <a:bodyPr wrap="square" lIns="0" tIns="0" rIns="0" bIns="0">
            <a:spAutoFit/>
          </a:bodyPr>
          <a:lstStyle/>
          <a:p>
            <a:pPr algn="l"/>
            <a:r>
              <a:rPr sz="1300" b="0" i="0">
                <a:solidFill>
                  <a:srgbClr val="776E65"/>
                </a:solidFill>
                <a:latin typeface="Consolas"/>
              </a:rPr>
              <a:t>[2, 1, 0, 0, 1, 0]</a:t>
            </a:r>
          </a:p>
        </p:txBody>
      </p:sp>
      <p:sp>
        <p:nvSpPr>
          <p:cNvPr id="29" name="TextBox 28"/>
          <p:cNvSpPr txBox="1"/>
          <p:nvPr/>
        </p:nvSpPr>
        <p:spPr>
          <a:xfrm>
            <a:off x="7223760" y="2651760"/>
            <a:ext cx="1645920" cy="365760"/>
          </a:xfrm>
          <a:prstGeom prst="rect">
            <a:avLst/>
          </a:prstGeom>
          <a:noFill/>
        </p:spPr>
        <p:txBody>
          <a:bodyPr wrap="square" lIns="0" tIns="0" rIns="0" bIns="0">
            <a:spAutoFit/>
          </a:bodyPr>
          <a:lstStyle/>
          <a:p>
            <a:pPr algn="l"/>
            <a:r>
              <a:rPr sz="1100" b="0" i="1">
                <a:solidFill>
                  <a:srgbClr val="A9A097"/>
                </a:solidFill>
                <a:latin typeface="Segoe UI"/>
              </a:rPr>
              <a:t>axe row 2</a:t>
            </a:r>
          </a:p>
        </p:txBody>
      </p:sp>
      <p:sp>
        <p:nvSpPr>
          <p:cNvPr id="30" name="TextBox 29"/>
          <p:cNvSpPr txBox="1"/>
          <p:nvPr/>
        </p:nvSpPr>
        <p:spPr>
          <a:xfrm>
            <a:off x="4114800" y="3108960"/>
            <a:ext cx="1280160" cy="365760"/>
          </a:xfrm>
          <a:prstGeom prst="rect">
            <a:avLst/>
          </a:prstGeom>
          <a:noFill/>
        </p:spPr>
        <p:txBody>
          <a:bodyPr wrap="square" lIns="0" tIns="0" rIns="0" bIns="0">
            <a:spAutoFit/>
          </a:bodyPr>
          <a:lstStyle/>
          <a:p>
            <a:pPr algn="l"/>
            <a:r>
              <a:rPr sz="1300" b="1" i="0">
                <a:solidFill>
                  <a:srgbClr val="776E65"/>
                </a:solidFill>
                <a:latin typeface="Segoe UI Semibold"/>
              </a:rPr>
              <a:t>Pattern C</a:t>
            </a:r>
          </a:p>
        </p:txBody>
      </p:sp>
      <p:sp>
        <p:nvSpPr>
          <p:cNvPr id="31" name="TextBox 30"/>
          <p:cNvSpPr txBox="1"/>
          <p:nvPr/>
        </p:nvSpPr>
        <p:spPr>
          <a:xfrm>
            <a:off x="5440680" y="3108960"/>
            <a:ext cx="2194560" cy="365760"/>
          </a:xfrm>
          <a:prstGeom prst="rect">
            <a:avLst/>
          </a:prstGeom>
          <a:noFill/>
        </p:spPr>
        <p:txBody>
          <a:bodyPr wrap="square" lIns="0" tIns="0" rIns="0" bIns="0">
            <a:spAutoFit/>
          </a:bodyPr>
          <a:lstStyle/>
          <a:p>
            <a:pPr algn="l"/>
            <a:r>
              <a:rPr sz="1300" b="0" i="0">
                <a:solidFill>
                  <a:srgbClr val="776E65"/>
                </a:solidFill>
                <a:latin typeface="Consolas"/>
              </a:rPr>
              <a:t>[3, 2, 1, 0]</a:t>
            </a:r>
          </a:p>
        </p:txBody>
      </p:sp>
      <p:sp>
        <p:nvSpPr>
          <p:cNvPr id="32" name="TextBox 31"/>
          <p:cNvSpPr txBox="1"/>
          <p:nvPr/>
        </p:nvSpPr>
        <p:spPr>
          <a:xfrm>
            <a:off x="7223760" y="3108960"/>
            <a:ext cx="1645920" cy="365760"/>
          </a:xfrm>
          <a:prstGeom prst="rect">
            <a:avLst/>
          </a:prstGeom>
          <a:noFill/>
        </p:spPr>
        <p:txBody>
          <a:bodyPr wrap="square" lIns="0" tIns="0" rIns="0" bIns="0">
            <a:spAutoFit/>
          </a:bodyPr>
          <a:lstStyle/>
          <a:p>
            <a:pPr algn="l"/>
            <a:r>
              <a:rPr sz="1100" b="0" i="1">
                <a:solidFill>
                  <a:srgbClr val="A9A097"/>
                </a:solidFill>
                <a:latin typeface="Segoe UI"/>
              </a:rPr>
              <a:t>top row</a:t>
            </a:r>
          </a:p>
        </p:txBody>
      </p:sp>
      <p:sp>
        <p:nvSpPr>
          <p:cNvPr id="33" name="TextBox 32"/>
          <p:cNvSpPr txBox="1"/>
          <p:nvPr/>
        </p:nvSpPr>
        <p:spPr>
          <a:xfrm>
            <a:off x="4114800" y="3566160"/>
            <a:ext cx="1280160" cy="365760"/>
          </a:xfrm>
          <a:prstGeom prst="rect">
            <a:avLst/>
          </a:prstGeom>
          <a:noFill/>
        </p:spPr>
        <p:txBody>
          <a:bodyPr wrap="square" lIns="0" tIns="0" rIns="0" bIns="0">
            <a:spAutoFit/>
          </a:bodyPr>
          <a:lstStyle/>
          <a:p>
            <a:pPr algn="l"/>
            <a:r>
              <a:rPr sz="1300" b="1" i="0">
                <a:solidFill>
                  <a:srgbClr val="776E65"/>
                </a:solidFill>
                <a:latin typeface="Segoe UI Semibold"/>
              </a:rPr>
              <a:t>Pattern D</a:t>
            </a:r>
          </a:p>
        </p:txBody>
      </p:sp>
      <p:sp>
        <p:nvSpPr>
          <p:cNvPr id="34" name="TextBox 33"/>
          <p:cNvSpPr txBox="1"/>
          <p:nvPr/>
        </p:nvSpPr>
        <p:spPr>
          <a:xfrm>
            <a:off x="5440680" y="3566160"/>
            <a:ext cx="2194560" cy="365760"/>
          </a:xfrm>
          <a:prstGeom prst="rect">
            <a:avLst/>
          </a:prstGeom>
          <a:noFill/>
        </p:spPr>
        <p:txBody>
          <a:bodyPr wrap="square" lIns="0" tIns="0" rIns="0" bIns="0">
            <a:spAutoFit/>
          </a:bodyPr>
          <a:lstStyle/>
          <a:p>
            <a:pPr algn="l"/>
            <a:r>
              <a:rPr sz="1300" b="0" i="0">
                <a:solidFill>
                  <a:srgbClr val="776E65"/>
                </a:solidFill>
                <a:latin typeface="Consolas"/>
              </a:rPr>
              <a:t>[3, 2, 2, 1]</a:t>
            </a:r>
          </a:p>
        </p:txBody>
      </p:sp>
      <p:sp>
        <p:nvSpPr>
          <p:cNvPr id="35" name="TextBox 34"/>
          <p:cNvSpPr txBox="1"/>
          <p:nvPr/>
        </p:nvSpPr>
        <p:spPr>
          <a:xfrm>
            <a:off x="7223760" y="3566160"/>
            <a:ext cx="1645920" cy="365760"/>
          </a:xfrm>
          <a:prstGeom prst="rect">
            <a:avLst/>
          </a:prstGeom>
          <a:noFill/>
        </p:spPr>
        <p:txBody>
          <a:bodyPr wrap="square" lIns="0" tIns="0" rIns="0" bIns="0">
            <a:spAutoFit/>
          </a:bodyPr>
          <a:lstStyle/>
          <a:p>
            <a:pPr algn="l"/>
            <a:r>
              <a:rPr sz="1100" b="0" i="1">
                <a:solidFill>
                  <a:srgbClr val="A9A097"/>
                </a:solidFill>
                <a:latin typeface="Segoe UI"/>
              </a:rPr>
              <a:t>2×2 corner</a:t>
            </a:r>
          </a:p>
        </p:txBody>
      </p:sp>
      <p:sp>
        <p:nvSpPr>
          <p:cNvPr id="36" name="TextBox 35"/>
          <p:cNvSpPr txBox="1"/>
          <p:nvPr/>
        </p:nvSpPr>
        <p:spPr>
          <a:xfrm>
            <a:off x="4114800" y="4069080"/>
            <a:ext cx="4389120" cy="338554"/>
          </a:xfrm>
          <a:prstGeom prst="rect">
            <a:avLst/>
          </a:prstGeom>
          <a:noFill/>
        </p:spPr>
        <p:txBody>
          <a:bodyPr wrap="square" lIns="0" tIns="0" rIns="0" bIns="0">
            <a:spAutoFit/>
          </a:bodyPr>
          <a:lstStyle/>
          <a:p>
            <a:r>
              <a:rPr sz="1100" b="0" i="1">
                <a:solidFill>
                  <a:srgbClr val="A9A097"/>
                </a:solidFill>
                <a:latin typeface="Segoe UI"/>
              </a:rPr>
              <a:t>(× 8 </a:t>
            </a:r>
            <a:r>
              <a:rPr lang="de-DE" sz="1100" b="0" i="1">
                <a:solidFill>
                  <a:srgbClr val="A9A097"/>
                </a:solidFill>
                <a:latin typeface="Segoe UI"/>
              </a:rPr>
              <a:t> </a:t>
            </a:r>
            <a:r>
              <a:rPr sz="1100" b="0" i="1">
                <a:solidFill>
                  <a:srgbClr val="A9A097"/>
                </a:solidFill>
                <a:latin typeface="Segoe UI"/>
              </a:rPr>
              <a:t>symmetries for A and B,</a:t>
            </a:r>
            <a:r>
              <a:rPr lang="de-DE" sz="1100" i="1">
                <a:solidFill>
                  <a:srgbClr val="A9A097"/>
                </a:solidFill>
                <a:latin typeface="Segoe UI"/>
              </a:rPr>
              <a:t> × 4 </a:t>
            </a:r>
            <a:r>
              <a:rPr lang="de-DE" sz="1100" i="1" err="1">
                <a:solidFill>
                  <a:srgbClr val="A9A097"/>
                </a:solidFill>
                <a:latin typeface="Segoe UI"/>
              </a:rPr>
              <a:t>for</a:t>
            </a:r>
            <a:r>
              <a:rPr lang="de-DE" sz="1100" i="1">
                <a:solidFill>
                  <a:srgbClr val="A9A097"/>
                </a:solidFill>
                <a:latin typeface="Segoe UI"/>
              </a:rPr>
              <a:t> C and D — 24 </a:t>
            </a:r>
            <a:r>
              <a:rPr lang="de-DE" sz="1100" i="1" err="1">
                <a:solidFill>
                  <a:srgbClr val="A9A097"/>
                </a:solidFill>
                <a:latin typeface="Segoe UI"/>
              </a:rPr>
              <a:t>reads</a:t>
            </a:r>
            <a:r>
              <a:rPr lang="de-DE" sz="1100" i="1">
                <a:solidFill>
                  <a:srgbClr val="A9A097"/>
                </a:solidFill>
                <a:latin typeface="Segoe UI"/>
              </a:rPr>
              <a:t> total)</a:t>
            </a:r>
          </a:p>
          <a:p>
            <a:pPr algn="l"/>
            <a:endParaRPr lang="de-DE" sz="1100" b="0" i="1">
              <a:solidFill>
                <a:srgbClr val="A9A097"/>
              </a:solidFill>
              <a:latin typeface="Segoe UI"/>
            </a:endParaRPr>
          </a:p>
        </p:txBody>
      </p:sp>
      <p:sp>
        <p:nvSpPr>
          <p:cNvPr id="38" name="TextBox 37"/>
          <p:cNvSpPr txBox="1"/>
          <p:nvPr/>
        </p:nvSpPr>
        <p:spPr>
          <a:xfrm>
            <a:off x="8869680" y="1691640"/>
            <a:ext cx="2926080" cy="365760"/>
          </a:xfrm>
          <a:prstGeom prst="rect">
            <a:avLst/>
          </a:prstGeom>
          <a:noFill/>
        </p:spPr>
        <p:txBody>
          <a:bodyPr wrap="square" lIns="0" tIns="0" rIns="0" bIns="0">
            <a:spAutoFit/>
          </a:bodyPr>
          <a:lstStyle/>
          <a:p>
            <a:pPr algn="l"/>
            <a:r>
              <a:rPr sz="1400" b="1" i="0">
                <a:solidFill>
                  <a:srgbClr val="776E65"/>
                </a:solidFill>
                <a:latin typeface="Segoe UI Semibold"/>
              </a:rPr>
              <a:t>Each read → one weight</a:t>
            </a:r>
          </a:p>
        </p:txBody>
      </p:sp>
      <p:sp>
        <p:nvSpPr>
          <p:cNvPr id="39" name="Rounded Rectangle 38"/>
          <p:cNvSpPr/>
          <p:nvPr/>
        </p:nvSpPr>
        <p:spPr>
          <a:xfrm>
            <a:off x="8869680" y="2194560"/>
            <a:ext cx="2926080" cy="502920"/>
          </a:xfrm>
          <a:prstGeom prst="roundRect">
            <a:avLst>
              <a:gd name="adj" fmla="val 8000"/>
            </a:avLst>
          </a:prstGeom>
          <a:solidFill>
            <a:srgbClr val="EDCF72"/>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9F6F2"/>
                </a:solidFill>
                <a:latin typeface="Segoe UI Semibold"/>
              </a:rPr>
              <a:t>w_A[idx_A]  = +12.4</a:t>
            </a:r>
          </a:p>
        </p:txBody>
      </p:sp>
      <p:sp>
        <p:nvSpPr>
          <p:cNvPr id="40" name="Rounded Rectangle 39"/>
          <p:cNvSpPr/>
          <p:nvPr/>
        </p:nvSpPr>
        <p:spPr>
          <a:xfrm>
            <a:off x="8869680" y="2816352"/>
            <a:ext cx="2926080" cy="502920"/>
          </a:xfrm>
          <a:prstGeom prst="roundRect">
            <a:avLst>
              <a:gd name="adj" fmla="val 8000"/>
            </a:avLst>
          </a:prstGeom>
          <a:solidFill>
            <a:srgbClr val="F65E3B"/>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9F6F2"/>
                </a:solidFill>
                <a:latin typeface="Segoe UI Semibold"/>
              </a:rPr>
              <a:t>w_B[idx_B]  =  +3.1</a:t>
            </a:r>
          </a:p>
        </p:txBody>
      </p:sp>
      <p:sp>
        <p:nvSpPr>
          <p:cNvPr id="41" name="Rounded Rectangle 40"/>
          <p:cNvSpPr/>
          <p:nvPr/>
        </p:nvSpPr>
        <p:spPr>
          <a:xfrm>
            <a:off x="8869680" y="3438144"/>
            <a:ext cx="2926080" cy="502920"/>
          </a:xfrm>
          <a:prstGeom prst="roundRect">
            <a:avLst>
              <a:gd name="adj" fmla="val 8000"/>
            </a:avLst>
          </a:prstGeom>
          <a:solidFill>
            <a:srgbClr val="F67C5F"/>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9F6F2"/>
                </a:solidFill>
                <a:latin typeface="Segoe UI Semibold"/>
              </a:rPr>
              <a:t>w_C[idx_C]  =  +4.2</a:t>
            </a:r>
          </a:p>
        </p:txBody>
      </p:sp>
      <p:sp>
        <p:nvSpPr>
          <p:cNvPr id="42" name="Rounded Rectangle 41"/>
          <p:cNvSpPr/>
          <p:nvPr/>
        </p:nvSpPr>
        <p:spPr>
          <a:xfrm>
            <a:off x="8869680" y="4059936"/>
            <a:ext cx="2926080" cy="50292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9F6F2"/>
                </a:solidFill>
                <a:latin typeface="Segoe UI Semibold"/>
              </a:rPr>
              <a:t>w_D[idx_D]  =  +6.5</a:t>
            </a:r>
          </a:p>
        </p:txBody>
      </p:sp>
      <p:sp>
        <p:nvSpPr>
          <p:cNvPr id="43" name="Rounded Rectangle 42"/>
          <p:cNvSpPr/>
          <p:nvPr/>
        </p:nvSpPr>
        <p:spPr>
          <a:xfrm>
            <a:off x="8869680" y="4681728"/>
            <a:ext cx="2926080" cy="502920"/>
          </a:xfrm>
          <a:prstGeom prst="roundRect">
            <a:avLst>
              <a:gd name="adj" fmla="val 8000"/>
            </a:avLst>
          </a:prstGeom>
          <a:solidFill>
            <a:srgbClr val="F2B179"/>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9F6F2"/>
                </a:solidFill>
                <a:latin typeface="Segoe UI Semibold"/>
              </a:rPr>
              <a:t>… (× 24 reads in total)  </a:t>
            </a:r>
          </a:p>
        </p:txBody>
      </p:sp>
      <p:sp>
        <p:nvSpPr>
          <p:cNvPr id="44" name="Rounded Rectangle 43"/>
          <p:cNvSpPr/>
          <p:nvPr/>
        </p:nvSpPr>
        <p:spPr>
          <a:xfrm>
            <a:off x="8869680" y="5349240"/>
            <a:ext cx="2926080" cy="77724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V(board) ≈ 47.5</a:t>
            </a:r>
          </a:p>
          <a:p>
            <a:pPr algn="ctr"/>
            <a:r>
              <a:rPr sz="1100" b="0">
                <a:solidFill>
                  <a:srgbClr val="F9F6F2"/>
                </a:solidFill>
                <a:latin typeface="Segoe UI"/>
              </a:rPr>
              <a:t>(sum of all 24 lookups)</a:t>
            </a:r>
          </a:p>
        </p:txBody>
      </p:sp>
      <p:sp>
        <p:nvSpPr>
          <p:cNvPr id="45" name="TextBox 44"/>
          <p:cNvSpPr txBox="1"/>
          <p:nvPr/>
        </p:nvSpPr>
        <p:spPr>
          <a:xfrm>
            <a:off x="443726" y="6456900"/>
            <a:ext cx="11036632" cy="184666"/>
          </a:xfrm>
          <a:prstGeom prst="rect">
            <a:avLst/>
          </a:prstGeom>
          <a:noFill/>
        </p:spPr>
        <p:txBody>
          <a:bodyPr wrap="square" lIns="0" tIns="0" rIns="0" bIns="0" anchor="t">
            <a:spAutoFit/>
          </a:bodyPr>
          <a:lstStyle/>
          <a:p>
            <a:pPr algn="ctr"/>
            <a:r>
              <a:rPr sz="1200" b="0" i="1">
                <a:solidFill>
                  <a:srgbClr val="A9A097"/>
                </a:solidFill>
                <a:latin typeface="Segoe UI"/>
              </a:rPr>
              <a:t>Numbers are illustrative.  Real weights are learned by playing thousands of games.</a:t>
            </a:r>
            <a:r>
              <a:rPr lang="de-DE" sz="1200" i="1">
                <a:solidFill>
                  <a:srgbClr val="A9A097"/>
                </a:solidFill>
                <a:latin typeface="Segoe UI"/>
              </a:rPr>
              <a:t> </a:t>
            </a:r>
            <a:r>
              <a:rPr lang="de-DE" sz="1200" i="1" err="1">
                <a:solidFill>
                  <a:srgbClr val="A9A097"/>
                </a:solidFill>
                <a:latin typeface="Segoe UI"/>
              </a:rPr>
              <a:t>Based</a:t>
            </a:r>
            <a:r>
              <a:rPr lang="de-DE" sz="1200" i="1">
                <a:solidFill>
                  <a:srgbClr val="A9A097"/>
                </a:solidFill>
                <a:latin typeface="Segoe UI"/>
              </a:rPr>
              <a:t> on </a:t>
            </a:r>
            <a:r>
              <a:rPr lang="en-US" sz="1200">
                <a:solidFill>
                  <a:srgbClr val="A9A097"/>
                </a:solidFill>
                <a:ea typeface="+mn-lt"/>
                <a:cs typeface="+mn-lt"/>
              </a:rPr>
              <a:t>(</a:t>
            </a:r>
            <a:r>
              <a:rPr lang="en-US" sz="1200" err="1">
                <a:solidFill>
                  <a:srgbClr val="A9A097"/>
                </a:solidFill>
                <a:ea typeface="+mn-lt"/>
                <a:cs typeface="+mn-lt"/>
              </a:rPr>
              <a:t>Szubert</a:t>
            </a:r>
            <a:r>
              <a:rPr lang="en-US" sz="1200">
                <a:solidFill>
                  <a:srgbClr val="A9A097"/>
                </a:solidFill>
                <a:ea typeface="+mn-lt"/>
                <a:cs typeface="+mn-lt"/>
              </a:rPr>
              <a:t> &amp; </a:t>
            </a:r>
            <a:r>
              <a:rPr lang="en-US" sz="1200" err="1">
                <a:solidFill>
                  <a:srgbClr val="A9A097"/>
                </a:solidFill>
                <a:ea typeface="+mn-lt"/>
                <a:cs typeface="+mn-lt"/>
              </a:rPr>
              <a:t>Jaśkowski</a:t>
            </a:r>
            <a:r>
              <a:rPr lang="en-US" sz="1200">
                <a:solidFill>
                  <a:srgbClr val="A9A097"/>
                </a:solidFill>
                <a:ea typeface="+mn-lt"/>
                <a:cs typeface="+mn-lt"/>
              </a:rPr>
              <a:t> 2014 onwards) </a:t>
            </a:r>
            <a:endParaRPr lang="de-DE" sz="1200" b="0" i="1">
              <a:solidFill>
                <a:srgbClr val="A9A097"/>
              </a:solidFill>
              <a:ea typeface="+mn-lt"/>
              <a:cs typeface="+mn-lt"/>
            </a:endParaRPr>
          </a:p>
        </p:txBody>
      </p:sp>
      <p:sp>
        <p:nvSpPr>
          <p:cNvPr id="46" name="TextBox 45"/>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12</a:t>
            </a:r>
            <a:r>
              <a:rPr sz="1000" b="0" i="0">
                <a:solidFill>
                  <a:srgbClr val="A9A097"/>
                </a:solidFill>
                <a:latin typeface="Segoe UI"/>
              </a:rPr>
              <a:t> / 19</a:t>
            </a:r>
          </a:p>
        </p:txBody>
      </p:sp>
      <p:pic>
        <p:nvPicPr>
          <p:cNvPr id="47" name="Grafik 46" descr="Ein Bild, das Screenshot, Text, Rechteck, Quadrat enthält.&#10;&#10;KI-generierte Inhalte können fehlerhaft sein.">
            <a:extLst>
              <a:ext uri="{FF2B5EF4-FFF2-40B4-BE49-F238E27FC236}">
                <a16:creationId xmlns:a16="http://schemas.microsoft.com/office/drawing/2014/main" id="{878C4B0E-7AFA-4BFE-7172-29354E044273}"/>
              </a:ext>
            </a:extLst>
          </p:cNvPr>
          <p:cNvPicPr>
            <a:picLocks noChangeAspect="1"/>
          </p:cNvPicPr>
          <p:nvPr/>
        </p:nvPicPr>
        <p:blipFill>
          <a:blip r:embed="rId3"/>
          <a:stretch>
            <a:fillRect/>
          </a:stretch>
        </p:blipFill>
        <p:spPr>
          <a:xfrm>
            <a:off x="4156488" y="4755873"/>
            <a:ext cx="3890068" cy="158142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N-tuple — one training step</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Pick · step · pick · update  —  no buffer, no batches, no gradient descent</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0080" y="2011680"/>
            <a:ext cx="2606040" cy="91440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9F6F2"/>
                </a:solidFill>
                <a:latin typeface="Segoe UI Semibold"/>
              </a:rPr>
              <a:t>Pick greedy move</a:t>
            </a:r>
          </a:p>
        </p:txBody>
      </p:sp>
      <p:sp>
        <p:nvSpPr>
          <p:cNvPr id="7" name="TextBox 6"/>
          <p:cNvSpPr txBox="1"/>
          <p:nvPr/>
        </p:nvSpPr>
        <p:spPr>
          <a:xfrm>
            <a:off x="731520" y="3063240"/>
            <a:ext cx="2423160" cy="1000274"/>
          </a:xfrm>
          <a:prstGeom prst="rect">
            <a:avLst/>
          </a:prstGeom>
          <a:noFill/>
        </p:spPr>
        <p:txBody>
          <a:bodyPr wrap="square" lIns="0" tIns="0" rIns="0" bIns="0">
            <a:spAutoFit/>
          </a:bodyPr>
          <a:lstStyle/>
          <a:p>
            <a:pPr algn="ctr"/>
            <a:r>
              <a:rPr sz="1300" b="0" i="0">
                <a:solidFill>
                  <a:srgbClr val="776E65"/>
                </a:solidFill>
                <a:latin typeface="Segoe UI"/>
              </a:rPr>
              <a:t>Try each legal swipe
Score by r + V(after)
Keep the best.
Get </a:t>
            </a:r>
            <a:r>
              <a:rPr lang="en-GB" sz="1300" b="0" i="0" err="1">
                <a:solidFill>
                  <a:srgbClr val="776E65"/>
                </a:solidFill>
                <a:latin typeface="Segoe UI"/>
              </a:rPr>
              <a:t>a_t</a:t>
            </a:r>
            <a:r>
              <a:rPr sz="1300" b="0" i="0">
                <a:solidFill>
                  <a:srgbClr val="776E65"/>
                </a:solidFill>
                <a:latin typeface="Segoe UI"/>
              </a:rPr>
              <a:t>, </a:t>
            </a:r>
            <a:r>
              <a:rPr lang="en-GB" sz="1300" b="0" i="0" err="1">
                <a:solidFill>
                  <a:srgbClr val="776E65"/>
                </a:solidFill>
                <a:latin typeface="Segoe UI"/>
              </a:rPr>
              <a:t>r_t</a:t>
            </a:r>
            <a:r>
              <a:rPr sz="1300" b="0" i="0">
                <a:solidFill>
                  <a:srgbClr val="776E65"/>
                </a:solidFill>
                <a:latin typeface="Segoe UI"/>
              </a:rPr>
              <a:t>, </a:t>
            </a:r>
            <a:r>
              <a:rPr lang="en-GB" sz="1300" b="0" i="0" err="1">
                <a:solidFill>
                  <a:srgbClr val="776E65"/>
                </a:solidFill>
                <a:latin typeface="Segoe UI"/>
              </a:rPr>
              <a:t>after_t</a:t>
            </a:r>
            <a:r>
              <a:rPr sz="1300" b="0" i="0">
                <a:solidFill>
                  <a:srgbClr val="776E65"/>
                </a:solidFill>
                <a:latin typeface="Segoe UI"/>
              </a:rPr>
              <a:t>.</a:t>
            </a:r>
          </a:p>
        </p:txBody>
      </p:sp>
      <p:cxnSp>
        <p:nvCxnSpPr>
          <p:cNvPr id="8" name="Connector 7"/>
          <p:cNvCxnSpPr/>
          <p:nvPr/>
        </p:nvCxnSpPr>
        <p:spPr>
          <a:xfrm>
            <a:off x="3282696" y="2468880"/>
            <a:ext cx="201168"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93008" y="2011680"/>
            <a:ext cx="2606040" cy="914400"/>
          </a:xfrm>
          <a:prstGeom prst="roundRect">
            <a:avLst>
              <a:gd name="adj" fmla="val 8000"/>
            </a:avLst>
          </a:prstGeom>
          <a:solidFill>
            <a:srgbClr val="F65E3B"/>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9F6F2"/>
                </a:solidFill>
                <a:latin typeface="Segoe UI Semibold"/>
              </a:rPr>
              <a:t>Step the env</a:t>
            </a:r>
          </a:p>
        </p:txBody>
      </p:sp>
      <p:sp>
        <p:nvSpPr>
          <p:cNvPr id="5" name="Rounded Rectangle 4"/>
          <p:cNvSpPr/>
          <p:nvPr/>
        </p:nvSpPr>
        <p:spPr>
          <a:xfrm>
            <a:off x="1691640" y="1554480"/>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1</a:t>
            </a:r>
          </a:p>
        </p:txBody>
      </p:sp>
      <p:sp>
        <p:nvSpPr>
          <p:cNvPr id="11" name="TextBox 10"/>
          <p:cNvSpPr txBox="1"/>
          <p:nvPr/>
        </p:nvSpPr>
        <p:spPr>
          <a:xfrm>
            <a:off x="3584448" y="3063240"/>
            <a:ext cx="2423160" cy="2240280"/>
          </a:xfrm>
          <a:prstGeom prst="rect">
            <a:avLst/>
          </a:prstGeom>
          <a:noFill/>
        </p:spPr>
        <p:txBody>
          <a:bodyPr wrap="square" lIns="0" tIns="0" rIns="0" bIns="0">
            <a:spAutoFit/>
          </a:bodyPr>
          <a:lstStyle/>
          <a:p>
            <a:pPr algn="ctr"/>
            <a:r>
              <a:rPr sz="1300" b="0" i="0">
                <a:solidFill>
                  <a:srgbClr val="776E65"/>
                </a:solidFill>
                <a:latin typeface="Segoe UI"/>
              </a:rPr>
              <a:t>Apply move → after_t
Spawn random tile
→ next board s_{t+1}</a:t>
            </a:r>
          </a:p>
        </p:txBody>
      </p:sp>
      <p:cxnSp>
        <p:nvCxnSpPr>
          <p:cNvPr id="12" name="Connector 11"/>
          <p:cNvCxnSpPr/>
          <p:nvPr/>
        </p:nvCxnSpPr>
        <p:spPr>
          <a:xfrm>
            <a:off x="6135624" y="2468880"/>
            <a:ext cx="201168"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45936" y="2011680"/>
            <a:ext cx="2606040" cy="914400"/>
          </a:xfrm>
          <a:prstGeom prst="roundRect">
            <a:avLst>
              <a:gd name="adj" fmla="val 8000"/>
            </a:avLst>
          </a:prstGeom>
          <a:solidFill>
            <a:srgbClr val="EDCC61"/>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9F6F2"/>
                </a:solidFill>
                <a:latin typeface="Segoe UI Semibold"/>
              </a:rPr>
              <a:t>Pick next move</a:t>
            </a:r>
          </a:p>
        </p:txBody>
      </p:sp>
      <p:sp>
        <p:nvSpPr>
          <p:cNvPr id="9" name="Rounded Rectangle 8"/>
          <p:cNvSpPr/>
          <p:nvPr/>
        </p:nvSpPr>
        <p:spPr>
          <a:xfrm>
            <a:off x="4544568" y="1554480"/>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2</a:t>
            </a:r>
          </a:p>
        </p:txBody>
      </p:sp>
      <p:sp>
        <p:nvSpPr>
          <p:cNvPr id="15" name="TextBox 14"/>
          <p:cNvSpPr txBox="1"/>
          <p:nvPr/>
        </p:nvSpPr>
        <p:spPr>
          <a:xfrm>
            <a:off x="6437376" y="3063240"/>
            <a:ext cx="2423160" cy="2240280"/>
          </a:xfrm>
          <a:prstGeom prst="rect">
            <a:avLst/>
          </a:prstGeom>
          <a:noFill/>
        </p:spPr>
        <p:txBody>
          <a:bodyPr wrap="square" lIns="0" tIns="0" rIns="0" bIns="0">
            <a:spAutoFit/>
          </a:bodyPr>
          <a:lstStyle/>
          <a:p>
            <a:pPr algn="ctr"/>
            <a:r>
              <a:rPr sz="1300" b="0" i="0">
                <a:solidFill>
                  <a:srgbClr val="776E65"/>
                </a:solidFill>
                <a:latin typeface="Segoe UI"/>
              </a:rPr>
              <a:t>Repeat step 1 on s_{t+1}.
Get a_{t+1}, r_{t+1},
after_{t+1}.</a:t>
            </a:r>
          </a:p>
        </p:txBody>
      </p:sp>
      <p:cxnSp>
        <p:nvCxnSpPr>
          <p:cNvPr id="16" name="Connector 15"/>
          <p:cNvCxnSpPr/>
          <p:nvPr/>
        </p:nvCxnSpPr>
        <p:spPr>
          <a:xfrm>
            <a:off x="8988552" y="2468880"/>
            <a:ext cx="201168" cy="0"/>
          </a:xfrm>
          <a:prstGeom prst="line">
            <a:avLst/>
          </a:prstGeom>
          <a:ln w="31750">
            <a:solidFill>
              <a:srgbClr val="BBAD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98864" y="2011680"/>
            <a:ext cx="2606040" cy="91440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9F6F2"/>
                </a:solidFill>
                <a:latin typeface="Segoe UI Semibold"/>
              </a:rPr>
              <a:t>TD update</a:t>
            </a:r>
          </a:p>
        </p:txBody>
      </p:sp>
      <p:sp>
        <p:nvSpPr>
          <p:cNvPr id="13" name="Rounded Rectangle 12"/>
          <p:cNvSpPr/>
          <p:nvPr/>
        </p:nvSpPr>
        <p:spPr>
          <a:xfrm>
            <a:off x="7397496" y="1554480"/>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3</a:t>
            </a:r>
          </a:p>
        </p:txBody>
      </p:sp>
      <p:sp>
        <p:nvSpPr>
          <p:cNvPr id="19" name="TextBox 18"/>
          <p:cNvSpPr txBox="1"/>
          <p:nvPr/>
        </p:nvSpPr>
        <p:spPr>
          <a:xfrm>
            <a:off x="9290304" y="3063240"/>
            <a:ext cx="2423160" cy="2240280"/>
          </a:xfrm>
          <a:prstGeom prst="rect">
            <a:avLst/>
          </a:prstGeom>
          <a:noFill/>
        </p:spPr>
        <p:txBody>
          <a:bodyPr wrap="square" lIns="0" tIns="0" rIns="0" bIns="0">
            <a:spAutoFit/>
          </a:bodyPr>
          <a:lstStyle/>
          <a:p>
            <a:pPr algn="ctr"/>
            <a:r>
              <a:rPr sz="1300" b="0" i="0">
                <a:solidFill>
                  <a:srgbClr val="776E65"/>
                </a:solidFill>
                <a:latin typeface="Segoe UI"/>
              </a:rPr>
              <a:t>δ = r_{t+1} + V(after_{t+1}) − V(after_t)
Add α·δ to all 24 weights
that made up V(after_t).</a:t>
            </a:r>
          </a:p>
        </p:txBody>
      </p:sp>
      <p:sp>
        <p:nvSpPr>
          <p:cNvPr id="20" name="TextBox 19"/>
          <p:cNvSpPr txBox="1"/>
          <p:nvPr/>
        </p:nvSpPr>
        <p:spPr>
          <a:xfrm>
            <a:off x="548640" y="5669280"/>
            <a:ext cx="11064240" cy="457200"/>
          </a:xfrm>
          <a:prstGeom prst="rect">
            <a:avLst/>
          </a:prstGeom>
          <a:noFill/>
        </p:spPr>
        <p:txBody>
          <a:bodyPr wrap="square" lIns="0" tIns="0" rIns="0" bIns="0">
            <a:spAutoFit/>
          </a:bodyPr>
          <a:lstStyle/>
          <a:p>
            <a:pPr algn="ctr"/>
            <a:r>
              <a:rPr sz="1400" b="0" i="1">
                <a:solidFill>
                  <a:srgbClr val="776E65"/>
                </a:solidFill>
                <a:latin typeface="Segoe UI"/>
              </a:rPr>
              <a:t>Each update touches 24 numbers — microseconds per step</a:t>
            </a:r>
          </a:p>
        </p:txBody>
      </p:sp>
      <p:sp>
        <p:nvSpPr>
          <p:cNvPr id="21" name="TextBox 20"/>
          <p:cNvSpPr txBox="1"/>
          <p:nvPr/>
        </p:nvSpPr>
        <p:spPr>
          <a:xfrm>
            <a:off x="548640" y="6126480"/>
            <a:ext cx="11064240" cy="365760"/>
          </a:xfrm>
          <a:prstGeom prst="rect">
            <a:avLst/>
          </a:prstGeom>
          <a:noFill/>
        </p:spPr>
        <p:txBody>
          <a:bodyPr wrap="square" lIns="0" tIns="0" rIns="0" bIns="0">
            <a:spAutoFit/>
          </a:bodyPr>
          <a:lstStyle/>
          <a:p>
            <a:pPr algn="ctr"/>
            <a:r>
              <a:rPr sz="1200" b="0" i="1">
                <a:solidFill>
                  <a:srgbClr val="A9A097"/>
                </a:solidFill>
                <a:latin typeface="Segoe UI"/>
              </a:rPr>
              <a:t>Trained for 10,000 games (~55 min on CPU)</a:t>
            </a:r>
          </a:p>
        </p:txBody>
      </p:sp>
      <p:sp>
        <p:nvSpPr>
          <p:cNvPr id="17" name="Rounded Rectangle 16"/>
          <p:cNvSpPr/>
          <p:nvPr/>
        </p:nvSpPr>
        <p:spPr>
          <a:xfrm>
            <a:off x="10250424" y="1554480"/>
            <a:ext cx="502920" cy="5029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9F6F2"/>
                </a:solidFill>
                <a:latin typeface="Segoe UI Semibold"/>
              </a:rPr>
              <a:t>4</a:t>
            </a:r>
          </a:p>
        </p:txBody>
      </p:sp>
      <p:sp>
        <p:nvSpPr>
          <p:cNvPr id="22" name="TextBox 21"/>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13</a:t>
            </a:r>
            <a:r>
              <a:rPr sz="1000" b="0" i="0">
                <a:solidFill>
                  <a:srgbClr val="A9A097"/>
                </a:solidFill>
                <a:latin typeface="Segoe UI"/>
              </a:rPr>
              <a:t> / 19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Results — the headline numbers</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Random and greedy as baselines · DQN and N-tuple were trained</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grpSp>
        <p:nvGrpSpPr>
          <p:cNvPr id="17" name="Group 16">
            <a:extLst>
              <a:ext uri="{FF2B5EF4-FFF2-40B4-BE49-F238E27FC236}">
                <a16:creationId xmlns:a16="http://schemas.microsoft.com/office/drawing/2014/main" id="{6A920A57-03D9-A0C5-F572-A79284C0FB8F}"/>
              </a:ext>
            </a:extLst>
          </p:cNvPr>
          <p:cNvGrpSpPr/>
          <p:nvPr/>
        </p:nvGrpSpPr>
        <p:grpSpPr>
          <a:xfrm>
            <a:off x="545490" y="1508762"/>
            <a:ext cx="11341710" cy="1801365"/>
            <a:chOff x="271170" y="1508760"/>
            <a:chExt cx="11759184" cy="1828800"/>
          </a:xfrm>
        </p:grpSpPr>
        <p:sp>
          <p:nvSpPr>
            <p:cNvPr id="5" name="TextBox 4"/>
            <p:cNvSpPr txBox="1"/>
            <p:nvPr/>
          </p:nvSpPr>
          <p:spPr>
            <a:xfrm>
              <a:off x="271170" y="1508760"/>
              <a:ext cx="2788920" cy="365760"/>
            </a:xfrm>
            <a:prstGeom prst="rect">
              <a:avLst/>
            </a:prstGeom>
            <a:noFill/>
          </p:spPr>
          <p:txBody>
            <a:bodyPr wrap="square" lIns="0" tIns="0" rIns="0" bIns="0">
              <a:spAutoFit/>
            </a:bodyPr>
            <a:lstStyle/>
            <a:p>
              <a:pPr algn="ctr"/>
              <a:r>
                <a:rPr sz="1400" b="1" i="0">
                  <a:solidFill>
                    <a:srgbClr val="776E65"/>
                  </a:solidFill>
                  <a:latin typeface="Segoe UI Semibold"/>
                </a:rPr>
                <a:t>Random</a:t>
              </a:r>
            </a:p>
          </p:txBody>
        </p:sp>
        <p:sp>
          <p:nvSpPr>
            <p:cNvPr id="6" name="Rounded Rectangle 5"/>
            <p:cNvSpPr/>
            <p:nvPr/>
          </p:nvSpPr>
          <p:spPr>
            <a:xfrm>
              <a:off x="271170" y="1920240"/>
              <a:ext cx="2788920" cy="1417320"/>
            </a:xfrm>
            <a:prstGeom prst="roundRect">
              <a:avLst>
                <a:gd name="adj" fmla="val 8000"/>
              </a:avLst>
            </a:prstGeom>
            <a:solidFill>
              <a:srgbClr val="EEE4DA"/>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200" b="1">
                  <a:solidFill>
                    <a:srgbClr val="776E65"/>
                  </a:solidFill>
                  <a:latin typeface="Segoe UI Semibold"/>
                </a:rPr>
                <a:t>298</a:t>
              </a:r>
            </a:p>
            <a:p>
              <a:pPr algn="ctr"/>
              <a:r>
                <a:rPr sz="1400" b="0">
                  <a:solidFill>
                    <a:srgbClr val="776E65"/>
                  </a:solidFill>
                  <a:latin typeface="Segoe UI"/>
                </a:rPr>
                <a:t>mean reward</a:t>
              </a:r>
            </a:p>
          </p:txBody>
        </p:sp>
        <p:sp>
          <p:nvSpPr>
            <p:cNvPr id="7" name="TextBox 6"/>
            <p:cNvSpPr txBox="1"/>
            <p:nvPr/>
          </p:nvSpPr>
          <p:spPr>
            <a:xfrm>
              <a:off x="3261258" y="1508760"/>
              <a:ext cx="2788920" cy="365760"/>
            </a:xfrm>
            <a:prstGeom prst="rect">
              <a:avLst/>
            </a:prstGeom>
            <a:noFill/>
          </p:spPr>
          <p:txBody>
            <a:bodyPr wrap="square" lIns="0" tIns="0" rIns="0" bIns="0">
              <a:spAutoFit/>
            </a:bodyPr>
            <a:lstStyle/>
            <a:p>
              <a:pPr algn="ctr"/>
              <a:r>
                <a:rPr sz="1400" b="1" i="0">
                  <a:solidFill>
                    <a:srgbClr val="776E65"/>
                  </a:solidFill>
                  <a:latin typeface="Segoe UI Semibold"/>
                </a:rPr>
                <a:t>Greedy</a:t>
              </a:r>
            </a:p>
          </p:txBody>
        </p:sp>
        <p:sp>
          <p:nvSpPr>
            <p:cNvPr id="8" name="Rounded Rectangle 7"/>
            <p:cNvSpPr/>
            <p:nvPr/>
          </p:nvSpPr>
          <p:spPr>
            <a:xfrm>
              <a:off x="3261258" y="1920240"/>
              <a:ext cx="2788920" cy="1417320"/>
            </a:xfrm>
            <a:prstGeom prst="roundRect">
              <a:avLst>
                <a:gd name="adj" fmla="val 8000"/>
              </a:avLst>
            </a:prstGeom>
            <a:solidFill>
              <a:srgbClr val="F2B179"/>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200" b="1">
                  <a:solidFill>
                    <a:srgbClr val="F9F6F2"/>
                  </a:solidFill>
                  <a:latin typeface="Segoe UI Semibold"/>
                </a:rPr>
                <a:t>1,300</a:t>
              </a:r>
            </a:p>
            <a:p>
              <a:pPr algn="ctr"/>
              <a:r>
                <a:rPr sz="1400" b="0">
                  <a:solidFill>
                    <a:srgbClr val="F9F6F2"/>
                  </a:solidFill>
                  <a:latin typeface="Segoe UI"/>
                </a:rPr>
                <a:t>mean reward</a:t>
              </a:r>
            </a:p>
          </p:txBody>
        </p:sp>
        <p:sp>
          <p:nvSpPr>
            <p:cNvPr id="9" name="TextBox 8"/>
            <p:cNvSpPr txBox="1"/>
            <p:nvPr/>
          </p:nvSpPr>
          <p:spPr>
            <a:xfrm>
              <a:off x="6251346" y="1508760"/>
              <a:ext cx="2788920" cy="365760"/>
            </a:xfrm>
            <a:prstGeom prst="rect">
              <a:avLst/>
            </a:prstGeom>
            <a:noFill/>
          </p:spPr>
          <p:txBody>
            <a:bodyPr wrap="square" lIns="0" tIns="0" rIns="0" bIns="0">
              <a:spAutoFit/>
            </a:bodyPr>
            <a:lstStyle/>
            <a:p>
              <a:pPr algn="ctr"/>
              <a:r>
                <a:rPr sz="1400" b="1" i="0">
                  <a:solidFill>
                    <a:srgbClr val="776E65"/>
                  </a:solidFill>
                  <a:latin typeface="Segoe UI Semibold"/>
                </a:rPr>
                <a:t>DQN</a:t>
              </a:r>
            </a:p>
          </p:txBody>
        </p:sp>
        <p:sp>
          <p:nvSpPr>
            <p:cNvPr id="10" name="Rounded Rectangle 9"/>
            <p:cNvSpPr/>
            <p:nvPr/>
          </p:nvSpPr>
          <p:spPr>
            <a:xfrm>
              <a:off x="6251346" y="1920240"/>
              <a:ext cx="2788920" cy="1417320"/>
            </a:xfrm>
            <a:prstGeom prst="roundRect">
              <a:avLst>
                <a:gd name="adj" fmla="val 8000"/>
              </a:avLst>
            </a:prstGeom>
            <a:solidFill>
              <a:srgbClr val="F59563"/>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200" b="1">
                  <a:solidFill>
                    <a:srgbClr val="F9F6F2"/>
                  </a:solidFill>
                  <a:latin typeface="Segoe UI Semibold"/>
                </a:rPr>
                <a:t>311</a:t>
              </a:r>
            </a:p>
            <a:p>
              <a:pPr algn="ctr"/>
              <a:r>
                <a:rPr sz="1400" b="0">
                  <a:solidFill>
                    <a:srgbClr val="F9F6F2"/>
                  </a:solidFill>
                  <a:latin typeface="Segoe UI"/>
                </a:rPr>
                <a:t>mean reward</a:t>
              </a:r>
            </a:p>
          </p:txBody>
        </p:sp>
        <p:sp>
          <p:nvSpPr>
            <p:cNvPr id="11" name="TextBox 10"/>
            <p:cNvSpPr txBox="1"/>
            <p:nvPr/>
          </p:nvSpPr>
          <p:spPr>
            <a:xfrm>
              <a:off x="9241434" y="1508760"/>
              <a:ext cx="2788920" cy="365760"/>
            </a:xfrm>
            <a:prstGeom prst="rect">
              <a:avLst/>
            </a:prstGeom>
            <a:noFill/>
          </p:spPr>
          <p:txBody>
            <a:bodyPr wrap="square" lIns="0" tIns="0" rIns="0" bIns="0">
              <a:spAutoFit/>
            </a:bodyPr>
            <a:lstStyle/>
            <a:p>
              <a:pPr algn="ctr"/>
              <a:r>
                <a:rPr sz="1400" b="1" i="0">
                  <a:solidFill>
                    <a:srgbClr val="776E65"/>
                  </a:solidFill>
                  <a:latin typeface="Segoe UI Semibold"/>
                </a:rPr>
                <a:t>N-tuple</a:t>
              </a:r>
            </a:p>
          </p:txBody>
        </p:sp>
        <p:sp>
          <p:nvSpPr>
            <p:cNvPr id="12" name="Rounded Rectangle 11"/>
            <p:cNvSpPr/>
            <p:nvPr/>
          </p:nvSpPr>
          <p:spPr>
            <a:xfrm>
              <a:off x="9241434" y="1920240"/>
              <a:ext cx="2788920" cy="14173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200" b="1">
                  <a:solidFill>
                    <a:srgbClr val="F9F6F2"/>
                  </a:solidFill>
                  <a:latin typeface="Segoe UI Semibold"/>
                </a:rPr>
                <a:t>3,270</a:t>
              </a:r>
            </a:p>
            <a:p>
              <a:pPr algn="ctr"/>
              <a:r>
                <a:rPr sz="1400" b="0">
                  <a:solidFill>
                    <a:srgbClr val="F9F6F2"/>
                  </a:solidFill>
                  <a:latin typeface="Segoe UI"/>
                </a:rPr>
                <a:t>mean reward</a:t>
              </a:r>
            </a:p>
          </p:txBody>
        </p:sp>
      </p:grpSp>
      <p:pic>
        <p:nvPicPr>
          <p:cNvPr id="13" name="Picture 12" descr="fig_scores_2048.png"/>
          <p:cNvPicPr>
            <a:picLocks noChangeAspect="1"/>
          </p:cNvPicPr>
          <p:nvPr/>
        </p:nvPicPr>
        <p:blipFill>
          <a:blip r:embed="rId4"/>
          <a:stretch>
            <a:fillRect/>
          </a:stretch>
        </p:blipFill>
        <p:spPr>
          <a:xfrm>
            <a:off x="365760" y="3657600"/>
            <a:ext cx="5905233" cy="2743200"/>
          </a:xfrm>
          <a:prstGeom prst="rect">
            <a:avLst/>
          </a:prstGeom>
        </p:spPr>
      </p:pic>
      <p:sp>
        <p:nvSpPr>
          <p:cNvPr id="14" name="TextBox 13"/>
          <p:cNvSpPr txBox="1"/>
          <p:nvPr/>
        </p:nvSpPr>
        <p:spPr>
          <a:xfrm>
            <a:off x="6400800" y="3703320"/>
            <a:ext cx="5486400" cy="457200"/>
          </a:xfrm>
          <a:prstGeom prst="rect">
            <a:avLst/>
          </a:prstGeom>
          <a:noFill/>
        </p:spPr>
        <p:txBody>
          <a:bodyPr wrap="square" lIns="0" tIns="0" rIns="0" bIns="0">
            <a:spAutoFit/>
          </a:bodyPr>
          <a:lstStyle/>
          <a:p>
            <a:pPr algn="l"/>
            <a:r>
              <a:rPr sz="1800" b="1" i="0">
                <a:solidFill>
                  <a:srgbClr val="776E65"/>
                </a:solidFill>
                <a:latin typeface="Segoe UI Semibold"/>
              </a:rPr>
              <a:t>What stands out</a:t>
            </a:r>
          </a:p>
        </p:txBody>
      </p:sp>
      <p:sp>
        <p:nvSpPr>
          <p:cNvPr id="15" name="TextBox 14"/>
          <p:cNvSpPr txBox="1"/>
          <p:nvPr/>
        </p:nvSpPr>
        <p:spPr>
          <a:xfrm>
            <a:off x="6400800" y="4114800"/>
            <a:ext cx="5486400" cy="2560320"/>
          </a:xfrm>
          <a:prstGeom prst="rect">
            <a:avLst/>
          </a:prstGeom>
          <a:noFill/>
        </p:spPr>
        <p:txBody>
          <a:bodyPr wrap="square" lIns="0" tIns="0" rIns="0" bIns="0">
            <a:spAutoFit/>
          </a:bodyPr>
          <a:lstStyle/>
          <a:p>
            <a:pPr algn="l">
              <a:lnSpc>
                <a:spcPct val="130000"/>
              </a:lnSpc>
            </a:pPr>
            <a:r>
              <a:rPr sz="1300">
                <a:solidFill>
                  <a:srgbClr val="776E65"/>
                </a:solidFill>
                <a:latin typeface="Segoe UI"/>
              </a:rPr>
              <a:t>•  N-tuple wins by an order of magnitude on mean reward (3,270 vs 311 for DQN)</a:t>
            </a:r>
          </a:p>
          <a:p>
            <a:pPr algn="l">
              <a:lnSpc>
                <a:spcPct val="130000"/>
              </a:lnSpc>
            </a:pPr>
            <a:r>
              <a:rPr sz="1300">
                <a:solidFill>
                  <a:srgbClr val="776E65"/>
                </a:solidFill>
                <a:latin typeface="Segoe UI"/>
              </a:rPr>
              <a:t>•  DQN is effectively random: 311 vs 298 for uniform play</a:t>
            </a:r>
          </a:p>
          <a:p>
            <a:pPr algn="l">
              <a:lnSpc>
                <a:spcPct val="130000"/>
              </a:lnSpc>
            </a:pPr>
            <a:r>
              <a:rPr sz="1300">
                <a:solidFill>
                  <a:srgbClr val="776E65"/>
                </a:solidFill>
                <a:latin typeface="Segoe UI"/>
              </a:rPr>
              <a:t>•  Even greedy (no learning) beats DQN by 4×</a:t>
            </a:r>
          </a:p>
          <a:p>
            <a:pPr algn="l">
              <a:lnSpc>
                <a:spcPct val="130000"/>
              </a:lnSpc>
            </a:pPr>
            <a:r>
              <a:rPr sz="1300">
                <a:solidFill>
                  <a:srgbClr val="776E65"/>
                </a:solidFill>
                <a:latin typeface="Segoe UI"/>
              </a:rPr>
              <a:t>•  Scores are in log₂-merge units — about 5× smaller than the official 2048 score</a:t>
            </a:r>
          </a:p>
        </p:txBody>
      </p:sp>
      <p:sp>
        <p:nvSpPr>
          <p:cNvPr id="16" name="TextBox 15"/>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14</a:t>
            </a:r>
            <a:r>
              <a:rPr sz="1000" b="0" i="0">
                <a:solidFill>
                  <a:srgbClr val="A9A097"/>
                </a:solidFill>
                <a:latin typeface="Segoe UI"/>
              </a:rPr>
              <a:t> / 19</a:t>
            </a:r>
          </a:p>
        </p:txBody>
      </p:sp>
    </p:spTree>
  </p:cSld>
  <p:clrMapOvr>
    <a:masterClrMapping/>
  </p:clrMapOvr>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Why did the linear method win?</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Three things the n-tuple gets for free — before it ever starts learning</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57200" y="1691640"/>
            <a:ext cx="3703320" cy="146304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Right features
beat raw data</a:t>
            </a:r>
          </a:p>
        </p:txBody>
      </p:sp>
      <p:sp>
        <p:nvSpPr>
          <p:cNvPr id="6" name="TextBox 5"/>
          <p:cNvSpPr txBox="1"/>
          <p:nvPr/>
        </p:nvSpPr>
        <p:spPr>
          <a:xfrm>
            <a:off x="594360" y="3291840"/>
            <a:ext cx="3429000" cy="3154680"/>
          </a:xfrm>
          <a:prstGeom prst="rect">
            <a:avLst/>
          </a:prstGeom>
          <a:noFill/>
        </p:spPr>
        <p:txBody>
          <a:bodyPr wrap="square" lIns="0" tIns="0" rIns="0" bIns="0">
            <a:spAutoFit/>
          </a:bodyPr>
          <a:lstStyle/>
          <a:p>
            <a:pPr algn="l"/>
            <a:r>
              <a:rPr sz="1400" b="0" i="0">
                <a:solidFill>
                  <a:srgbClr val="776E65"/>
                </a:solidFill>
                <a:latin typeface="Segoe UI"/>
              </a:rPr>
              <a:t>The n-tuple's patches encode
exactly what good 2048 play
is about:
• adjacency of tiles
• corner structure
• row monotonicity
DQN has 256 raw numbers
and no idea any of that matters.</a:t>
            </a:r>
          </a:p>
        </p:txBody>
      </p:sp>
      <p:sp>
        <p:nvSpPr>
          <p:cNvPr id="7" name="Rounded Rectangle 6"/>
          <p:cNvSpPr/>
          <p:nvPr/>
        </p:nvSpPr>
        <p:spPr>
          <a:xfrm>
            <a:off x="4361688" y="1691640"/>
            <a:ext cx="3703320" cy="1463040"/>
          </a:xfrm>
          <a:prstGeom prst="roundRect">
            <a:avLst>
              <a:gd name="adj" fmla="val 8000"/>
            </a:avLst>
          </a:prstGeom>
          <a:solidFill>
            <a:srgbClr val="EDC53F"/>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Symmetry sharing
= free 4-8× efficiency</a:t>
            </a:r>
          </a:p>
        </p:txBody>
      </p:sp>
      <p:sp>
        <p:nvSpPr>
          <p:cNvPr id="8" name="TextBox 7"/>
          <p:cNvSpPr txBox="1"/>
          <p:nvPr/>
        </p:nvSpPr>
        <p:spPr>
          <a:xfrm>
            <a:off x="4498848" y="3291840"/>
            <a:ext cx="3429000" cy="3154680"/>
          </a:xfrm>
          <a:prstGeom prst="rect">
            <a:avLst/>
          </a:prstGeom>
          <a:noFill/>
        </p:spPr>
        <p:txBody>
          <a:bodyPr wrap="square" lIns="0" tIns="0" rIns="0" bIns="0">
            <a:spAutoFit/>
          </a:bodyPr>
          <a:lstStyle/>
          <a:p>
            <a:pPr algn="l"/>
            <a:r>
              <a:rPr sz="1400" b="0" i="0">
                <a:solidFill>
                  <a:srgbClr val="776E65"/>
                </a:solidFill>
                <a:latin typeface="Segoe UI"/>
              </a:rPr>
              <a:t>A clever move in the top-left
is a clever move in the top-right
(mirrored), bottom-left (flipped),
etc.
The n-tuple updates all 8
variants at once.
DQN learns each corner
separately.</a:t>
            </a:r>
          </a:p>
        </p:txBody>
      </p:sp>
      <p:sp>
        <p:nvSpPr>
          <p:cNvPr id="9" name="Rounded Rectangle 8"/>
          <p:cNvSpPr/>
          <p:nvPr/>
        </p:nvSpPr>
        <p:spPr>
          <a:xfrm>
            <a:off x="8266176" y="1691640"/>
            <a:ext cx="3703320" cy="1463040"/>
          </a:xfrm>
          <a:prstGeom prst="roundRect">
            <a:avLst>
              <a:gd name="adj" fmla="val 8000"/>
            </a:avLst>
          </a:prstGeom>
          <a:solidFill>
            <a:srgbClr val="EDC850"/>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Cleaner learning
signal</a:t>
            </a:r>
          </a:p>
        </p:txBody>
      </p:sp>
      <p:sp>
        <p:nvSpPr>
          <p:cNvPr id="10" name="TextBox 9"/>
          <p:cNvSpPr txBox="1"/>
          <p:nvPr/>
        </p:nvSpPr>
        <p:spPr>
          <a:xfrm>
            <a:off x="8403336" y="3291840"/>
            <a:ext cx="3429000" cy="3154680"/>
          </a:xfrm>
          <a:prstGeom prst="rect">
            <a:avLst/>
          </a:prstGeom>
          <a:noFill/>
        </p:spPr>
        <p:txBody>
          <a:bodyPr wrap="square" lIns="0" tIns="0" rIns="0" bIns="0">
            <a:spAutoFit/>
          </a:bodyPr>
          <a:lstStyle/>
          <a:p>
            <a:pPr algn="l"/>
            <a:r>
              <a:rPr sz="1400" b="0" i="0">
                <a:solidFill>
                  <a:srgbClr val="776E65"/>
                </a:solidFill>
                <a:latin typeface="Segoe UI"/>
              </a:rPr>
              <a:t>N-tuple learns afterstate values
— the board before the
random tile spawn.
That keeps spawn noise out of
the target.
DQN learns the post-spawn board,
so every target includes noise
it couldn't have controlled.</a:t>
            </a:r>
          </a:p>
        </p:txBody>
      </p:sp>
      <p:sp>
        <p:nvSpPr>
          <p:cNvPr id="12" name="TextBox 11"/>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15</a:t>
            </a:r>
            <a:r>
              <a:rPr sz="1000" b="0" i="0">
                <a:solidFill>
                  <a:srgbClr val="A9A097"/>
                </a:solidFill>
                <a:latin typeface="Segoe UI"/>
              </a:rPr>
              <a:t> / 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Results — how often each tile is reached</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Max-tile probability tells the real story</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pic>
        <p:nvPicPr>
          <p:cNvPr id="5" name="Picture 4" descr="fig_tile_reach_2048.png"/>
          <p:cNvPicPr>
            <a:picLocks noChangeAspect="1"/>
          </p:cNvPicPr>
          <p:nvPr/>
        </p:nvPicPr>
        <p:blipFill>
          <a:blip r:embed="rId3"/>
          <a:stretch>
            <a:fillRect/>
          </a:stretch>
        </p:blipFill>
        <p:spPr>
          <a:xfrm>
            <a:off x="365760" y="1691640"/>
            <a:ext cx="7547201" cy="3474720"/>
          </a:xfrm>
          <a:prstGeom prst="rect">
            <a:avLst/>
          </a:prstGeom>
        </p:spPr>
      </p:pic>
      <p:sp>
        <p:nvSpPr>
          <p:cNvPr id="6" name="TextBox 5"/>
          <p:cNvSpPr txBox="1"/>
          <p:nvPr/>
        </p:nvSpPr>
        <p:spPr>
          <a:xfrm>
            <a:off x="8046720" y="1783080"/>
            <a:ext cx="4023360" cy="457200"/>
          </a:xfrm>
          <a:prstGeom prst="rect">
            <a:avLst/>
          </a:prstGeom>
          <a:noFill/>
        </p:spPr>
        <p:txBody>
          <a:bodyPr wrap="square" lIns="0" tIns="0" rIns="0" bIns="0">
            <a:spAutoFit/>
          </a:bodyPr>
          <a:lstStyle/>
          <a:p>
            <a:pPr algn="l"/>
            <a:r>
              <a:rPr sz="1800" b="1" i="0">
                <a:solidFill>
                  <a:srgbClr val="776E65"/>
                </a:solidFill>
                <a:latin typeface="Segoe UI Semibold"/>
              </a:rPr>
              <a:t>Reading the chart</a:t>
            </a:r>
          </a:p>
        </p:txBody>
      </p:sp>
      <p:sp>
        <p:nvSpPr>
          <p:cNvPr id="7" name="TextBox 6"/>
          <p:cNvSpPr txBox="1"/>
          <p:nvPr/>
        </p:nvSpPr>
        <p:spPr>
          <a:xfrm>
            <a:off x="8046720" y="2240280"/>
            <a:ext cx="4023360" cy="3200400"/>
          </a:xfrm>
          <a:prstGeom prst="rect">
            <a:avLst/>
          </a:prstGeom>
          <a:noFill/>
        </p:spPr>
        <p:txBody>
          <a:bodyPr wrap="square" lIns="0" tIns="0" rIns="0" bIns="0">
            <a:spAutoFit/>
          </a:bodyPr>
          <a:lstStyle/>
          <a:p>
            <a:pPr algn="l">
              <a:lnSpc>
                <a:spcPct val="130000"/>
              </a:lnSpc>
            </a:pPr>
            <a:r>
              <a:rPr sz="1300">
                <a:solidFill>
                  <a:srgbClr val="776E65"/>
                </a:solidFill>
                <a:latin typeface="Segoe UI"/>
              </a:rPr>
              <a:t>•  N-tuple reaches 1024 in 87 % of games and 2048 in 25 %</a:t>
            </a:r>
          </a:p>
          <a:p>
            <a:pPr algn="l">
              <a:lnSpc>
                <a:spcPct val="130000"/>
              </a:lnSpc>
            </a:pPr>
            <a:r>
              <a:rPr sz="1300">
                <a:solidFill>
                  <a:srgbClr val="776E65"/>
                </a:solidFill>
                <a:latin typeface="Segoe UI"/>
              </a:rPr>
              <a:t>•  Greedy reaches 1024 in only 11 %, never 2048</a:t>
            </a:r>
          </a:p>
          <a:p>
            <a:pPr algn="l">
              <a:lnSpc>
                <a:spcPct val="130000"/>
              </a:lnSpc>
            </a:pPr>
            <a:r>
              <a:rPr sz="1300">
                <a:solidFill>
                  <a:srgbClr val="776E65"/>
                </a:solidFill>
                <a:latin typeface="Segoe UI"/>
              </a:rPr>
              <a:t>•  DQN never reaches 512 — same distribution as random</a:t>
            </a:r>
          </a:p>
          <a:p>
            <a:pPr algn="l">
              <a:lnSpc>
                <a:spcPct val="130000"/>
              </a:lnSpc>
            </a:pPr>
            <a:r>
              <a:rPr sz="1300">
                <a:solidFill>
                  <a:srgbClr val="776E65"/>
                </a:solidFill>
                <a:latin typeface="Segoe UI"/>
              </a:rPr>
              <a:t>•  The gap is not noise — it is structural</a:t>
            </a:r>
          </a:p>
        </p:txBody>
      </p:sp>
      <p:sp>
        <p:nvSpPr>
          <p:cNvPr id="8" name="Rounded Rectangle 7"/>
          <p:cNvSpPr/>
          <p:nvPr/>
        </p:nvSpPr>
        <p:spPr>
          <a:xfrm>
            <a:off x="548640" y="5440680"/>
            <a:ext cx="11064240" cy="109728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F9F6F2"/>
                </a:solidFill>
                <a:latin typeface="Segoe UI Semibold"/>
              </a:rPr>
              <a:t>25 % of games end with the 2048 tile</a:t>
            </a:r>
          </a:p>
          <a:p>
            <a:pPr algn="ctr"/>
            <a:r>
              <a:rPr sz="1400" b="0">
                <a:solidFill>
                  <a:srgbClr val="F9F6F2"/>
                </a:solidFill>
                <a:latin typeface="Segoe UI"/>
              </a:rPr>
              <a:t>(N-tuple, 300-game test set)</a:t>
            </a:r>
          </a:p>
        </p:txBody>
      </p:sp>
      <p:sp>
        <p:nvSpPr>
          <p:cNvPr id="9" name="TextBox 8"/>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16 </a:t>
            </a:r>
            <a:r>
              <a:rPr sz="1000" b="0" i="0">
                <a:solidFill>
                  <a:srgbClr val="A9A097"/>
                </a:solidFill>
                <a:latin typeface="Segoe UI"/>
              </a:rPr>
              <a:t>/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Results — how they learn over time</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Rolling-100 mean reward across training episodes</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pic>
        <p:nvPicPr>
          <p:cNvPr id="5" name="Picture 4" descr="fig_training_curves_2048.png"/>
          <p:cNvPicPr>
            <a:picLocks noChangeAspect="1"/>
          </p:cNvPicPr>
          <p:nvPr/>
        </p:nvPicPr>
        <p:blipFill>
          <a:blip r:embed="rId3"/>
          <a:stretch>
            <a:fillRect/>
          </a:stretch>
        </p:blipFill>
        <p:spPr>
          <a:xfrm>
            <a:off x="548640" y="1645920"/>
            <a:ext cx="8051159" cy="3657600"/>
          </a:xfrm>
          <a:prstGeom prst="rect">
            <a:avLst/>
          </a:prstGeom>
        </p:spPr>
      </p:pic>
      <p:sp>
        <p:nvSpPr>
          <p:cNvPr id="8" name="Rounded Rectangle 7"/>
          <p:cNvSpPr/>
          <p:nvPr/>
        </p:nvSpPr>
        <p:spPr>
          <a:xfrm>
            <a:off x="548640" y="5577840"/>
            <a:ext cx="11064240" cy="914400"/>
          </a:xfrm>
          <a:prstGeom prst="roundRect">
            <a:avLst>
              <a:gd name="adj" fmla="val 8000"/>
            </a:avLst>
          </a:prstGeom>
          <a:solidFill>
            <a:srgbClr val="EDC53F"/>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9F6F2"/>
                </a:solidFill>
                <a:latin typeface="Segoe UI Semibold"/>
              </a:rPr>
              <a:t>N-tuple's reward keeps growing · DQN's plateaus</a:t>
            </a:r>
          </a:p>
        </p:txBody>
      </p:sp>
      <p:sp>
        <p:nvSpPr>
          <p:cNvPr id="9" name="TextBox 8"/>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17</a:t>
            </a:r>
            <a:r>
              <a:rPr sz="1000" b="0" i="0">
                <a:solidFill>
                  <a:srgbClr val="A9A097"/>
                </a:solidFill>
                <a:latin typeface="Segoe UI"/>
              </a:rPr>
              <a:t> / 19</a:t>
            </a:r>
          </a:p>
        </p:txBody>
      </p:sp>
      <p:sp>
        <p:nvSpPr>
          <p:cNvPr id="10" name="Rechteck 9">
            <a:extLst>
              <a:ext uri="{FF2B5EF4-FFF2-40B4-BE49-F238E27FC236}">
                <a16:creationId xmlns:a16="http://schemas.microsoft.com/office/drawing/2014/main" id="{BF35FE78-9A41-1D70-B305-69AD13609097}"/>
              </a:ext>
            </a:extLst>
          </p:cNvPr>
          <p:cNvSpPr/>
          <p:nvPr/>
        </p:nvSpPr>
        <p:spPr>
          <a:xfrm>
            <a:off x="4914900" y="2240280"/>
            <a:ext cx="3314700" cy="2844800"/>
          </a:xfrm>
          <a:prstGeom prst="rect">
            <a:avLst/>
          </a:prstGeom>
          <a:solidFill>
            <a:srgbClr val="FBF8F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de-DE"/>
          </a:p>
        </p:txBody>
      </p:sp>
      <p:sp>
        <p:nvSpPr>
          <p:cNvPr id="11" name="Rechteck 10">
            <a:extLst>
              <a:ext uri="{FF2B5EF4-FFF2-40B4-BE49-F238E27FC236}">
                <a16:creationId xmlns:a16="http://schemas.microsoft.com/office/drawing/2014/main" id="{924DD101-2F76-477A-5DF8-CD5EAB1D533F}"/>
              </a:ext>
            </a:extLst>
          </p:cNvPr>
          <p:cNvSpPr/>
          <p:nvPr/>
        </p:nvSpPr>
        <p:spPr>
          <a:xfrm>
            <a:off x="7513000" y="4021836"/>
            <a:ext cx="1803400" cy="1409700"/>
          </a:xfrm>
          <a:prstGeom prst="rect">
            <a:avLst/>
          </a:prstGeom>
          <a:solidFill>
            <a:srgbClr val="FBF8F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de-DE"/>
          </a:p>
        </p:txBody>
      </p:sp>
      <p:sp>
        <p:nvSpPr>
          <p:cNvPr id="6" name="TextBox 5"/>
          <p:cNvSpPr txBox="1"/>
          <p:nvPr/>
        </p:nvSpPr>
        <p:spPr>
          <a:xfrm>
            <a:off x="6309360" y="2244213"/>
            <a:ext cx="3840480" cy="457200"/>
          </a:xfrm>
          <a:prstGeom prst="rect">
            <a:avLst/>
          </a:prstGeom>
          <a:noFill/>
        </p:spPr>
        <p:txBody>
          <a:bodyPr wrap="square" lIns="0" tIns="0" rIns="0" bIns="0">
            <a:spAutoFit/>
          </a:bodyPr>
          <a:lstStyle/>
          <a:p>
            <a:pPr algn="l"/>
            <a:r>
              <a:rPr sz="1800" b="1" i="0">
                <a:solidFill>
                  <a:srgbClr val="776E65"/>
                </a:solidFill>
                <a:latin typeface="Segoe UI Semibold"/>
              </a:rPr>
              <a:t>What to notice</a:t>
            </a:r>
          </a:p>
        </p:txBody>
      </p:sp>
      <p:sp>
        <p:nvSpPr>
          <p:cNvPr id="7" name="TextBox 6"/>
          <p:cNvSpPr txBox="1"/>
          <p:nvPr/>
        </p:nvSpPr>
        <p:spPr>
          <a:xfrm>
            <a:off x="6309360" y="2701413"/>
            <a:ext cx="3840480" cy="1533112"/>
          </a:xfrm>
          <a:prstGeom prst="rect">
            <a:avLst/>
          </a:prstGeom>
          <a:noFill/>
        </p:spPr>
        <p:txBody>
          <a:bodyPr wrap="square" lIns="0" tIns="0" rIns="0" bIns="0">
            <a:spAutoFit/>
          </a:bodyPr>
          <a:lstStyle/>
          <a:p>
            <a:pPr algn="l">
              <a:lnSpc>
                <a:spcPct val="130000"/>
              </a:lnSpc>
            </a:pPr>
            <a:r>
              <a:rPr sz="1300" dirty="0">
                <a:solidFill>
                  <a:srgbClr val="776E65"/>
                </a:solidFill>
                <a:latin typeface="Segoe UI"/>
              </a:rPr>
              <a:t>•  N-tuple climbs steadily from ~500 to ~3,000</a:t>
            </a:r>
          </a:p>
          <a:p>
            <a:pPr algn="l">
              <a:lnSpc>
                <a:spcPct val="130000"/>
              </a:lnSpc>
            </a:pPr>
            <a:r>
              <a:rPr sz="1300" dirty="0">
                <a:solidFill>
                  <a:srgbClr val="776E65"/>
                </a:solidFill>
                <a:latin typeface="Segoe UI"/>
              </a:rPr>
              <a:t>•  DQN rises from ~100 to ~300 and flatlines</a:t>
            </a:r>
          </a:p>
          <a:p>
            <a:pPr algn="l">
              <a:lnSpc>
                <a:spcPct val="130000"/>
              </a:lnSpc>
            </a:pPr>
            <a:r>
              <a:rPr sz="1300" dirty="0">
                <a:solidFill>
                  <a:srgbClr val="776E65"/>
                </a:solidFill>
                <a:latin typeface="Segoe UI"/>
              </a:rPr>
              <a:t>•  First 1024 tile: episode 307</a:t>
            </a:r>
          </a:p>
          <a:p>
            <a:pPr algn="l">
              <a:lnSpc>
                <a:spcPct val="130000"/>
              </a:lnSpc>
            </a:pPr>
            <a:r>
              <a:rPr sz="1300" dirty="0">
                <a:solidFill>
                  <a:srgbClr val="776E65"/>
                </a:solidFill>
                <a:latin typeface="Segoe UI"/>
              </a:rPr>
              <a:t>•  First 2048 tile: episode 1,231</a:t>
            </a:r>
            <a:endParaRPr lang="de-DE" sz="1300" dirty="0">
              <a:solidFill>
                <a:srgbClr val="776E65"/>
              </a:solidFill>
              <a:latin typeface="Segoe UI"/>
            </a:endParaRPr>
          </a:p>
          <a:p>
            <a:pPr>
              <a:lnSpc>
                <a:spcPct val="130000"/>
              </a:lnSpc>
            </a:pPr>
            <a:r>
              <a:rPr lang="de-DE" sz="1300" dirty="0">
                <a:solidFill>
                  <a:srgbClr val="776E65"/>
                </a:solidFill>
                <a:latin typeface="Segoe UI"/>
              </a:rPr>
              <a:t>•  DQN does not show any learning</a:t>
            </a:r>
          </a:p>
          <a:p>
            <a:pPr algn="l">
              <a:lnSpc>
                <a:spcPct val="130000"/>
              </a:lnSpc>
            </a:pPr>
            <a:endParaRPr lang="de-DE" sz="1300" dirty="0">
              <a:solidFill>
                <a:srgbClr val="776E65"/>
              </a:solidFill>
              <a:latin typeface="Segoe U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640080"/>
          </a:xfrm>
          <a:prstGeom prst="rect">
            <a:avLst/>
          </a:prstGeom>
          <a:noFill/>
        </p:spPr>
        <p:txBody>
          <a:bodyPr wrap="square" lIns="0" tIns="0" rIns="0" bIns="0">
            <a:spAutoFit/>
          </a:bodyPr>
          <a:lstStyle/>
          <a:p>
            <a:pPr algn="l"/>
            <a:r>
              <a:rPr sz="3200" b="1" i="0">
                <a:solidFill>
                  <a:srgbClr val="776E65"/>
                </a:solidFill>
                <a:latin typeface="Segoe UI Semibold"/>
              </a:rPr>
              <a:t>Watch them play</a:t>
            </a:r>
          </a:p>
        </p:txBody>
      </p:sp>
      <p:sp>
        <p:nvSpPr>
          <p:cNvPr id="3" name="TextBox 2"/>
          <p:cNvSpPr txBox="1"/>
          <p:nvPr/>
        </p:nvSpPr>
        <p:spPr>
          <a:xfrm>
            <a:off x="548640" y="914400"/>
            <a:ext cx="11064240" cy="365760"/>
          </a:xfrm>
          <a:prstGeom prst="rect">
            <a:avLst/>
          </a:prstGeom>
          <a:noFill/>
        </p:spPr>
        <p:txBody>
          <a:bodyPr wrap="square" lIns="0" tIns="0" rIns="0" bIns="0">
            <a:spAutoFit/>
          </a:bodyPr>
          <a:lstStyle/>
          <a:p>
            <a:pPr algn="l"/>
            <a:r>
              <a:rPr sz="1500" b="0" i="1">
                <a:solidFill>
                  <a:srgbClr val="A9A097"/>
                </a:solidFill>
                <a:latin typeface="Segoe UI"/>
              </a:rPr>
              <a:t>DQN on the left · N-tuple on the right · same starting state</a:t>
            </a:r>
          </a:p>
        </p:txBody>
      </p:sp>
      <p:cxnSp>
        <p:nvCxnSpPr>
          <p:cNvPr id="4" name="Connector 3"/>
          <p:cNvCxnSpPr/>
          <p:nvPr/>
        </p:nvCxnSpPr>
        <p:spPr>
          <a:xfrm>
            <a:off x="548640" y="1371600"/>
            <a:ext cx="868679"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pic>
        <p:nvPicPr>
          <p:cNvPr id="5" name="Picture 4" descr="compare_dqn_vs_ntuple.gif"/>
          <p:cNvPicPr>
            <a:picLocks noChangeAspect="1"/>
          </p:cNvPicPr>
          <p:nvPr/>
        </p:nvPicPr>
        <p:blipFill>
          <a:blip r:embed="rId3"/>
          <a:stretch>
            <a:fillRect/>
          </a:stretch>
        </p:blipFill>
        <p:spPr>
          <a:xfrm>
            <a:off x="1828800" y="1691640"/>
            <a:ext cx="7481455" cy="4114800"/>
          </a:xfrm>
          <a:prstGeom prst="rect">
            <a:avLst/>
          </a:prstGeom>
        </p:spPr>
      </p:pic>
      <p:sp>
        <p:nvSpPr>
          <p:cNvPr id="7" name="TextBox 6"/>
          <p:cNvSpPr txBox="1"/>
          <p:nvPr/>
        </p:nvSpPr>
        <p:spPr>
          <a:xfrm>
            <a:off x="548640" y="6355080"/>
            <a:ext cx="11064240" cy="365760"/>
          </a:xfrm>
          <a:prstGeom prst="rect">
            <a:avLst/>
          </a:prstGeom>
          <a:noFill/>
        </p:spPr>
        <p:txBody>
          <a:bodyPr wrap="square" lIns="0" tIns="0" rIns="0" bIns="0">
            <a:spAutoFit/>
          </a:bodyPr>
          <a:lstStyle/>
          <a:p>
            <a:pPr algn="ctr"/>
            <a:r>
              <a:rPr sz="1200" b="0" i="1">
                <a:solidFill>
                  <a:srgbClr val="A9A097"/>
                </a:solidFill>
                <a:latin typeface="Segoe UI"/>
              </a:rPr>
              <a:t>DQN dies quickly · N-tuple stacks tiles in a corner</a:t>
            </a:r>
          </a:p>
        </p:txBody>
      </p:sp>
      <p:sp>
        <p:nvSpPr>
          <p:cNvPr id="8" name="TextBox 7"/>
          <p:cNvSpPr txBox="1"/>
          <p:nvPr/>
        </p:nvSpPr>
        <p:spPr>
          <a:xfrm>
            <a:off x="10515600" y="6473952"/>
            <a:ext cx="1280160" cy="153888"/>
          </a:xfrm>
          <a:prstGeom prst="rect">
            <a:avLst/>
          </a:prstGeom>
          <a:noFill/>
        </p:spPr>
        <p:txBody>
          <a:bodyPr wrap="square" lIns="0" tIns="0" rIns="0" bIns="0">
            <a:spAutoFit/>
          </a:bodyPr>
          <a:lstStyle/>
          <a:p>
            <a:pPr algn="r"/>
            <a:r>
              <a:rPr lang="en-GB" sz="1000" b="0" i="0" dirty="0">
                <a:solidFill>
                  <a:srgbClr val="A9A097"/>
                </a:solidFill>
                <a:latin typeface="Segoe UI"/>
              </a:rPr>
              <a:t>18</a:t>
            </a:r>
            <a:r>
              <a:rPr sz="1000" b="0" i="0">
                <a:solidFill>
                  <a:srgbClr val="A9A097"/>
                </a:solidFill>
                <a:latin typeface="Segoe UI"/>
              </a:rPr>
              <a:t> / 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8EF"/>
        </a:solidFill>
        <a:effectLst/>
      </p:bgPr>
    </p:bg>
    <p:spTree>
      <p:nvGrpSpPr>
        <p:cNvPr id="1" name=""/>
        <p:cNvGrpSpPr/>
        <p:nvPr/>
      </p:nvGrpSpPr>
      <p:grpSpPr>
        <a:xfrm>
          <a:off x="0" y="0"/>
          <a:ext cx="0" cy="0"/>
          <a:chOff x="0" y="0"/>
          <a:chExt cx="0" cy="0"/>
        </a:xfrm>
      </p:grpSpPr>
      <p:sp>
        <p:nvSpPr>
          <p:cNvPr id="2" name="Rounded Rectangle 1"/>
          <p:cNvSpPr/>
          <p:nvPr/>
        </p:nvSpPr>
        <p:spPr>
          <a:xfrm>
            <a:off x="1371600" y="1828800"/>
            <a:ext cx="9418320" cy="2103120"/>
          </a:xfrm>
          <a:prstGeom prst="roundRect">
            <a:avLst>
              <a:gd name="adj" fmla="val 8000"/>
            </a:avLst>
          </a:prstGeom>
          <a:solidFill>
            <a:srgbClr val="EDC22E"/>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5400" b="1">
                <a:solidFill>
                  <a:srgbClr val="F9F6F2"/>
                </a:solidFill>
                <a:latin typeface="Segoe UI Semibold"/>
              </a:rPr>
              <a:t>Thanks for your attention</a:t>
            </a:r>
          </a:p>
        </p:txBody>
      </p:sp>
      <p:sp>
        <p:nvSpPr>
          <p:cNvPr id="3" name="Rounded Rectangle 2"/>
          <p:cNvSpPr/>
          <p:nvPr/>
        </p:nvSpPr>
        <p:spPr>
          <a:xfrm>
            <a:off x="4206240" y="4206240"/>
            <a:ext cx="3749039" cy="1097280"/>
          </a:xfrm>
          <a:prstGeom prst="roundRect">
            <a:avLst>
              <a:gd name="adj" fmla="val 8000"/>
            </a:avLst>
          </a:prstGeom>
          <a:solidFill>
            <a:srgbClr val="EDC53F"/>
          </a:solidFill>
          <a:ln>
            <a:noFill/>
          </a:ln>
          <a:effectLst>
            <a:outerShdw blurRad="55000" dist="22000" dir="5400000" algn="ctr"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9F6F2"/>
                </a:solidFill>
                <a:latin typeface="Segoe UI Semibold"/>
              </a:rPr>
              <a:t>Questions?</a:t>
            </a:r>
          </a:p>
        </p:txBody>
      </p:sp>
      <p:sp>
        <p:nvSpPr>
          <p:cNvPr id="4" name="Rounded Rectangle 3"/>
          <p:cNvSpPr/>
          <p:nvPr/>
        </p:nvSpPr>
        <p:spPr>
          <a:xfrm>
            <a:off x="457200" y="5577840"/>
            <a:ext cx="777240" cy="777240"/>
          </a:xfrm>
          <a:prstGeom prst="roundRect">
            <a:avLst>
              <a:gd name="adj" fmla="val 8000"/>
            </a:avLst>
          </a:prstGeom>
          <a:solidFill>
            <a:srgbClr val="EEE4D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776E65"/>
                </a:solidFill>
                <a:latin typeface="Segoe UI Semibold"/>
              </a:rPr>
              <a:t>2</a:t>
            </a:r>
          </a:p>
        </p:txBody>
      </p:sp>
      <p:sp>
        <p:nvSpPr>
          <p:cNvPr id="5" name="Rounded Rectangle 4"/>
          <p:cNvSpPr/>
          <p:nvPr/>
        </p:nvSpPr>
        <p:spPr>
          <a:xfrm>
            <a:off x="1344168" y="5577840"/>
            <a:ext cx="777240" cy="777240"/>
          </a:xfrm>
          <a:prstGeom prst="roundRect">
            <a:avLst>
              <a:gd name="adj" fmla="val 8000"/>
            </a:avLst>
          </a:prstGeom>
          <a:solidFill>
            <a:srgbClr val="EDE0C8"/>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776E65"/>
                </a:solidFill>
                <a:latin typeface="Segoe UI Semibold"/>
              </a:rPr>
              <a:t>4</a:t>
            </a:r>
          </a:p>
        </p:txBody>
      </p:sp>
      <p:sp>
        <p:nvSpPr>
          <p:cNvPr id="6" name="Rounded Rectangle 5"/>
          <p:cNvSpPr/>
          <p:nvPr/>
        </p:nvSpPr>
        <p:spPr>
          <a:xfrm>
            <a:off x="10561320" y="5577840"/>
            <a:ext cx="777240" cy="777240"/>
          </a:xfrm>
          <a:prstGeom prst="roundRect">
            <a:avLst>
              <a:gd name="adj" fmla="val 8000"/>
            </a:avLst>
          </a:prstGeom>
          <a:solidFill>
            <a:srgbClr val="F2B179"/>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9F6F2"/>
                </a:solidFill>
                <a:latin typeface="Segoe UI Semibold"/>
              </a:rPr>
              <a:t>8</a:t>
            </a:r>
          </a:p>
        </p:txBody>
      </p:sp>
      <p:sp>
        <p:nvSpPr>
          <p:cNvPr id="7" name="Rounded Rectangle 6"/>
          <p:cNvSpPr/>
          <p:nvPr/>
        </p:nvSpPr>
        <p:spPr>
          <a:xfrm>
            <a:off x="9674352" y="5577840"/>
            <a:ext cx="777240" cy="777240"/>
          </a:xfrm>
          <a:prstGeom prst="roundRect">
            <a:avLst>
              <a:gd name="adj" fmla="val 8000"/>
            </a:avLst>
          </a:prstGeom>
          <a:solidFill>
            <a:srgbClr val="F59563"/>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9F6F2"/>
                </a:solidFill>
                <a:latin typeface="Segoe UI Semibold"/>
              </a:rPr>
              <a:t>16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3807DEC4-F8AF-AC70-0A6A-8948CA804FB9}"/>
              </a:ext>
            </a:extLst>
          </p:cNvPr>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548640" y="384048"/>
            <a:ext cx="11064240" cy="640080"/>
          </a:xfrm>
          <a:prstGeom prst="rect">
            <a:avLst/>
          </a:prstGeom>
          <a:noFill/>
        </p:spPr>
        <p:txBody>
          <a:bodyPr wrap="square" anchor="t">
            <a:spAutoFit/>
          </a:bodyPr>
          <a:lstStyle/>
          <a:p>
            <a:pPr algn="l"/>
            <a:r>
              <a:rPr sz="3200" b="1">
                <a:solidFill>
                  <a:srgbClr val="776E65"/>
                </a:solidFill>
                <a:latin typeface="Segoe UI Semibold"/>
              </a:rPr>
              <a:t>Appendix — DQN in depth</a:t>
            </a:r>
          </a:p>
        </p:txBody>
      </p:sp>
      <p:sp>
        <p:nvSpPr>
          <p:cNvPr id="3" name="TextBox 2"/>
          <p:cNvSpPr txBox="1"/>
          <p:nvPr/>
        </p:nvSpPr>
        <p:spPr>
          <a:xfrm>
            <a:off x="548640" y="914400"/>
            <a:ext cx="11064240" cy="365760"/>
          </a:xfrm>
          <a:prstGeom prst="rect">
            <a:avLst/>
          </a:prstGeom>
          <a:noFill/>
        </p:spPr>
        <p:txBody>
          <a:bodyPr wrap="square" anchor="t">
            <a:spAutoFit/>
          </a:bodyPr>
          <a:lstStyle/>
          <a:p>
            <a:pPr algn="l"/>
            <a:r>
              <a:rPr sz="1500" b="0">
                <a:solidFill>
                  <a:srgbClr val="A9A097"/>
                </a:solidFill>
                <a:latin typeface="Segoe UI"/>
              </a:rPr>
              <a:t>Backup reference for questions: architecture, hyperparameters, and the five stabilisation tricks</a:t>
            </a:r>
          </a:p>
        </p:txBody>
      </p:sp>
      <p:cxnSp>
        <p:nvCxnSpPr>
          <p:cNvPr id="4" name="Connector 3"/>
          <p:cNvCxnSpPr/>
          <p:nvPr/>
        </p:nvCxnSpPr>
        <p:spPr>
          <a:xfrm>
            <a:off x="548640" y="1371600"/>
            <a:ext cx="868680" cy="0"/>
          </a:xfrm>
          <a:prstGeom prst="line">
            <a:avLst/>
          </a:prstGeom>
          <a:ln w="31750">
            <a:solidFill>
              <a:srgbClr val="BBADA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591056"/>
            <a:ext cx="5349240" cy="365760"/>
          </a:xfrm>
          <a:prstGeom prst="rect">
            <a:avLst/>
          </a:prstGeom>
          <a:noFill/>
        </p:spPr>
        <p:txBody>
          <a:bodyPr wrap="square" anchor="t">
            <a:spAutoFit/>
          </a:bodyPr>
          <a:lstStyle/>
          <a:p>
            <a:pPr algn="l"/>
            <a:r>
              <a:rPr sz="1600" b="1">
                <a:solidFill>
                  <a:srgbClr val="776E65"/>
                </a:solidFill>
                <a:latin typeface="Segoe UI Semibold"/>
              </a:rPr>
              <a:t>Architecture &amp; hyperparameters</a:t>
            </a:r>
          </a:p>
        </p:txBody>
      </p:sp>
      <p:sp>
        <p:nvSpPr>
          <p:cNvPr id="7" name="TextBox 6"/>
          <p:cNvSpPr txBox="1"/>
          <p:nvPr/>
        </p:nvSpPr>
        <p:spPr>
          <a:xfrm>
            <a:off x="6291072" y="1591056"/>
            <a:ext cx="5349240" cy="365760"/>
          </a:xfrm>
          <a:prstGeom prst="rect">
            <a:avLst/>
          </a:prstGeom>
          <a:noFill/>
        </p:spPr>
        <p:txBody>
          <a:bodyPr wrap="square" anchor="t">
            <a:spAutoFit/>
          </a:bodyPr>
          <a:lstStyle/>
          <a:p>
            <a:pPr algn="l"/>
            <a:r>
              <a:rPr sz="1600" b="1">
                <a:solidFill>
                  <a:srgbClr val="776E65"/>
                </a:solidFill>
                <a:latin typeface="Segoe UI Semibold"/>
              </a:rPr>
              <a:t>The five stabilisation tricks</a:t>
            </a:r>
          </a:p>
        </p:txBody>
      </p:sp>
      <p:sp>
        <p:nvSpPr>
          <p:cNvPr id="8" name="Rounded Rectangle 7"/>
          <p:cNvSpPr/>
          <p:nvPr/>
        </p:nvSpPr>
        <p:spPr>
          <a:xfrm>
            <a:off x="548640" y="1993392"/>
            <a:ext cx="5349240" cy="36576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291072" y="1993392"/>
            <a:ext cx="5349240" cy="36576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130552"/>
            <a:ext cx="4983480" cy="2699906"/>
          </a:xfrm>
          <a:prstGeom prst="rect">
            <a:avLst/>
          </a:prstGeom>
          <a:noFill/>
        </p:spPr>
        <p:txBody>
          <a:bodyPr wrap="square" anchor="t">
            <a:spAutoFit/>
          </a:bodyPr>
          <a:lstStyle/>
          <a:p>
            <a:pPr algn="l">
              <a:lnSpc>
                <a:spcPct val="116000"/>
              </a:lnSpc>
            </a:pPr>
            <a:r>
              <a:rPr sz="1050" b="1">
                <a:solidFill>
                  <a:srgbClr val="F2B179"/>
                </a:solidFill>
                <a:latin typeface="Segoe UI"/>
              </a:rPr>
              <a:t>•  </a:t>
            </a:r>
            <a:r>
              <a:rPr sz="1050" b="0">
                <a:solidFill>
                  <a:srgbClr val="776E65"/>
                </a:solidFill>
                <a:latin typeface="Segoe UI"/>
              </a:rPr>
              <a:t>Network: fully-connected MLP — 256 → 512 → 256 → 4, </a:t>
            </a:r>
            <a:r>
              <a:rPr lang="de-DE" sz="1050" b="0" err="1">
                <a:solidFill>
                  <a:srgbClr val="776E65"/>
                </a:solidFill>
                <a:latin typeface="Segoe UI"/>
              </a:rPr>
              <a:t>ReLU</a:t>
            </a:r>
            <a:endParaRPr sz="1050" b="0">
              <a:solidFill>
                <a:srgbClr val="776E65"/>
              </a:solidFill>
              <a:latin typeface="Segoe UI"/>
            </a:endParaRPr>
          </a:p>
          <a:p>
            <a:pPr algn="l">
              <a:lnSpc>
                <a:spcPct val="116000"/>
              </a:lnSpc>
            </a:pPr>
            <a:r>
              <a:rPr sz="1050" b="1">
                <a:solidFill>
                  <a:srgbClr val="F2B179"/>
                </a:solidFill>
                <a:latin typeface="Segoe UI"/>
              </a:rPr>
              <a:t>•  </a:t>
            </a:r>
            <a:r>
              <a:rPr sz="1050" b="0">
                <a:solidFill>
                  <a:srgbClr val="776E65"/>
                </a:solidFill>
                <a:latin typeface="Segoe UI"/>
              </a:rPr>
              <a:t>Input: 16 board cells × 16 one-hot value buckets = 256 floats</a:t>
            </a:r>
          </a:p>
          <a:p>
            <a:pPr algn="l">
              <a:lnSpc>
                <a:spcPct val="116000"/>
              </a:lnSpc>
            </a:pPr>
            <a:r>
              <a:rPr sz="1050" b="1">
                <a:solidFill>
                  <a:srgbClr val="F2B179"/>
                </a:solidFill>
                <a:latin typeface="Segoe UI"/>
              </a:rPr>
              <a:t>•  </a:t>
            </a:r>
            <a:r>
              <a:rPr sz="1050" b="0">
                <a:solidFill>
                  <a:srgbClr val="776E65"/>
                </a:solidFill>
                <a:latin typeface="Segoe UI"/>
              </a:rPr>
              <a:t>Output: 4 Q-values, one per swipe  (↑ → ↓ ←)</a:t>
            </a:r>
          </a:p>
          <a:p>
            <a:pPr algn="l">
              <a:lnSpc>
                <a:spcPct val="116000"/>
              </a:lnSpc>
            </a:pPr>
            <a:r>
              <a:rPr sz="1050" b="1">
                <a:solidFill>
                  <a:srgbClr val="F2B179"/>
                </a:solidFill>
                <a:latin typeface="Segoe UI"/>
              </a:rPr>
              <a:t>•  </a:t>
            </a:r>
            <a:r>
              <a:rPr sz="1050" b="0">
                <a:solidFill>
                  <a:srgbClr val="776E65"/>
                </a:solidFill>
                <a:latin typeface="Segoe UI"/>
              </a:rPr>
              <a:t>Loss: Smooth-L1 (Huber) — robust to outlier TD errors</a:t>
            </a:r>
          </a:p>
          <a:p>
            <a:pPr algn="l">
              <a:lnSpc>
                <a:spcPct val="116000"/>
              </a:lnSpc>
            </a:pPr>
            <a:r>
              <a:rPr sz="1050" b="1">
                <a:solidFill>
                  <a:srgbClr val="F2B179"/>
                </a:solidFill>
                <a:latin typeface="Segoe UI"/>
              </a:rPr>
              <a:t>•  </a:t>
            </a:r>
            <a:r>
              <a:rPr lang="de-DE" sz="1050" b="0" err="1">
                <a:solidFill>
                  <a:srgbClr val="776E65"/>
                </a:solidFill>
                <a:latin typeface="Segoe UI"/>
              </a:rPr>
              <a:t>Optimiser</a:t>
            </a:r>
            <a:r>
              <a:rPr sz="1050" b="0">
                <a:solidFill>
                  <a:srgbClr val="776E65"/>
                </a:solidFill>
                <a:latin typeface="Segoe UI"/>
              </a:rPr>
              <a:t>: Adam, learning rate 5e-4  (= 0.0005)</a:t>
            </a:r>
          </a:p>
          <a:p>
            <a:pPr algn="l">
              <a:lnSpc>
                <a:spcPct val="116000"/>
              </a:lnSpc>
            </a:pPr>
            <a:r>
              <a:rPr sz="1050" b="1">
                <a:solidFill>
                  <a:srgbClr val="F2B179"/>
                </a:solidFill>
                <a:latin typeface="Segoe UI"/>
              </a:rPr>
              <a:t>•  </a:t>
            </a:r>
            <a:r>
              <a:rPr sz="1050" b="0">
                <a:solidFill>
                  <a:srgbClr val="776E65"/>
                </a:solidFill>
                <a:latin typeface="Segoe UI"/>
              </a:rPr>
              <a:t>Discount factor:  γ = 0.99</a:t>
            </a:r>
          </a:p>
          <a:p>
            <a:pPr algn="l">
              <a:lnSpc>
                <a:spcPct val="116000"/>
              </a:lnSpc>
            </a:pPr>
            <a:r>
              <a:rPr sz="1050" b="1">
                <a:solidFill>
                  <a:srgbClr val="F2B179"/>
                </a:solidFill>
                <a:latin typeface="Segoe UI"/>
              </a:rPr>
              <a:t>•  </a:t>
            </a:r>
            <a:r>
              <a:rPr sz="1050" b="0">
                <a:solidFill>
                  <a:srgbClr val="776E65"/>
                </a:solidFill>
                <a:latin typeface="Segoe UI"/>
              </a:rPr>
              <a:t>Replay buffer: 100,000 transitions (ring buffer)</a:t>
            </a:r>
          </a:p>
          <a:p>
            <a:pPr algn="l">
              <a:lnSpc>
                <a:spcPct val="116000"/>
              </a:lnSpc>
            </a:pPr>
            <a:r>
              <a:rPr sz="1050" b="1">
                <a:solidFill>
                  <a:srgbClr val="F2B179"/>
                </a:solidFill>
                <a:latin typeface="Segoe UI"/>
              </a:rPr>
              <a:t>•  </a:t>
            </a:r>
            <a:r>
              <a:rPr sz="1050" b="0">
                <a:solidFill>
                  <a:srgbClr val="776E65"/>
                </a:solidFill>
                <a:latin typeface="Segoe UI"/>
              </a:rPr>
              <a:t>Warm-up: 1,000 steps collected before learning starts</a:t>
            </a:r>
          </a:p>
          <a:p>
            <a:pPr algn="l">
              <a:lnSpc>
                <a:spcPct val="116000"/>
              </a:lnSpc>
            </a:pPr>
            <a:r>
              <a:rPr sz="1050" b="1">
                <a:solidFill>
                  <a:srgbClr val="F2B179"/>
                </a:solidFill>
                <a:latin typeface="Segoe UI"/>
              </a:rPr>
              <a:t>•  </a:t>
            </a:r>
            <a:r>
              <a:rPr sz="1050" b="0">
                <a:solidFill>
                  <a:srgbClr val="776E65"/>
                </a:solidFill>
                <a:latin typeface="Segoe UI"/>
              </a:rPr>
              <a:t>Mini-batch: 512 transitions per gradient step</a:t>
            </a:r>
          </a:p>
          <a:p>
            <a:pPr algn="l">
              <a:lnSpc>
                <a:spcPct val="116000"/>
              </a:lnSpc>
            </a:pPr>
            <a:r>
              <a:rPr sz="1050" b="1">
                <a:solidFill>
                  <a:srgbClr val="F2B179"/>
                </a:solidFill>
                <a:latin typeface="Segoe UI"/>
              </a:rPr>
              <a:t>•  </a:t>
            </a:r>
            <a:r>
              <a:rPr sz="1050" b="0">
                <a:solidFill>
                  <a:srgbClr val="776E65"/>
                </a:solidFill>
                <a:latin typeface="Segoe UI"/>
              </a:rPr>
              <a:t>Learn frequency: 1 gradient step every 4 environment steps</a:t>
            </a:r>
          </a:p>
          <a:p>
            <a:pPr algn="l">
              <a:lnSpc>
                <a:spcPct val="116000"/>
              </a:lnSpc>
            </a:pPr>
            <a:r>
              <a:rPr sz="1050" b="1">
                <a:solidFill>
                  <a:srgbClr val="F2B179"/>
                </a:solidFill>
                <a:latin typeface="Segoe UI"/>
              </a:rPr>
              <a:t>•  </a:t>
            </a:r>
            <a:r>
              <a:rPr sz="1050" b="0">
                <a:solidFill>
                  <a:srgbClr val="776E65"/>
                </a:solidFill>
                <a:latin typeface="Segoe UI"/>
              </a:rPr>
              <a:t>Target-network sync: every 1,000 gradient steps</a:t>
            </a:r>
          </a:p>
          <a:p>
            <a:pPr algn="l">
              <a:lnSpc>
                <a:spcPct val="116000"/>
              </a:lnSpc>
            </a:pPr>
            <a:r>
              <a:rPr sz="1050" b="1">
                <a:solidFill>
                  <a:srgbClr val="F2B179"/>
                </a:solidFill>
                <a:latin typeface="Segoe UI"/>
              </a:rPr>
              <a:t>•  </a:t>
            </a:r>
            <a:r>
              <a:rPr sz="1050" b="0">
                <a:solidFill>
                  <a:srgbClr val="776E65"/>
                </a:solidFill>
                <a:latin typeface="Segoe UI"/>
              </a:rPr>
              <a:t>Exploration: ε-greedy, ε decays 1.0 → 0.05</a:t>
            </a:r>
          </a:p>
          <a:p>
            <a:pPr algn="l">
              <a:lnSpc>
                <a:spcPct val="116000"/>
              </a:lnSpc>
            </a:pPr>
            <a:r>
              <a:rPr sz="1050" b="1">
                <a:solidFill>
                  <a:srgbClr val="F2B179"/>
                </a:solidFill>
                <a:latin typeface="Segoe UI"/>
              </a:rPr>
              <a:t>•  </a:t>
            </a:r>
            <a:r>
              <a:rPr sz="1050" b="0">
                <a:solidFill>
                  <a:srgbClr val="776E65"/>
                </a:solidFill>
                <a:latin typeface="Segoe UI"/>
              </a:rPr>
              <a:t>Reward: log₂ of the merged tile, then × 0.1 scaling</a:t>
            </a:r>
          </a:p>
          <a:p>
            <a:pPr algn="l">
              <a:lnSpc>
                <a:spcPct val="116000"/>
              </a:lnSpc>
            </a:pPr>
            <a:r>
              <a:rPr sz="1050" b="1">
                <a:solidFill>
                  <a:srgbClr val="F2B179"/>
                </a:solidFill>
                <a:latin typeface="Segoe UI"/>
              </a:rPr>
              <a:t>•  </a:t>
            </a:r>
            <a:r>
              <a:rPr sz="1050" b="0">
                <a:solidFill>
                  <a:srgbClr val="776E65"/>
                </a:solidFill>
                <a:latin typeface="Segoe UI"/>
              </a:rPr>
              <a:t>Training budget: 5,000 games  (≈ 25 min on Apple-MPS)</a:t>
            </a:r>
          </a:p>
        </p:txBody>
      </p:sp>
      <p:sp>
        <p:nvSpPr>
          <p:cNvPr id="11" name="TextBox 10"/>
          <p:cNvSpPr txBox="1"/>
          <p:nvPr/>
        </p:nvSpPr>
        <p:spPr>
          <a:xfrm>
            <a:off x="6519672" y="2157984"/>
            <a:ext cx="4937760" cy="3383280"/>
          </a:xfrm>
          <a:prstGeom prst="rect">
            <a:avLst/>
          </a:prstGeom>
          <a:noFill/>
        </p:spPr>
        <p:txBody>
          <a:bodyPr wrap="square" anchor="t">
            <a:spAutoFit/>
          </a:bodyPr>
          <a:lstStyle/>
          <a:p>
            <a:pPr algn="l">
              <a:lnSpc>
                <a:spcPct val="112000"/>
              </a:lnSpc>
            </a:pPr>
            <a:r>
              <a:rPr sz="1150" b="1">
                <a:solidFill>
                  <a:srgbClr val="F2B179"/>
                </a:solidFill>
                <a:latin typeface="Segoe UI Semibold"/>
              </a:rPr>
              <a:t>1.  </a:t>
            </a:r>
            <a:r>
              <a:rPr sz="1150" b="1">
                <a:solidFill>
                  <a:srgbClr val="776E65"/>
                </a:solidFill>
                <a:latin typeface="Segoe UI Semibold"/>
              </a:rPr>
              <a:t>Target network  </a:t>
            </a:r>
            <a:r>
              <a:rPr sz="1100" b="0">
                <a:solidFill>
                  <a:srgbClr val="776E65"/>
                </a:solidFill>
                <a:latin typeface="Segoe UI"/>
              </a:rPr>
              <a:t>a frozen copy of the network computes the target, synced every 1,000 steps — stops the target from moving every step.</a:t>
            </a:r>
          </a:p>
          <a:p>
            <a:pPr algn="l">
              <a:lnSpc>
                <a:spcPct val="112000"/>
              </a:lnSpc>
            </a:pPr>
            <a:r>
              <a:rPr sz="500" b="0">
                <a:solidFill>
                  <a:srgbClr val="776E65"/>
                </a:solidFill>
                <a:latin typeface="Segoe UI"/>
              </a:rPr>
              <a:t> </a:t>
            </a:r>
          </a:p>
          <a:p>
            <a:pPr algn="l">
              <a:lnSpc>
                <a:spcPct val="112000"/>
              </a:lnSpc>
            </a:pPr>
            <a:r>
              <a:rPr sz="1150" b="1">
                <a:solidFill>
                  <a:srgbClr val="F2B179"/>
                </a:solidFill>
                <a:latin typeface="Segoe UI Semibold"/>
              </a:rPr>
              <a:t>2.  </a:t>
            </a:r>
            <a:r>
              <a:rPr sz="1150" b="1">
                <a:solidFill>
                  <a:srgbClr val="776E65"/>
                </a:solidFill>
                <a:latin typeface="Segoe UI Semibold"/>
              </a:rPr>
              <a:t>Double-DQN  </a:t>
            </a:r>
            <a:r>
              <a:rPr sz="1100" b="0">
                <a:solidFill>
                  <a:srgbClr val="776E65"/>
                </a:solidFill>
                <a:latin typeface="Segoe UI"/>
              </a:rPr>
              <a:t>the online net picks the next action, the target net scores it — removes the upward bias of the max operator.</a:t>
            </a:r>
          </a:p>
          <a:p>
            <a:pPr algn="l">
              <a:lnSpc>
                <a:spcPct val="112000"/>
              </a:lnSpc>
            </a:pPr>
            <a:r>
              <a:rPr sz="500" b="0">
                <a:solidFill>
                  <a:srgbClr val="776E65"/>
                </a:solidFill>
                <a:latin typeface="Segoe UI"/>
              </a:rPr>
              <a:t> </a:t>
            </a:r>
          </a:p>
          <a:p>
            <a:pPr algn="l">
              <a:lnSpc>
                <a:spcPct val="112000"/>
              </a:lnSpc>
            </a:pPr>
            <a:r>
              <a:rPr sz="1150" b="1">
                <a:solidFill>
                  <a:srgbClr val="F2B179"/>
                </a:solidFill>
                <a:latin typeface="Segoe UI Semibold"/>
              </a:rPr>
              <a:t>3.  </a:t>
            </a:r>
            <a:r>
              <a:rPr sz="1150" b="1">
                <a:solidFill>
                  <a:srgbClr val="776E65"/>
                </a:solidFill>
                <a:latin typeface="Segoe UI Semibold"/>
              </a:rPr>
              <a:t>Reward scaling  </a:t>
            </a:r>
            <a:r>
              <a:rPr sz="1100" b="0">
                <a:solidFill>
                  <a:srgbClr val="776E65"/>
                </a:solidFill>
                <a:latin typeface="Segoe UI"/>
              </a:rPr>
              <a:t>log₂ encoding plus a × 0.1 multiplier — keeps rewards on a stable scale in both early and late game.</a:t>
            </a:r>
          </a:p>
          <a:p>
            <a:pPr algn="l">
              <a:lnSpc>
                <a:spcPct val="112000"/>
              </a:lnSpc>
            </a:pPr>
            <a:r>
              <a:rPr sz="500" b="0">
                <a:solidFill>
                  <a:srgbClr val="776E65"/>
                </a:solidFill>
                <a:latin typeface="Segoe UI"/>
              </a:rPr>
              <a:t> </a:t>
            </a:r>
          </a:p>
          <a:p>
            <a:pPr algn="l">
              <a:lnSpc>
                <a:spcPct val="112000"/>
              </a:lnSpc>
            </a:pPr>
            <a:r>
              <a:rPr sz="1150" b="1">
                <a:solidFill>
                  <a:srgbClr val="F2B179"/>
                </a:solidFill>
                <a:latin typeface="Segoe UI Semibold"/>
              </a:rPr>
              <a:t>4.  </a:t>
            </a:r>
            <a:r>
              <a:rPr sz="1150" b="1">
                <a:solidFill>
                  <a:srgbClr val="776E65"/>
                </a:solidFill>
                <a:latin typeface="Segoe UI Semibold"/>
              </a:rPr>
              <a:t>ε-greedy exploration  </a:t>
            </a:r>
            <a:r>
              <a:rPr sz="1100" b="0">
                <a:solidFill>
                  <a:srgbClr val="776E65"/>
                </a:solidFill>
                <a:latin typeface="Segoe UI"/>
              </a:rPr>
              <a:t>act randomly with probability ε — forces the agent to keep exploring instead of only exploiting.</a:t>
            </a:r>
          </a:p>
          <a:p>
            <a:pPr algn="l">
              <a:lnSpc>
                <a:spcPct val="112000"/>
              </a:lnSpc>
            </a:pPr>
            <a:r>
              <a:rPr sz="500" b="0">
                <a:solidFill>
                  <a:srgbClr val="776E65"/>
                </a:solidFill>
                <a:latin typeface="Segoe UI"/>
              </a:rPr>
              <a:t> </a:t>
            </a:r>
          </a:p>
          <a:p>
            <a:pPr algn="l">
              <a:lnSpc>
                <a:spcPct val="112000"/>
              </a:lnSpc>
            </a:pPr>
            <a:r>
              <a:rPr sz="1150" b="1">
                <a:solidFill>
                  <a:srgbClr val="F2B179"/>
                </a:solidFill>
                <a:latin typeface="Segoe UI Semibold"/>
              </a:rPr>
              <a:t>5.  </a:t>
            </a:r>
            <a:r>
              <a:rPr sz="1150" b="1">
                <a:solidFill>
                  <a:srgbClr val="776E65"/>
                </a:solidFill>
                <a:latin typeface="Segoe UI Semibold"/>
              </a:rPr>
              <a:t>Action masking  </a:t>
            </a:r>
            <a:r>
              <a:rPr sz="1100" b="0">
                <a:solidFill>
                  <a:srgbClr val="776E65"/>
                </a:solidFill>
                <a:latin typeface="Segoe UI"/>
              </a:rPr>
              <a:t>illegal swipes’ Q-values are clamped to −1e9 — the agent never wastes a move on a no-op swipe.</a:t>
            </a:r>
          </a:p>
          <a:p>
            <a:pPr algn="l">
              <a:lnSpc>
                <a:spcPct val="112000"/>
              </a:lnSpc>
            </a:pPr>
            <a:r>
              <a:rPr sz="500" b="0">
                <a:solidFill>
                  <a:srgbClr val="776E65"/>
                </a:solidFill>
                <a:latin typeface="Segoe UI"/>
              </a:rPr>
              <a:t> </a:t>
            </a:r>
          </a:p>
        </p:txBody>
      </p:sp>
      <p:sp>
        <p:nvSpPr>
          <p:cNvPr id="12" name="Rounded Rectangle 11"/>
          <p:cNvSpPr/>
          <p:nvPr/>
        </p:nvSpPr>
        <p:spPr>
          <a:xfrm>
            <a:off x="548640" y="5779008"/>
            <a:ext cx="11091672" cy="566928"/>
          </a:xfrm>
          <a:prstGeom prst="roundRect">
            <a:avLst>
              <a:gd name="adj" fmla="val 16000"/>
            </a:avLst>
          </a:prstGeom>
          <a:solidFill>
            <a:srgbClr val="F2B17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50" b="1">
                <a:solidFill>
                  <a:srgbClr val="F9F6F2"/>
                </a:solidFill>
                <a:latin typeface="Segoe UI Semibold"/>
              </a:rPr>
              <a:t>Why the tricks are needed  —  </a:t>
            </a:r>
            <a:r>
              <a:rPr sz="1100" b="0">
                <a:solidFill>
                  <a:srgbClr val="F9F6F2"/>
                </a:solidFill>
                <a:latin typeface="Segoe UI"/>
              </a:rPr>
              <a:t>basic DQN is unstable for three reasons: (1) it bootstraps off its own predictions, so the target keeps moving;  (2) the max over noisy Q-estimates is biased upward;  (3) reward magnitudes vary wildly across a game.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0409ceb6-7f40-4ddf-b29d-4c6446bc6d6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2B6F10A8279E647A24235CA436BEF93" ma:contentTypeVersion="10" ma:contentTypeDescription="Ein neues Dokument erstellen." ma:contentTypeScope="" ma:versionID="38cb03ac946ac9d23c4266f702b91742">
  <xsd:schema xmlns:xsd="http://www.w3.org/2001/XMLSchema" xmlns:xs="http://www.w3.org/2001/XMLSchema" xmlns:p="http://schemas.microsoft.com/office/2006/metadata/properties" xmlns:ns3="0409ceb6-7f40-4ddf-b29d-4c6446bc6d6e" xmlns:ns4="91caf59d-24f7-4a60-8e38-c4f5015e541a" targetNamespace="http://schemas.microsoft.com/office/2006/metadata/properties" ma:root="true" ma:fieldsID="3b67dc57b408195acef4438a7c07ea5a" ns3:_="" ns4:_="">
    <xsd:import namespace="0409ceb6-7f40-4ddf-b29d-4c6446bc6d6e"/>
    <xsd:import namespace="91caf59d-24f7-4a60-8e38-c4f5015e541a"/>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_activity"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409ceb6-7f40-4ddf-b29d-4c6446bc6d6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_activity" ma:index="15" nillable="true" ma:displayName="_activity" ma:hidden="true" ma:internalName="_activity">
      <xsd:simpleType>
        <xsd:restriction base="dms:Note"/>
      </xsd:simpleType>
    </xsd:element>
    <xsd:element name="MediaServiceObjectDetectorVersions" ma:index="16" nillable="true" ma:displayName="MediaServiceObjectDetectorVersions" ma:hidden="true" ma:indexed="true" ma:internalName="MediaServiceObjectDetectorVersions"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1caf59d-24f7-4a60-8e38-c4f5015e541a" elementFormDefault="qualified">
    <xsd:import namespace="http://schemas.microsoft.com/office/2006/documentManagement/types"/>
    <xsd:import namespace="http://schemas.microsoft.com/office/infopath/2007/PartnerControls"/>
    <xsd:element name="SharedWithUsers" ma:index="1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Freigegeben für - Details" ma:internalName="SharedWithDetails" ma:readOnly="true">
      <xsd:simpleType>
        <xsd:restriction base="dms:Note">
          <xsd:maxLength value="255"/>
        </xsd:restriction>
      </xsd:simpleType>
    </xsd:element>
    <xsd:element name="SharingHintHash" ma:index="14"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A393D82-CECF-44B7-8D03-F99322897DF8}">
  <ds:schemaRefs>
    <ds:schemaRef ds:uri="http://schemas.microsoft.com/sharepoint/v3/contenttype/forms"/>
  </ds:schemaRefs>
</ds:datastoreItem>
</file>

<file path=customXml/itemProps2.xml><?xml version="1.0" encoding="utf-8"?>
<ds:datastoreItem xmlns:ds="http://schemas.openxmlformats.org/officeDocument/2006/customXml" ds:itemID="{612E81F8-ED64-43B0-875C-E876EDA5CED2}">
  <ds:schemaRefs>
    <ds:schemaRef ds:uri="http://www.w3.org/XML/1998/namespace"/>
    <ds:schemaRef ds:uri="http://schemas.microsoft.com/office/2006/documentManagement/types"/>
    <ds:schemaRef ds:uri="http://purl.org/dc/elements/1.1/"/>
    <ds:schemaRef ds:uri="http://purl.org/dc/terms/"/>
    <ds:schemaRef ds:uri="0409ceb6-7f40-4ddf-b29d-4c6446bc6d6e"/>
    <ds:schemaRef ds:uri="http://schemas.microsoft.com/office/2006/metadata/properties"/>
    <ds:schemaRef ds:uri="http://schemas.microsoft.com/office/infopath/2007/PartnerControls"/>
    <ds:schemaRef ds:uri="http://schemas.openxmlformats.org/package/2006/metadata/core-properties"/>
    <ds:schemaRef ds:uri="http://purl.org/dc/dcmitype/"/>
    <ds:schemaRef ds:uri="91caf59d-24f7-4a60-8e38-c4f5015e541a"/>
  </ds:schemaRefs>
</ds:datastoreItem>
</file>

<file path=customXml/itemProps3.xml><?xml version="1.0" encoding="utf-8"?>
<ds:datastoreItem xmlns:ds="http://schemas.openxmlformats.org/officeDocument/2006/customXml" ds:itemID="{2CCC4A27-2D66-47D7-8991-A909916DB132}">
  <ds:schemaRefs>
    <ds:schemaRef ds:uri="0409ceb6-7f40-4ddf-b29d-4c6446bc6d6e"/>
    <ds:schemaRef ds:uri="91caf59d-24f7-4a60-8e38-c4f5015e541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7672</Words>
  <Application>Microsoft Office PowerPoint</Application>
  <PresentationFormat>Widescreen</PresentationFormat>
  <Paragraphs>749</Paragraphs>
  <Slides>20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Anna Hartmann</cp:lastModifiedBy>
  <cp:revision>1</cp:revision>
  <dcterms:created xsi:type="dcterms:W3CDTF">2013-01-27T09:14:16Z</dcterms:created>
  <dcterms:modified xsi:type="dcterms:W3CDTF">2026-05-22T15:38:49Z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0x01010092B6F10A8279E647A24235CA436BEF93</vt:lpwstr>
  </property>
</Properties>
</file>