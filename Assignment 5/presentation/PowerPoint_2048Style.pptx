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908" autoAdjust="0"/>
  </p:normalViewPr>
  <p:slideViewPr>
    <p:cSldViewPr snapToGrid="0" snapToObjects="1">
      <p:cViewPr varScale="1">
        <p:scale>
          <a:sx n="64" d="100"/>
          <a:sy n="6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36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Hi everyone. Welcome. We're going to talk today about teaching a computer</a:t>
            </a:r>
          </a:p>
          <a:p>
            <a:r>
              <a:rPr dirty="0"/>
              <a:t>to play the puzzle game 2048, and what happens when you put a modern deep-</a:t>
            </a:r>
          </a:p>
          <a:p>
            <a:r>
              <a:rPr dirty="0"/>
              <a:t>learning method head-to-head with a classical method from the 1980s.</a:t>
            </a:r>
          </a:p>
          <a:p>
            <a:endParaRPr dirty="0"/>
          </a:p>
          <a:p>
            <a:r>
              <a:rPr dirty="0"/>
              <a:t>A quick spoiler: the classical method wins, decisively, and the *why* turns</a:t>
            </a:r>
          </a:p>
          <a:p>
            <a:r>
              <a:rPr dirty="0"/>
              <a:t>out to be the most interesting part of the whole project.</a:t>
            </a:r>
          </a:p>
          <a:p>
            <a:endParaRPr dirty="0"/>
          </a:p>
          <a:p>
            <a:r>
              <a:rPr dirty="0"/>
              <a:t>I'm Florian, with Janin and Anna — this is our Machine Learning 2 Assignment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Some quick context. 2048 is one of the most-played puzzle games of the 2010s.</a:t>
            </a:r>
          </a:p>
          <a:p>
            <a:r>
              <a:rPr dirty="0"/>
              <a:t>It was made by Gabriele Cirulli, who was 19 at the time. He built it in a</a:t>
            </a:r>
          </a:p>
          <a:p>
            <a:r>
              <a:rPr dirty="0"/>
              <a:t>weekend, put it on GitHub, and within a week it had four million users.</a:t>
            </a:r>
          </a:p>
          <a:p>
            <a:endParaRPr dirty="0"/>
          </a:p>
          <a:p>
            <a:r>
              <a:rPr dirty="0"/>
              <a:t>What makes this game interesting for *machine learning* is the long history</a:t>
            </a:r>
          </a:p>
          <a:p>
            <a:r>
              <a:rPr dirty="0"/>
              <a:t>it has with classical algorithms. The strongest non-search agents ever</a:t>
            </a:r>
          </a:p>
          <a:p>
            <a:r>
              <a:rPr dirty="0"/>
              <a:t>recorded for 2048 were built in 2014 by Marcin Szubert and Wojciech</a:t>
            </a:r>
          </a:p>
          <a:p>
            <a:r>
              <a:rPr dirty="0"/>
              <a:t>Jaśkowski, using a method called *n-tuple temporal-difference learning*.</a:t>
            </a:r>
          </a:p>
          <a:p>
            <a:r>
              <a:rPr dirty="0"/>
              <a:t>That method predates the deep-learning boom by years.</a:t>
            </a:r>
          </a:p>
          <a:p>
            <a:endParaRPr dirty="0"/>
          </a:p>
          <a:p>
            <a:r>
              <a:rPr dirty="0"/>
              <a:t>The theoretical maximum tile is 131,072 — that's 2 to the 17th. Nobody</a:t>
            </a:r>
          </a:p>
          <a:p>
            <a:r>
              <a:rPr dirty="0"/>
              <a:t>has reached it in fair play, even with hours of computer search.</a:t>
            </a:r>
          </a:p>
          <a:p>
            <a:endParaRPr dirty="0"/>
          </a:p>
          <a:p>
            <a:r>
              <a:rPr dirty="0"/>
              <a:t>The reason we're doing this experiment: it's an obvious-feeling 2026 move</a:t>
            </a:r>
          </a:p>
          <a:p>
            <a:r>
              <a:rPr dirty="0"/>
              <a:t>to throw a deep neural network at 2048 and see if it beats the classical</a:t>
            </a:r>
          </a:p>
          <a:p>
            <a:r>
              <a:rPr dirty="0"/>
              <a:t>method. So that's what we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rules are simple. You have a 4-by-4 grid. You swipe in one of four</a:t>
            </a:r>
          </a:p>
          <a:p>
            <a:r>
              <a:t>directions — up, down, left, right — and every tile slides as far as it can</a:t>
            </a:r>
          </a:p>
          <a:p>
            <a:r>
              <a:t>in that direction.</a:t>
            </a:r>
          </a:p>
          <a:p>
            <a:endParaRPr/>
          </a:p>
          <a:p>
            <a:r>
              <a:t>When two tiles with the *same* number collide, they merge into one tile of</a:t>
            </a:r>
          </a:p>
          <a:p>
            <a:r>
              <a:t>double the value. So two 2s become a 4, two 4s become an 8, and so on.</a:t>
            </a:r>
          </a:p>
          <a:p>
            <a:endParaRPr/>
          </a:p>
          <a:p>
            <a:r>
              <a:t>After every swipe, a new tile appears in a random empty cell. Usually a 2</a:t>
            </a:r>
          </a:p>
          <a:p>
            <a:r>
              <a:t>(90 % of the time), occasionally a 4 (10 %).</a:t>
            </a:r>
          </a:p>
          <a:p>
            <a:endParaRPr/>
          </a:p>
          <a:p>
            <a:r>
              <a:t>You win if you ever build the 2048 tile. You lose when the board fills up</a:t>
            </a:r>
          </a:p>
          <a:p>
            <a:r>
              <a:t>and no merges are possible.</a:t>
            </a:r>
          </a:p>
          <a:p>
            <a:endParaRPr/>
          </a:p>
          <a:p>
            <a:r>
              <a:t>Look at example 2 on the right. You can get *two* merges in a single swipe</a:t>
            </a:r>
          </a:p>
          <a:p>
            <a:r>
              <a:t>if you set them up right — that pair of 2s becomes a 4, and that pair of 4s</a:t>
            </a:r>
          </a:p>
          <a:p>
            <a:r>
              <a:t>becomes an 8, all in one swipe. But there's a subtlety: those new tiles</a:t>
            </a:r>
          </a:p>
          <a:p>
            <a:r>
              <a:t>don't *chain*. The new 4 doesn't merge with the new 8 in the same swipe.</a:t>
            </a:r>
          </a:p>
          <a:p>
            <a:r>
              <a:t>That makes the game easier to reason about — every swipe is bounded.</a:t>
            </a:r>
          </a:p>
          <a:p>
            <a:endParaRPr/>
          </a:p>
          <a:p>
            <a:r>
              <a:t>We implemented this with a bitboard — each row of the board packs into</a:t>
            </a:r>
          </a:p>
          <a:p>
            <a:r>
              <a:t>16 bits, so all 65,536 possible row configurations fit in a lookup table.</a:t>
            </a:r>
          </a:p>
          <a:p>
            <a:r>
              <a:t>Move logic is then just four table reads per swipe. Very fast, and we</a:t>
            </a:r>
          </a:p>
          <a:p>
            <a:r>
              <a:t>unit-tested it against a naive implementation across every possible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we talk about our agents, let me explain *reinforcement learning*</a:t>
            </a:r>
          </a:p>
          <a:p>
            <a:r>
              <a:t>in plain language, in case it's new to you.</a:t>
            </a:r>
          </a:p>
          <a:p>
            <a:endParaRPr/>
          </a:p>
          <a:p>
            <a:r>
              <a:t>Reinforcement learning is the branch of machine learning where the computer</a:t>
            </a:r>
          </a:p>
          <a:p>
            <a:r>
              <a:t>learns by trial and error. The setup is a loop:</a:t>
            </a:r>
          </a:p>
          <a:p>
            <a:endParaRPr/>
          </a:p>
          <a:p>
            <a:r>
              <a:t>1. The agent looks at the current STATE — in our case, the board.</a:t>
            </a:r>
          </a:p>
          <a:p>
            <a:r>
              <a:t>2. It picks an ACTION — a swipe direction.</a:t>
            </a:r>
          </a:p>
          <a:p>
            <a:r>
              <a:t>3. It gets a REWARD — the points it scored on that move.</a:t>
            </a:r>
          </a:p>
          <a:p>
            <a:r>
              <a:t>4. Then it sees the new state, and the loop repeats.</a:t>
            </a:r>
          </a:p>
          <a:p>
            <a:endParaRPr/>
          </a:p>
          <a:p>
            <a:r>
              <a:t>After playing thousands of games, the agent learns which moves tend to lead</a:t>
            </a:r>
          </a:p>
          <a:p>
            <a:r>
              <a:t>to high total scores. There's no teacher telling it "this is the correct</a:t>
            </a:r>
          </a:p>
          <a:p>
            <a:r>
              <a:t>swipe" — nobody labelled the data. The agent figures it all out from the</a:t>
            </a:r>
          </a:p>
          <a:p>
            <a:r>
              <a:t>rewards it observes.</a:t>
            </a:r>
          </a:p>
          <a:p>
            <a:endParaRPr/>
          </a:p>
          <a:p>
            <a:r>
              <a:t>The hard part is generalization. A 2048 board can take 16 to the 16th</a:t>
            </a:r>
          </a:p>
          <a:p>
            <a:r>
              <a:t>configurations — that's about 18 quintillion possible boards. Nobody can</a:t>
            </a:r>
          </a:p>
          <a:p>
            <a:r>
              <a:t>memorize a strategy for each one. So every learning agent has to define</a:t>
            </a:r>
          </a:p>
          <a:p>
            <a:r>
              <a:t>its own notion of "boards that look similar should be treated similarly."</a:t>
            </a:r>
          </a:p>
          <a:p>
            <a:endParaRPr/>
          </a:p>
          <a:p>
            <a:r>
              <a:t>Our two learners — DQN and n-tuple — do this in very different ways.</a:t>
            </a:r>
          </a:p>
          <a:p>
            <a:r>
              <a:t>That's the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map of what we actually built.</a:t>
            </a:r>
          </a:p>
          <a:p>
            <a:endParaRPr/>
          </a:p>
          <a:p>
            <a:r>
              <a:t>First: the game engine. We wrote a fast Python implementation of 2048 using</a:t>
            </a:r>
          </a:p>
          <a:p>
            <a:r>
              <a:t>bitboard tricks — each row packs into 16 bits, and move logic is precomputed</a:t>
            </a:r>
          </a:p>
          <a:p>
            <a:r>
              <a:t>into a 65k-entry lookup table. The unit tests verify the lookup table against</a:t>
            </a:r>
          </a:p>
          <a:p>
            <a:r>
              <a:t>a naive implementation across every possible row.</a:t>
            </a:r>
          </a:p>
          <a:p>
            <a:endParaRPr/>
          </a:p>
          <a:p>
            <a:r>
              <a:t>Second: four agents. Two baselines (random and a hand-coded heuristic) and</a:t>
            </a:r>
          </a:p>
          <a:p>
            <a:r>
              <a:t>two learners (DQN and n-tuple). All four implement the same interface — given</a:t>
            </a:r>
          </a:p>
          <a:p>
            <a:r>
              <a:t>a board and a list of legal swipes, return a swipe — which means the</a:t>
            </a:r>
          </a:p>
          <a:p>
            <a:r>
              <a:t>evaluation harness can swap them freely.</a:t>
            </a:r>
          </a:p>
          <a:p>
            <a:endParaRPr/>
          </a:p>
          <a:p>
            <a:r>
              <a:t>Third: separate training scripts. DQN needs replay buffer + gradient descent +</a:t>
            </a:r>
          </a:p>
          <a:p>
            <a:r>
              <a:t>PyTorch. The n-tuple just needs NumPy and lookup tables. The two trainers</a:t>
            </a:r>
          </a:p>
          <a:p>
            <a:r>
              <a:t>share almost nothing.</a:t>
            </a:r>
          </a:p>
          <a:p>
            <a:endParaRPr/>
          </a:p>
          <a:p>
            <a:r>
              <a:t>Fourth: a common evaluation harness. Each agent runs on hundreds of fresh</a:t>
            </a:r>
          </a:p>
          <a:p>
            <a:r>
              <a:t>games with seeds that were *not* in training. Same engine, same protocol,</a:t>
            </a:r>
          </a:p>
          <a:p>
            <a:r>
              <a:t>same metrics — that's how we can claim a fair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introductions to our four agents.</a:t>
            </a:r>
          </a:p>
          <a:p>
            <a:endParaRPr/>
          </a:p>
          <a:p>
            <a:r>
              <a:t>RANDOM just picks a legal swipe uniformly at random. It's our "anything</a:t>
            </a:r>
          </a:p>
          <a:p>
            <a:r>
              <a:t>worse than this is broken" sanity floor.</a:t>
            </a:r>
          </a:p>
          <a:p>
            <a:endParaRPr/>
          </a:p>
          <a:p>
            <a:r>
              <a:t>GREEDY is 30 lines of hand-coded rules. For each candidate swipe, it scores</a:t>
            </a:r>
          </a:p>
          <a:p>
            <a:r>
              <a:t>the resulting board on three things: monotonicity — are rows or columns</a:t>
            </a:r>
          </a:p>
          <a:p>
            <a:r>
              <a:t>sorted? — empty cells — more is better — and a corner bonus — extra points</a:t>
            </a:r>
          </a:p>
          <a:p>
            <a:r>
              <a:t>if the biggest tile is in a corner. Then it picks the swipe with the highest</a:t>
            </a:r>
          </a:p>
          <a:p>
            <a:r>
              <a:t>total. No learning at all. This is pure human-knowledge baseline.</a:t>
            </a:r>
          </a:p>
          <a:p>
            <a:endParaRPr/>
          </a:p>
          <a:p>
            <a:r>
              <a:t>DQN is a Deep Q-Network. A neural network reads the board and learns to</a:t>
            </a:r>
          </a:p>
          <a:p>
            <a:r>
              <a:t>predict, for each swipe, the long-term value of taking that swipe. We'll</a:t>
            </a:r>
          </a:p>
          <a:p>
            <a:r>
              <a:t>go deep into how it works in the next three slides.</a:t>
            </a:r>
          </a:p>
          <a:p>
            <a:endParaRPr/>
          </a:p>
          <a:p>
            <a:r>
              <a:t>N-TUPLE is the classical method from the 2014 paper. Instead of a neural</a:t>
            </a:r>
          </a:p>
          <a:p>
            <a:r>
              <a:t>network, it uses lookup tables indexed by small patches of the board. The</a:t>
            </a:r>
          </a:p>
          <a:p>
            <a:r>
              <a:t>value of the whole board is just the sum of a handful of table reads. We'll</a:t>
            </a:r>
          </a:p>
          <a:p>
            <a:r>
              <a:t>go deep into this one too.</a:t>
            </a:r>
          </a:p>
          <a:p>
            <a:endParaRPr/>
          </a:p>
          <a:p>
            <a:r>
              <a:t>All four implement the same act() interface — they're swappable in the</a:t>
            </a:r>
          </a:p>
          <a:p>
            <a:r>
              <a:t>evaluator.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Let's look at our DQN in detail.</a:t>
            </a:r>
          </a:p>
          <a:p>
            <a:endParaRPr dirty="0"/>
          </a:p>
          <a:p>
            <a:r>
              <a:rPr dirty="0"/>
              <a:t>The architecture is a small fully-connected neural network — about</a:t>
            </a:r>
          </a:p>
          <a:p>
            <a:r>
              <a:rPr dirty="0"/>
              <a:t>250,000 parameters total.</a:t>
            </a:r>
          </a:p>
          <a:p>
            <a:endParaRPr dirty="0"/>
          </a:p>
          <a:p>
            <a:r>
              <a:rPr dirty="0"/>
              <a:t>The INPUT is the 4-by-4 board encoded as a one-hot tensor. Each cell can</a:t>
            </a:r>
          </a:p>
          <a:p>
            <a:r>
              <a:rPr dirty="0"/>
              <a:t>hold one of 16 possible values — empty, 2, 4, 8, 16, all the way up to</a:t>
            </a:r>
          </a:p>
          <a:p>
            <a:r>
              <a:rPr dirty="0"/>
              <a:t>32,768. We turn each cell into a 16-element vector with a single 1 in the</a:t>
            </a:r>
          </a:p>
          <a:p>
            <a:r>
              <a:rPr dirty="0"/>
              <a:t>bucket for the value it holds, and zeros everywhere else. With 16 cells</a:t>
            </a:r>
          </a:p>
          <a:p>
            <a:r>
              <a:rPr dirty="0"/>
              <a:t>times 16 buckets, that's 256 numbers fed into the network.</a:t>
            </a:r>
          </a:p>
          <a:p>
            <a:endParaRPr dirty="0"/>
          </a:p>
          <a:p>
            <a:r>
              <a:rPr dirty="0"/>
              <a:t>The HIDDEN LAYERS are 256 → 512 → 256, with </a:t>
            </a:r>
            <a:r>
              <a:rPr dirty="0" err="1"/>
              <a:t>ReLU</a:t>
            </a:r>
            <a:r>
              <a:rPr dirty="0"/>
              <a:t> activations between them.</a:t>
            </a:r>
          </a:p>
          <a:p>
            <a:endParaRPr dirty="0"/>
          </a:p>
          <a:p>
            <a:r>
              <a:rPr dirty="0"/>
              <a:t>The OUTPUT layer has 4 neurons — one per swipe direction. Each output is a</a:t>
            </a:r>
          </a:p>
          <a:p>
            <a:r>
              <a:rPr dirty="0"/>
              <a:t>"Q-value": the network's estimate of how many total points we'll score from</a:t>
            </a:r>
          </a:p>
          <a:p>
            <a:r>
              <a:rPr dirty="0"/>
              <a:t>now until the end of the game if we pick that swipe and play well afterwards.</a:t>
            </a:r>
          </a:p>
          <a:p>
            <a:endParaRPr dirty="0"/>
          </a:p>
          <a:p>
            <a:r>
              <a:rPr dirty="0"/>
              <a:t>To play a move at evaluation time, we just compute the 4 Q-values and pick</a:t>
            </a:r>
          </a:p>
          <a:p>
            <a:r>
              <a:rPr dirty="0"/>
              <a:t>the swipe with the highest one.</a:t>
            </a:r>
          </a:p>
          <a:p>
            <a:endParaRPr dirty="0"/>
          </a:p>
          <a:p>
            <a:r>
              <a:rPr dirty="0"/>
              <a:t>Critically: the network has no domain knowledge built in. It doesn't know</a:t>
            </a:r>
          </a:p>
          <a:p>
            <a:r>
              <a:rPr dirty="0"/>
              <a:t>what a "tile" is, what a "merge" is, what a "corner" is — it just gets 256</a:t>
            </a:r>
          </a:p>
          <a:p>
            <a:r>
              <a:rPr dirty="0"/>
              <a:t>floats and four output buckets, and it has to figure out the rest from</a:t>
            </a:r>
          </a:p>
          <a:p>
            <a:r>
              <a:rPr dirty="0"/>
              <a:t>playing the game.</a:t>
            </a:r>
          </a:p>
          <a:p>
            <a:endParaRPr dirty="0"/>
          </a:p>
          <a:p>
            <a:r>
              <a:rPr dirty="0"/>
              <a:t>Trained for 5,000 games using Double-DQN with action masking — we'll</a:t>
            </a:r>
          </a:p>
          <a:p>
            <a:r>
              <a:rPr dirty="0"/>
              <a:t>cover those tricks two slides from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To make this less abstract — here's what a forward pass actually looks like.</a:t>
            </a:r>
          </a:p>
          <a:p>
            <a:endParaRPr dirty="0"/>
          </a:p>
          <a:p>
            <a:r>
              <a:rPr dirty="0"/>
              <a:t>The board on the left is the input. Cell (0,0) holds an 8, which is 2 to the</a:t>
            </a:r>
          </a:p>
          <a:p>
            <a:r>
              <a:rPr dirty="0"/>
              <a:t>3rd, so the one-hot encoding for that cell has a 1 in bucket 3 and zeros</a:t>
            </a:r>
          </a:p>
          <a:p>
            <a:r>
              <a:rPr dirty="0"/>
              <a:t>everywhere else. Cell (0,1) holds a 4 — 2 to the 2nd — so it gets a 1 in</a:t>
            </a:r>
          </a:p>
          <a:p>
            <a:r>
              <a:rPr dirty="0"/>
              <a:t>bucket 2. And so on for the other 14 cells.</a:t>
            </a:r>
          </a:p>
          <a:p>
            <a:endParaRPr dirty="0"/>
          </a:p>
          <a:p>
            <a:r>
              <a:rPr dirty="0"/>
              <a:t>We concatenate all 16 of these one-hot vectors into one long vector of 256</a:t>
            </a:r>
          </a:p>
          <a:p>
            <a:r>
              <a:rPr dirty="0"/>
              <a:t>numbers, which we feed into the MLP.</a:t>
            </a:r>
          </a:p>
          <a:p>
            <a:endParaRPr dirty="0"/>
          </a:p>
          <a:p>
            <a:r>
              <a:rPr dirty="0"/>
              <a:t>The MLP outputs 4 numbers — one Q-value per swipe direction. In this</a:t>
            </a:r>
          </a:p>
          <a:p>
            <a:r>
              <a:rPr dirty="0"/>
              <a:t>illustrative example, the network predicts that swiping RIGHT has the</a:t>
            </a:r>
          </a:p>
          <a:p>
            <a:r>
              <a:rPr dirty="0"/>
              <a:t>highest long-term value, at +12.7. Down is +5.1, left is +8.2, and</a:t>
            </a:r>
          </a:p>
          <a:p>
            <a:r>
              <a:rPr dirty="0"/>
              <a:t>swiping up is actually predicted to be a bad move at −2.3.</a:t>
            </a:r>
          </a:p>
          <a:p>
            <a:endParaRPr dirty="0"/>
          </a:p>
          <a:p>
            <a:r>
              <a:rPr dirty="0"/>
              <a:t>So the agent picks RIGHT.</a:t>
            </a:r>
          </a:p>
          <a:p>
            <a:endParaRPr dirty="0"/>
          </a:p>
          <a:p>
            <a:r>
              <a:rPr dirty="0"/>
              <a:t>These specific Q-values are illustrative — I made up the numbers for this</a:t>
            </a:r>
          </a:p>
          <a:p>
            <a:r>
              <a:rPr dirty="0"/>
              <a:t>slide. In reality, they're learned: every gradient update during training</a:t>
            </a:r>
          </a:p>
          <a:p>
            <a:r>
              <a:rPr dirty="0"/>
              <a:t>shifts them based on what the network has seen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do those Q-values come from? Training. Here's what one training step</a:t>
            </a:r>
          </a:p>
          <a:p>
            <a:r>
              <a:t>looks like.</a:t>
            </a:r>
          </a:p>
          <a:p>
            <a:endParaRPr/>
          </a:p>
          <a:p>
            <a:r>
              <a:t>STEP 1: the agent plays a real move in a real game. It observes board s,</a:t>
            </a:r>
          </a:p>
          <a:p>
            <a:r>
              <a:t>picks swipe a, gets reward r, and lands on next board s'.</a:t>
            </a:r>
          </a:p>
          <a:p>
            <a:endParaRPr/>
          </a:p>
          <a:p>
            <a:r>
              <a:t>STEP 2: we save that experience into a "replay buffer" — a ring buffer</a:t>
            </a:r>
          </a:p>
          <a:p>
            <a:r>
              <a:t>holding the last 100,000 transitions. When the buffer is full, the oldest</a:t>
            </a:r>
          </a:p>
          <a:p>
            <a:r>
              <a:t>ones get overwritten.</a:t>
            </a:r>
          </a:p>
          <a:p>
            <a:endParaRPr/>
          </a:p>
          <a:p>
            <a:r>
              <a:t>STEP 3: instead of training on just the current game, we randomly sample</a:t>
            </a:r>
          </a:p>
          <a:p>
            <a:r>
              <a:t>512 past transitions from the buffer. Sampling from a big pool of past</a:t>
            </a:r>
          </a:p>
          <a:p>
            <a:r>
              <a:t>experience decorrelates the training samples and makes training much more</a:t>
            </a:r>
          </a:p>
          <a:p>
            <a:r>
              <a:t>stable than training on just the current trajectory.</a:t>
            </a:r>
          </a:p>
          <a:p>
            <a:endParaRPr/>
          </a:p>
          <a:p>
            <a:r>
              <a:t>STEP 4: we compute the "TD target" — what the network *should* have</a:t>
            </a:r>
          </a:p>
          <a:p>
            <a:r>
              <a:t>predicted. The formula is the reward we just received, plus a discount</a:t>
            </a:r>
          </a:p>
          <a:p>
            <a:r>
              <a:t>factor (gamma = 0.99) times the best Q-value from the next state.</a:t>
            </a:r>
          </a:p>
          <a:p>
            <a:endParaRPr/>
          </a:p>
          <a:p>
            <a:r>
              <a:t>STEP 5: we compute the loss between current prediction and target —</a:t>
            </a:r>
          </a:p>
          <a:p>
            <a:r>
              <a:t>smooth-L1, which is robust to outliers — and we do a gradient descent</a:t>
            </a:r>
          </a:p>
          <a:p>
            <a:r>
              <a:t>step. Adam optimizer with learning rate 5e-4.</a:t>
            </a:r>
          </a:p>
          <a:p>
            <a:endParaRPr/>
          </a:p>
          <a:p>
            <a:r>
              <a:t>This whole loop repeats roughly one million times across 5,000 games of</a:t>
            </a:r>
          </a:p>
          <a:p>
            <a:r>
              <a:t>training. We also use five stabilisation tricks listed at the bottom —</a:t>
            </a:r>
          </a:p>
          <a:p>
            <a:r>
              <a:t>target network, Double-DQN, reward scaling, epsilon-greedy exploration,</a:t>
            </a:r>
          </a:p>
          <a:p>
            <a:r>
              <a:t>and action masking. These exist because basic DQN is numerically unstable</a:t>
            </a:r>
          </a:p>
          <a:p>
            <a:r>
              <a:t>for three reasons: the network bootstraps off its own predictions so the</a:t>
            </a:r>
          </a:p>
          <a:p>
            <a:r>
              <a:t>target keeps moving, the max operator over noisy Q-estimates is biased</a:t>
            </a:r>
          </a:p>
          <a:p>
            <a:r>
              <a:t>upward, and reward magnitudes vary wildly across the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OK, switching to the classical method.</a:t>
            </a:r>
          </a:p>
          <a:p>
            <a:endParaRPr/>
          </a:p>
          <a:p>
            <a:r>
              <a:t>The n-tuple is conceptually much simpler than DQN. Instead of a neural</a:t>
            </a:r>
          </a:p>
          <a:p>
            <a:r>
              <a:t>network, we have four lookup tables, indexed by small *patches* of the</a:t>
            </a:r>
          </a:p>
          <a:p>
            <a:r>
              <a:t>board.</a:t>
            </a:r>
          </a:p>
          <a:p>
            <a:endParaRPr/>
          </a:p>
          <a:p>
            <a:r>
              <a:t>The four patches are shown at the top:</a:t>
            </a:r>
          </a:p>
          <a:p>
            <a:r>
              <a:t> - Pattern A: a six-cell "axe" shape covering the top row plus two cells</a:t>
            </a:r>
          </a:p>
          <a:p>
            <a:r>
              <a:t>   below — designed to capture corner arrangements.</a:t>
            </a:r>
          </a:p>
          <a:p>
            <a:r>
              <a:t> - Pattern B: another six-cell axe, shifted down one row.</a:t>
            </a:r>
          </a:p>
          <a:p>
            <a:r>
              <a:t> - Pattern C: the top row, four cells.</a:t>
            </a:r>
          </a:p>
          <a:p>
            <a:r>
              <a:t> - Pattern D: the top-left 2-by-2 corner, four cells.</a:t>
            </a:r>
          </a:p>
          <a:p>
            <a:endParaRPr/>
          </a:p>
          <a:p>
            <a:r>
              <a:t>These were the patches used in the 2014 paper. They were picked by humans</a:t>
            </a:r>
          </a:p>
          <a:p>
            <a:r>
              <a:t>based on what we know matters for 2048: corners, adjacency of large tiles,</a:t>
            </a:r>
          </a:p>
          <a:p>
            <a:r>
              <a:t>sorted rows.</a:t>
            </a:r>
          </a:p>
          <a:p>
            <a:endParaRPr/>
          </a:p>
          <a:p>
            <a:r>
              <a:t>To compute the VALUE of any board, we just read the contents of each patch</a:t>
            </a:r>
          </a:p>
          <a:p>
            <a:r>
              <a:t>on the board, look up that pattern in the corresponding table, and sum the</a:t>
            </a:r>
          </a:p>
          <a:p>
            <a:r>
              <a:t>table reads. The formula is right there: V(board) = sum of lookups.</a:t>
            </a:r>
          </a:p>
          <a:p>
            <a:endParaRPr/>
          </a:p>
          <a:p>
            <a:r>
              <a:t>A 6-cell patch with 16 possible values per cell has 16 to the 6th — about</a:t>
            </a:r>
          </a:p>
          <a:p>
            <a:r>
              <a:t>16 million — possible configurations. Each configuration gets its own slot</a:t>
            </a:r>
          </a:p>
          <a:p>
            <a:r>
              <a:t>in the lookup table. That sounds big, but it's tiny compared to a deep</a:t>
            </a:r>
          </a:p>
          <a:p>
            <a:r>
              <a:t>neural network.</a:t>
            </a:r>
          </a:p>
          <a:p>
            <a:endParaRPr/>
          </a:p>
          <a:p>
            <a:r>
              <a:t>There's also a clever trick called DIHEDRAL SYMMETRY SHARING. A square has</a:t>
            </a:r>
          </a:p>
          <a:p>
            <a:r>
              <a:t>8 symmetries — 4 rotations and 4 reflections. Each pattern is looked up</a:t>
            </a:r>
          </a:p>
          <a:p>
            <a:r>
              <a:t>not just at its canonical position but at every rotation and reflection</a:t>
            </a:r>
          </a:p>
          <a:p>
            <a:r>
              <a:t>of itself, all hitting the *same* shared lookup table. So one weight</a:t>
            </a:r>
          </a:p>
          <a:p>
            <a:r>
              <a:t>update teaches the network about all 8 symmetric variants of the board</a:t>
            </a:r>
          </a:p>
          <a:p>
            <a:r>
              <a:t>at once.</a:t>
            </a:r>
          </a:p>
          <a:p>
            <a:endParaRPr/>
          </a:p>
          <a:p>
            <a:r>
              <a:t>Two of our patterns are themselves symmetric (the top row and the corner),</a:t>
            </a:r>
          </a:p>
          <a:p>
            <a:r>
              <a:t>so their orbits have only 4 distinct positions each. Total lookups per</a:t>
            </a:r>
          </a:p>
          <a:p>
            <a:r>
              <a:t>board: 8 + 8 + 4 + 4 = 24. No neural network, no gradient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idea as the DQN concrete slide — let me walk through what a real</a:t>
            </a:r>
          </a:p>
          <a:p>
            <a:r>
              <a:t>value computation looks like.</a:t>
            </a:r>
          </a:p>
          <a:p>
            <a:endParaRPr/>
          </a:p>
          <a:p>
            <a:r>
              <a:t>We have this board on the left. To get its value, we read four patches.</a:t>
            </a:r>
          </a:p>
          <a:p>
            <a:endParaRPr/>
          </a:p>
          <a:p>
            <a:r>
              <a:t>PATTERN A — the top-left axe — covers six cells. We read their log-2</a:t>
            </a:r>
          </a:p>
          <a:p>
            <a:r>
              <a:t>values: 8 is 3, 4 is 2, 2 is 1, empty is 0. So Pattern A reads as</a:t>
            </a:r>
          </a:p>
          <a:p>
            <a:r>
              <a:t>[3, 2, 1, 0, 2, 1]. We pack those six numbers into a single integer index,</a:t>
            </a:r>
          </a:p>
          <a:p>
            <a:r>
              <a:t>use it to look up Pattern A's table, and get back, say, +12.4.</a:t>
            </a:r>
          </a:p>
          <a:p>
            <a:endParaRPr/>
          </a:p>
          <a:p>
            <a:r>
              <a:t>Same thing for Patterns B, C, and D — we read the log-2 values, index into</a:t>
            </a:r>
          </a:p>
          <a:p>
            <a:r>
              <a:t>the table, get a weight back.</a:t>
            </a:r>
          </a:p>
          <a:p>
            <a:endParaRPr/>
          </a:p>
          <a:p>
            <a:r>
              <a:t>PLUS: each of the four patches is looked up at every dihedral image of</a:t>
            </a:r>
          </a:p>
          <a:p>
            <a:r>
              <a:t>itself. Pattern A and B have 8 unique images each. Pattern C and D have</a:t>
            </a:r>
          </a:p>
          <a:p>
            <a:r>
              <a:t>4 each (they're themselves symmetric, so half their orbit collapses).</a:t>
            </a:r>
          </a:p>
          <a:p>
            <a:r>
              <a:t>Total: 24 lookups per board.</a:t>
            </a:r>
          </a:p>
          <a:p>
            <a:endParaRPr/>
          </a:p>
          <a:p>
            <a:r>
              <a:t>Sum all 24 reads — V(board) ≈ 47.5.</a:t>
            </a:r>
          </a:p>
          <a:p>
            <a:endParaRPr/>
          </a:p>
          <a:p>
            <a:r>
              <a:t>That single number is how the n-tuple measures "how good is this board."</a:t>
            </a:r>
          </a:p>
          <a:p>
            <a:r>
              <a:t>To pick a move at evaluation time, it tries each swipe, computes V of the</a:t>
            </a:r>
          </a:p>
          <a:p>
            <a:r>
              <a:t>resulting board, and picks the highest one.</a:t>
            </a:r>
          </a:p>
          <a:p>
            <a:endParaRPr/>
          </a:p>
          <a:p>
            <a:r>
              <a:t>The weights themselves — those +12.4, +3.1, etc. — start at zero and get</a:t>
            </a:r>
          </a:p>
          <a:p>
            <a:r>
              <a:t>learned by playing 10,000 games. The numbers shown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the n-tuple's training step. It's much simpler than DQN.</a:t>
            </a:r>
          </a:p>
          <a:p>
            <a:endParaRPr/>
          </a:p>
          <a:p>
            <a:r>
              <a:t>STEP 1: pick the greedy move. We try each legal swipe, compute the</a:t>
            </a:r>
          </a:p>
          <a:p>
            <a:r>
              <a:t>immediate reward plus V of the resulting afterstate, and keep the best.</a:t>
            </a:r>
          </a:p>
          <a:p>
            <a:r>
              <a:t>"Afterstate" is the board state right after the deterministic slide-and-</a:t>
            </a:r>
          </a:p>
          <a:p>
            <a:r>
              <a:t>merge, but *before* the random tile spawn — that's a key concept.</a:t>
            </a:r>
          </a:p>
          <a:p>
            <a:endParaRPr/>
          </a:p>
          <a:p>
            <a:r>
              <a:t>STEP 2: actually apply the move in the environment. The slide-and-merge</a:t>
            </a:r>
          </a:p>
          <a:p>
            <a:r>
              <a:t>gives us "after_t". Then a random tile spawns, giving us the next board</a:t>
            </a:r>
          </a:p>
          <a:p>
            <a:r>
              <a:t>s_{t+1}.</a:t>
            </a:r>
          </a:p>
          <a:p>
            <a:endParaRPr/>
          </a:p>
          <a:p>
            <a:r>
              <a:t>STEP 3: same procedure on s_{t+1} — find the next best move, get its</a:t>
            </a:r>
          </a:p>
          <a:p>
            <a:r>
              <a:t>reward and afterstate.</a:t>
            </a:r>
          </a:p>
          <a:p>
            <a:endParaRPr/>
          </a:p>
          <a:p>
            <a:r>
              <a:t>STEP 4: this is the actual *learning*. We compute the TD error, delta:</a:t>
            </a:r>
          </a:p>
          <a:p>
            <a:r>
              <a:t>"what should V(after_t) *have been*?" The answer, by the temporal-</a:t>
            </a:r>
          </a:p>
          <a:p>
            <a:r>
              <a:t>difference equation, is r_{t+1} + V(after_{t+1}). The error is the</a:t>
            </a:r>
          </a:p>
          <a:p>
            <a:r>
              <a:t>difference between target and current value. We add alpha times delta</a:t>
            </a:r>
          </a:p>
          <a:p>
            <a:r>
              <a:t>to every one of the 24 weights that contributed to V(after_t).</a:t>
            </a:r>
          </a:p>
          <a:p>
            <a:endParaRPr/>
          </a:p>
          <a:p>
            <a:r>
              <a:t>Alpha is our learning rate — about 0.004 per weight, set so that the</a:t>
            </a:r>
          </a:p>
          <a:p>
            <a:r>
              <a:t>*board-level* value update has magnitude alpha-base = 0.1.</a:t>
            </a:r>
          </a:p>
          <a:p>
            <a:endParaRPr/>
          </a:p>
          <a:p>
            <a:r>
              <a:t>That's it. No replay buffer. No batches. No gradient descent. Each</a:t>
            </a:r>
          </a:p>
          <a:p>
            <a:r>
              <a:t>update touches 24 numbers and runs in microseconds. We trained for</a:t>
            </a:r>
          </a:p>
          <a:p>
            <a:r>
              <a:t>10,000 games — about 55 minutes on CPU.</a:t>
            </a:r>
          </a:p>
          <a:p>
            <a:endParaRPr/>
          </a:p>
          <a:p>
            <a:r>
              <a:t>Note: we deliberately learn the value of *afterstates*, not states.</a:t>
            </a:r>
          </a:p>
          <a:p>
            <a:r>
              <a:t>That keeps the random tile spawn out of our learning target — it's</a:t>
            </a:r>
          </a:p>
          <a:p>
            <a:r>
              <a:t>just averaged out empirically by playing many games. That's one of the</a:t>
            </a:r>
          </a:p>
          <a:p>
            <a:r>
              <a:t>n-tuple's structural advantages over DQN.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talk results.</a:t>
            </a:r>
          </a:p>
          <a:p>
            <a:endParaRPr/>
          </a:p>
          <a:p>
            <a:r>
              <a:t>We trained the DQN for 5,000 games and the n-tuple for 10,000 games, then</a:t>
            </a:r>
          </a:p>
          <a:p>
            <a:r>
              <a:t>evaluated both on a fresh test set of 300 games with seeds that were *not*</a:t>
            </a:r>
          </a:p>
          <a:p>
            <a:r>
              <a:t>in training. Random and greedy don't train — they were just evaluated.</a:t>
            </a:r>
          </a:p>
          <a:p>
            <a:endParaRPr/>
          </a:p>
          <a:p>
            <a:r>
              <a:t>Look at the mean reward column on top. Random plays get about 298 points</a:t>
            </a:r>
          </a:p>
          <a:p>
            <a:r>
              <a:t>per game on average. Greedy gets 1,300. The trained DQN gets… 311.</a:t>
            </a:r>
          </a:p>
          <a:p>
            <a:r>
              <a:t>Basically tied with random.</a:t>
            </a:r>
          </a:p>
          <a:p>
            <a:endParaRPr/>
          </a:p>
          <a:p>
            <a:r>
              <a:t>The n-tuple gets 3,270 — an *order of magnitude* better than DQN.</a:t>
            </a:r>
          </a:p>
          <a:p>
            <a:endParaRPr/>
          </a:p>
          <a:p>
            <a:r>
              <a:t>A few things to notice. Even our hand-coded heuristic — with zero learning —</a:t>
            </a:r>
          </a:p>
          <a:p>
            <a:r>
              <a:t>beats vanilla deep RL by 4× on this task. The n-tuple, with its hand-picked</a:t>
            </a:r>
          </a:p>
          <a:p>
            <a:r>
              <a:t>patches and symmetry tricks, blows everything else away.</a:t>
            </a:r>
          </a:p>
          <a:p>
            <a:endParaRPr/>
          </a:p>
          <a:p>
            <a:r>
              <a:t>One housekeeping note: our scores are in "log2-merge units." We use the</a:t>
            </a:r>
          </a:p>
          <a:p>
            <a:r>
              <a:t>log-2 of the new tile as the reward, not the tile's actual value. That</a:t>
            </a:r>
          </a:p>
          <a:p>
            <a:r>
              <a:t>keeps reward magnitudes small. So 3,270 here would correspond to roughly</a:t>
            </a:r>
          </a:p>
          <a:p>
            <a:r>
              <a:t>15,000–20,000 in standard 2048 scoring. The qualitative comparison is</a:t>
            </a:r>
          </a:p>
          <a:p>
            <a:r>
              <a:t>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Mean reward only tells half the story. This chart is more revealing —</a:t>
            </a:r>
          </a:p>
          <a:p>
            <a:r>
              <a:t>it shows the *probability* that each agent reaches a given max tile.</a:t>
            </a:r>
          </a:p>
          <a:p>
            <a:endParaRPr/>
          </a:p>
          <a:p>
            <a:r>
              <a:t>Look at the n-tuple — the gold bars. It reaches the 1024 tile in 87 % of</a:t>
            </a:r>
          </a:p>
          <a:p>
            <a:r>
              <a:t>games, and the 2048 tile — the win condition — in 25 % of games. One in</a:t>
            </a:r>
          </a:p>
          <a:p>
            <a:r>
              <a:t>four games, it *actually wins*.</a:t>
            </a:r>
          </a:p>
          <a:p>
            <a:endParaRPr/>
          </a:p>
          <a:p>
            <a:r>
              <a:t>Greedy — the orange — reaches 1024 only 11 % of the time and never reaches</a:t>
            </a:r>
          </a:p>
          <a:p>
            <a:r>
              <a:t>2048.</a:t>
            </a:r>
          </a:p>
          <a:p>
            <a:endParaRPr/>
          </a:p>
          <a:p>
            <a:r>
              <a:t>DQN — the red-orange — never even reaches 512. Its tile distribution is</a:t>
            </a:r>
          </a:p>
          <a:p>
            <a:r>
              <a:t>indistinguishable from random.</a:t>
            </a:r>
          </a:p>
          <a:p>
            <a:endParaRPr/>
          </a:p>
          <a:p>
            <a:r>
              <a:t>The 25 % number — one in four games ending with the 2048 tile — is the</a:t>
            </a:r>
          </a:p>
          <a:p>
            <a:r>
              <a:t>headline of the whole project. We built a working AI 2048 player, with no</a:t>
            </a:r>
          </a:p>
          <a:p>
            <a:r>
              <a:t>deep learning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how they learn over time. Both agents started knowing nothing.</a:t>
            </a:r>
          </a:p>
          <a:p>
            <a:endParaRPr/>
          </a:p>
          <a:p>
            <a:r>
              <a:t>The chart shows their rolling-100-episode mean reward as training</a:t>
            </a:r>
          </a:p>
          <a:p>
            <a:r>
              <a:t>progresses.</a:t>
            </a:r>
          </a:p>
          <a:p>
            <a:endParaRPr/>
          </a:p>
          <a:p>
            <a:r>
              <a:t>The N-TUPLE — the gold line — climbs steadily from around 500 to around</a:t>
            </a:r>
          </a:p>
          <a:p>
            <a:r>
              <a:t>3,000 over its 10,000 training games. The two dotted vertical lines</a:t>
            </a:r>
          </a:p>
          <a:p>
            <a:r>
              <a:t>mark milestones: it built its first 1024 tile at episode 307, and its</a:t>
            </a:r>
          </a:p>
          <a:p>
            <a:r>
              <a:t>first 2048 tile at episode 1,231. It's still improving at the end of</a:t>
            </a:r>
          </a:p>
          <a:p>
            <a:r>
              <a:t>training — we could've kept going.</a:t>
            </a:r>
          </a:p>
          <a:p>
            <a:endParaRPr/>
          </a:p>
          <a:p>
            <a:r>
              <a:t>The DQN — the orange line — rises from about 100 to about 300 in the</a:t>
            </a:r>
          </a:p>
          <a:p>
            <a:r>
              <a:t>first thousand episodes, then flatlines. It learned *something* —</a:t>
            </a:r>
          </a:p>
          <a:p>
            <a:r>
              <a:t>roughly the difference between "obviously bad moves" and "average</a:t>
            </a:r>
          </a:p>
          <a:p>
            <a:r>
              <a:t>moves" — but it hit a wall. Running it longer doesn't fundamentally</a:t>
            </a:r>
          </a:p>
          <a:p>
            <a:r>
              <a:t>change the picture; the bottleneck is structural, not training time.</a:t>
            </a:r>
          </a:p>
          <a:p>
            <a:endParaRPr/>
          </a:p>
          <a:p>
            <a:r>
              <a:t>This is the cleanest visualization of "the n-tuple is actually learning;</a:t>
            </a:r>
          </a:p>
          <a:p>
            <a:r>
              <a:t>DQN is stuck."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Numbers are fine, but watching them play is more visceral.</a:t>
            </a:r>
          </a:p>
          <a:p>
            <a:endParaRPr/>
          </a:p>
          <a:p>
            <a:r>
              <a:t>This GIF shows both agents starting from the same initial board.</a:t>
            </a:r>
          </a:p>
          <a:p>
            <a:r>
              <a:t>DQN on the left, n-tuple on the right.</a:t>
            </a:r>
          </a:p>
          <a:p>
            <a:endParaRPr/>
          </a:p>
          <a:p>
            <a:r>
              <a:t>You can see — DQN's game ends quickly. It's making moves that look</a:t>
            </a:r>
          </a:p>
          <a:p>
            <a:r>
              <a:t>mostly reasonable, but the board fills up before it can build anything</a:t>
            </a:r>
          </a:p>
          <a:p>
            <a:r>
              <a:t>significant. It dies around tile 128 or 256.</a:t>
            </a:r>
          </a:p>
          <a:p>
            <a:endParaRPr/>
          </a:p>
          <a:p>
            <a:r>
              <a:t>The n-tuple, on the right, does something very specific: it builds a</a:t>
            </a:r>
          </a:p>
          <a:p>
            <a:r>
              <a:t>"snake" of tiles in one corner. That's the classic *human* strategy for</a:t>
            </a:r>
          </a:p>
          <a:p>
            <a:r>
              <a:t>2048 — keep the biggest tile pinned in a corner and chain merges down</a:t>
            </a:r>
          </a:p>
          <a:p>
            <a:r>
              <a:t>a snake of decreasing tiles next to it.</a:t>
            </a:r>
          </a:p>
          <a:p>
            <a:endParaRPr/>
          </a:p>
          <a:p>
            <a:r>
              <a:t>The n-tuple learned to do this on its own, just from the rewards.</a:t>
            </a:r>
          </a:p>
          <a:p>
            <a:r>
              <a:t>Nobody told it "build a snake in a corner." That behaviour emerged</a:t>
            </a:r>
          </a:p>
          <a:p>
            <a:r>
              <a:t>because the lookup-table patches happen to be sensitive to corner</a:t>
            </a:r>
          </a:p>
          <a:p>
            <a:r>
              <a:t>arrangements, and the TD updates push the values up whenever a corner</a:t>
            </a:r>
          </a:p>
          <a:p>
            <a:r>
              <a:t>snake leads to high reward.</a:t>
            </a:r>
          </a:p>
          <a:p>
            <a:endParaRPr/>
          </a:p>
          <a:p>
            <a:r>
              <a:t>[Let the GIF play out for a few seconds before clicking forward.]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*why* did the simpler method win? Three reasons, and they're all</a:t>
            </a:r>
          </a:p>
          <a:p>
            <a:r>
              <a:t>about what the agent gets *for free* before it ever starts learning.</a:t>
            </a:r>
          </a:p>
          <a:p>
            <a:endParaRPr/>
          </a:p>
          <a:p>
            <a:r>
              <a:t>REASON ONE: the right features beat raw data. The n-tuple's hand-picked</a:t>
            </a:r>
          </a:p>
          <a:p>
            <a:r>
              <a:t>patches encode exactly the structure that matters in 2048 — which tiles</a:t>
            </a:r>
          </a:p>
          <a:p>
            <a:r>
              <a:t>are adjacent to which, what's in the corner, whether the top row is</a:t>
            </a:r>
          </a:p>
          <a:p>
            <a:r>
              <a:t>sorted. DQN sees 256 raw numbers with no structure imposed on them, and</a:t>
            </a:r>
          </a:p>
          <a:p>
            <a:r>
              <a:t>has to discover from scratch that any of this matters. With 5,000 games</a:t>
            </a:r>
          </a:p>
          <a:p>
            <a:r>
              <a:t>of practice, it doesn't get there.</a:t>
            </a:r>
          </a:p>
          <a:p>
            <a:endParaRPr/>
          </a:p>
          <a:p>
            <a:r>
              <a:t>REASON TWO: the n-tuple gets symmetry for free. A clever move in the</a:t>
            </a:r>
          </a:p>
          <a:p>
            <a:r>
              <a:t>top-left corner is, by symmetry, also a clever move in the other three</a:t>
            </a:r>
          </a:p>
          <a:p>
            <a:r>
              <a:t>corners — just rotated or mirrored. The n-tuple updates all 8 symmetric</a:t>
            </a:r>
          </a:p>
          <a:p>
            <a:r>
              <a:t>variants at once because they share weights. DQN has to relearn each</a:t>
            </a:r>
          </a:p>
          <a:p>
            <a:r>
              <a:t>corner separately. That's roughly a 4-to-8× sample efficiency advantage.</a:t>
            </a:r>
          </a:p>
          <a:p>
            <a:endParaRPr/>
          </a:p>
          <a:p>
            <a:r>
              <a:t>REASON THREE: the learning signal is cleaner. The n-tuple learns values</a:t>
            </a:r>
          </a:p>
          <a:p>
            <a:r>
              <a:t>of *afterstates* — the board after your swipe but before the random tile</a:t>
            </a:r>
          </a:p>
          <a:p>
            <a:r>
              <a:t>spawn. That keeps the random spawn out of its learning target. DQN</a:t>
            </a:r>
          </a:p>
          <a:p>
            <a:r>
              <a:t>learns the post-spawn board, so every learning target it computes includes</a:t>
            </a:r>
          </a:p>
          <a:p>
            <a:r>
              <a:t>noise from a tile placement it had no control over.</a:t>
            </a:r>
          </a:p>
          <a:p>
            <a:endParaRPr/>
          </a:p>
          <a:p>
            <a:r>
              <a:t>All three of these are about REPRESENTATION, not network capacity. You</a:t>
            </a:r>
          </a:p>
          <a:p>
            <a:r>
              <a:t>can have more parameters and still lose if you're looking at the wrong</a:t>
            </a:r>
          </a:p>
          <a:p>
            <a:r>
              <a:t>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takeaways from the project.</a:t>
            </a:r>
          </a:p>
          <a:p>
            <a:endParaRPr/>
          </a:p>
          <a:p>
            <a:r>
              <a:t>ONE: representation often matters more than capacity. For tasks where</a:t>
            </a:r>
          </a:p>
          <a:p>
            <a:r>
              <a:t>humans already know what features to look at, baking those features in</a:t>
            </a:r>
          </a:p>
          <a:p>
            <a:r>
              <a:t>beats throwing a generic deep net at the raw inputs — at least at</a:t>
            </a:r>
          </a:p>
          <a:p>
            <a:r>
              <a:t>modest compute budgets.</a:t>
            </a:r>
          </a:p>
          <a:p>
            <a:endParaRPr/>
          </a:p>
          <a:p>
            <a:r>
              <a:t>TWO: classical methods aren't obsolete. The n-tuple TD method was</a:t>
            </a:r>
          </a:p>
          <a:p>
            <a:r>
              <a:t>invented in the 1980s by Richard Sutton. It still wins here against</a:t>
            </a:r>
          </a:p>
          <a:p>
            <a:r>
              <a:t>modern deep RL. The lesson generalizes: when a task has known structure,</a:t>
            </a:r>
          </a:p>
          <a:p>
            <a:r>
              <a:t>classical methods that exploit that structure can be hard to beat.</a:t>
            </a:r>
          </a:p>
          <a:p>
            <a:endParaRPr/>
          </a:p>
          <a:p>
            <a:r>
              <a:t>THREE: inductive bias is precious. Symmetry sharing, locality, the</a:t>
            </a:r>
          </a:p>
          <a:p>
            <a:r>
              <a:t>afterstate trick — each one of these saved us thousands of training</a:t>
            </a:r>
          </a:p>
          <a:p>
            <a:r>
              <a:t>episodes worth of compute. They are not just engineering tricks;</a:t>
            </a:r>
          </a:p>
          <a:p>
            <a:r>
              <a:t>they're substantive priors about the problem.</a:t>
            </a:r>
          </a:p>
          <a:p>
            <a:endParaRPr/>
          </a:p>
          <a:p>
            <a:r>
              <a:t>FOUR: deep RL can still win 2048, eventually — but it needs a much</a:t>
            </a:r>
          </a:p>
          <a:p>
            <a:r>
              <a:t>better architecture. A convolutional encoder over the 4-by-4 board</a:t>
            </a:r>
          </a:p>
          <a:p>
            <a:r>
              <a:t>would let the network exploit translation symmetry. Prioritized replay,</a:t>
            </a:r>
          </a:p>
          <a:p>
            <a:r>
              <a:t>n-step returns, and a longer training budget would help. The literature</a:t>
            </a:r>
          </a:p>
          <a:p>
            <a:r>
              <a:t>from 2017 onwards shows CNN-DQN agents matching or beating the n-tuple.</a:t>
            </a:r>
          </a:p>
          <a:p>
            <a:r>
              <a:t>We didn't do any of that — our experiment is a *lower bound* on vanilla</a:t>
            </a:r>
          </a:p>
          <a:p>
            <a:r>
              <a:t>DQN, not an upper bound on deep 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And that's it from us. Thanks for listening — happy to take questions</a:t>
            </a:r>
          </a:p>
          <a:p>
            <a:r>
              <a:t>on any of it.</a:t>
            </a:r>
          </a:p>
          <a:p>
            <a:endParaRPr/>
          </a:p>
          <a:p>
            <a:r>
              <a:t>Some good prompts in case the audience is shy:</a:t>
            </a:r>
          </a:p>
          <a:p>
            <a:r>
              <a:t> - "Why did you pick those four patches for the n-tuple?" → S&amp;J 2014</a:t>
            </a:r>
          </a:p>
          <a:p>
            <a:r>
              <a:t>   paper's pattern set, picked by humans based on what matters in 2048.</a:t>
            </a:r>
          </a:p>
          <a:p>
            <a:r>
              <a:t> - "How would you make DQN actually work here?" → CNN encoder, n-step</a:t>
            </a:r>
          </a:p>
          <a:p>
            <a:r>
              <a:t>   returns, prioritized replay, ~10× longer training budget.</a:t>
            </a:r>
          </a:p>
          <a:p>
            <a:r>
              <a:t> - "What's the official 2048 score equivalent of 3,270 in your units?"</a:t>
            </a:r>
          </a:p>
          <a:p>
            <a:r>
              <a:t>   → roughly 15,000–20,000 in standard scoring.</a:t>
            </a:r>
          </a:p>
          <a:p>
            <a:r>
              <a:t> - "Is the n-tuple just a memo'd table — could it overfit?" → it</a:t>
            </a:r>
          </a:p>
          <a:p>
            <a:r>
              <a:t>   could in principle, but the dihedral symmetry sharing means each</a:t>
            </a:r>
          </a:p>
          <a:p>
            <a:r>
              <a:t>   weight is hit by many board configurations, and 16M weights vs.</a:t>
            </a:r>
          </a:p>
          <a:p>
            <a:r>
              <a:t>   millions of board configurations means it generalizes well in</a:t>
            </a:r>
          </a:p>
          <a:p>
            <a:r>
              <a:t>  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8229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rgbClr val="776E65"/>
                </a:solidFill>
                <a:latin typeface="Segoe UI"/>
              </a:rPr>
              <a:t>Florian Robrecht · Janin Jankovski · Anna Hartmann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 i="0">
                <a:solidFill>
                  <a:srgbClr val="776E65"/>
                </a:solidFill>
                <a:latin typeface="Segoe UI Semibold"/>
              </a:rPr>
              <a:t>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 i="0">
                <a:solidFill>
                  <a:srgbClr val="776E65"/>
                </a:solidFill>
                <a:latin typeface="Segoe UI Semibold"/>
              </a:rPr>
              <a:t>with 2048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i="1">
                <a:solidFill>
                  <a:srgbClr val="A9A097"/>
                </a:solidFill>
                <a:latin typeface="Segoe UI"/>
              </a:rPr>
              <a:t>Machine Learning 2  ·  Assignment 5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6E3F8FA4-EA00-0ECC-B8AB-4CEB9F1DFBD8}"/>
              </a:ext>
            </a:extLst>
          </p:cNvPr>
          <p:cNvSpPr/>
          <p:nvPr/>
        </p:nvSpPr>
        <p:spPr>
          <a:xfrm>
            <a:off x="7838277" y="521208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00" b="1">
                <a:solidFill>
                  <a:srgbClr val="776E65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94AD1763-2FD7-4B56-3C09-3F283B90F785}"/>
              </a:ext>
            </a:extLst>
          </p:cNvPr>
          <p:cNvSpPr/>
          <p:nvPr/>
        </p:nvSpPr>
        <p:spPr>
          <a:xfrm>
            <a:off x="10450216" y="137160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00" b="1" dirty="0">
                <a:solidFill>
                  <a:srgbClr val="776E65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8CAC8BC2-0941-A825-077F-29F495FE1524}"/>
              </a:ext>
            </a:extLst>
          </p:cNvPr>
          <p:cNvSpPr/>
          <p:nvPr/>
        </p:nvSpPr>
        <p:spPr>
          <a:xfrm>
            <a:off x="9170056" y="265176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F2B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00" b="1">
                <a:solidFill>
                  <a:srgbClr val="F9F6F2"/>
                </a:solidFill>
                <a:latin typeface="Calibri"/>
              </a:rPr>
              <a:t>8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F09995DE-AA24-D39A-3139-D40C4D13CAE9}"/>
              </a:ext>
            </a:extLst>
          </p:cNvPr>
          <p:cNvSpPr/>
          <p:nvPr/>
        </p:nvSpPr>
        <p:spPr>
          <a:xfrm>
            <a:off x="10450216" y="265176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F5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00" b="1" dirty="0">
                <a:solidFill>
                  <a:srgbClr val="F9F6F2"/>
                </a:solidFill>
                <a:latin typeface="Calibri"/>
              </a:rPr>
              <a:t>16</a:t>
            </a: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8AB66F6B-87E8-73F9-6A9C-85DB70F234E5}"/>
              </a:ext>
            </a:extLst>
          </p:cNvPr>
          <p:cNvSpPr/>
          <p:nvPr/>
        </p:nvSpPr>
        <p:spPr>
          <a:xfrm>
            <a:off x="9170056" y="393192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600" b="1">
                <a:solidFill>
                  <a:srgbClr val="F9F6F2"/>
                </a:solidFill>
                <a:latin typeface="Calibri"/>
              </a:rPr>
              <a:t>2048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A short history of 2048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 dirty="0">
                <a:solidFill>
                  <a:srgbClr val="A9A097"/>
                </a:solidFill>
                <a:latin typeface="Segoe UI"/>
              </a:rPr>
              <a:t>Built in a weekend, viral in a week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65E3B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400" b="1">
                <a:solidFill>
                  <a:srgbClr val="F9F6F2"/>
                </a:solidFill>
                <a:latin typeface="Segoe UI Semibold"/>
              </a:rPr>
              <a:t>2014</a:t>
            </a:r>
          </a:p>
          <a:p>
            <a:pPr algn="ctr"/>
            <a:r>
              <a:rPr sz="1500" b="0">
                <a:solidFill>
                  <a:srgbClr val="F9F6F2"/>
                </a:solidFill>
                <a:latin typeface="Segoe UI"/>
              </a:rPr>
              <a:t>Year created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EDCF72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400" b="1">
                <a:solidFill>
                  <a:srgbClr val="F9F6F2"/>
                </a:solidFill>
                <a:latin typeface="Segoe UI Semibold"/>
              </a:rPr>
              <a:t>19</a:t>
            </a:r>
          </a:p>
          <a:p>
            <a:pPr algn="ctr"/>
            <a:r>
              <a:rPr sz="1500" b="0">
                <a:solidFill>
                  <a:srgbClr val="F9F6F2"/>
                </a:solidFill>
                <a:latin typeface="Segoe UI"/>
              </a:rPr>
              <a:t>Age of creator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EDCC61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400" b="1">
                <a:solidFill>
                  <a:srgbClr val="F9F6F2"/>
                </a:solidFill>
                <a:latin typeface="Segoe UI Semibold"/>
              </a:rPr>
              <a:t>48 h</a:t>
            </a:r>
          </a:p>
          <a:p>
            <a:pPr algn="ctr"/>
            <a:r>
              <a:rPr sz="1500" b="0">
                <a:solidFill>
                  <a:srgbClr val="F9F6F2"/>
                </a:solidFill>
                <a:latin typeface="Segoe UI"/>
              </a:rPr>
              <a:t>From idea to release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EDC850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400" b="1">
                <a:solidFill>
                  <a:srgbClr val="F9F6F2"/>
                </a:solidFill>
                <a:latin typeface="Segoe UI Semibold"/>
              </a:rPr>
              <a:t>4 M+</a:t>
            </a:r>
          </a:p>
          <a:p>
            <a:pPr algn="ctr"/>
            <a:r>
              <a:rPr sz="1500" b="0">
                <a:solidFill>
                  <a:srgbClr val="F9F6F2"/>
                </a:solidFill>
                <a:latin typeface="Segoe UI"/>
              </a:rPr>
              <a:t>Players in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642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776E65"/>
                </a:solidFill>
                <a:latin typeface="Segoe UI"/>
              </a:rPr>
              <a:t>•  Created by Gabriele Cirulli (Milan) — open-source on GitHub, March 9, 2014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776E65"/>
                </a:solidFill>
                <a:latin typeface="Segoe UI"/>
              </a:rPr>
              <a:t>•  Inspired by Threes! and the earlier 1024 — Cirulli built his own to see if he could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776E65"/>
                </a:solidFill>
                <a:latin typeface="Segoe UI"/>
              </a:rPr>
              <a:t>•  Theoretical maximum tile: 131,072 = 2¹⁷  —  no one has reached it in fair play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776E65"/>
                </a:solidFill>
                <a:latin typeface="Segoe UI"/>
              </a:rPr>
              <a:t>•  Sparked an entire research literature on n-tuple TD learning (Szubert &amp; Jaśkowski 2014 onwards)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The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Slide, merge, repeat — until 2048 or until the board fills 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002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776E65"/>
                </a:solidFill>
                <a:latin typeface="Segoe UI"/>
              </a:rPr>
              <a:t>•  Swipe up, down, left or right · every tile slides as far as it can in that direction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776E65"/>
                </a:solidFill>
                <a:latin typeface="Segoe UI"/>
              </a:rPr>
              <a:t>•  Two tiles with the same number that collide merge into one tile of double the value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776E65"/>
                </a:solidFill>
                <a:latin typeface="Segoe UI"/>
              </a:rPr>
              <a:t>•  After every swipe a new 2 (90 %) or 4 (10 %) appears in a random empty cell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776E65"/>
                </a:solidFill>
                <a:latin typeface="Segoe UI"/>
              </a:rPr>
              <a:t>•  Win at 2048 · Lose when the board is full with no legal merge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5409" y="3688688"/>
            <a:ext cx="2253081" cy="2253081"/>
          </a:xfrm>
          <a:prstGeom prst="roundRect">
            <a:avLst>
              <a:gd name="adj" fmla="val 5000"/>
            </a:avLst>
          </a:prstGeom>
          <a:solidFill>
            <a:srgbClr val="BBA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08913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52067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995220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8913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452067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95220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8913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452067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995220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5760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8913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452067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995220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2697480" y="4754879"/>
            <a:ext cx="594360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51760" y="4343399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A9A097"/>
                </a:solidFill>
                <a:latin typeface="Segoe UI"/>
              </a:rPr>
              <a:t>swipe 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929" y="3688688"/>
            <a:ext cx="2253081" cy="2253081"/>
          </a:xfrm>
          <a:prstGeom prst="roundRect">
            <a:avLst>
              <a:gd name="adj" fmla="val 5000"/>
            </a:avLst>
          </a:prstGeom>
          <a:solidFill>
            <a:srgbClr val="BBA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383280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926433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469587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12740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383280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926433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469587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012740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926433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469587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12740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383280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926433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469587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012740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217919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776E65"/>
                </a:solidFill>
                <a:latin typeface="Segoe UI"/>
              </a:rPr>
              <a:t>Simple merge: two 2s become a 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77609" y="3688688"/>
            <a:ext cx="2253081" cy="2253081"/>
          </a:xfrm>
          <a:prstGeom prst="roundRect">
            <a:avLst>
              <a:gd name="adj" fmla="val 5000"/>
            </a:avLst>
          </a:prstGeom>
          <a:solidFill>
            <a:srgbClr val="BBA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537960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81113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24267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67420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37960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081113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624267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167420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537960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081113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624267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167420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537960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081113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7624267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167420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8869680" y="4754879"/>
            <a:ext cx="594360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823960" y="4343399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A9A097"/>
                </a:solidFill>
                <a:latin typeface="Segoe UI"/>
              </a:rPr>
              <a:t>swipe 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95129" y="3688688"/>
            <a:ext cx="2253081" cy="2253081"/>
          </a:xfrm>
          <a:prstGeom prst="roundRect">
            <a:avLst>
              <a:gd name="adj" fmla="val 5000"/>
            </a:avLst>
          </a:prstGeom>
          <a:solidFill>
            <a:srgbClr val="BBA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555480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0098633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10641787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84940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2B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9F6F2"/>
                </a:solidFill>
                <a:latin typeface="Segoe UI Semibold"/>
              </a:rPr>
              <a:t>8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55480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10098633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0641787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1184940" y="42921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9555480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10098633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10641787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11184940" y="483534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9555480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10098633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10641787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11184940" y="53784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46520" y="6217919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776E65"/>
                </a:solidFill>
                <a:latin typeface="Segoe UI"/>
              </a:rPr>
              <a:t>Two merges in one swipe (no chaining of new tiles)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What is reinforcement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An agent learns by trial and error — no labelled answers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0116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DCF72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9F6F2"/>
                </a:solidFill>
                <a:latin typeface="Segoe UI Semibold"/>
              </a:rPr>
              <a:t>STATE</a:t>
            </a:r>
          </a:p>
          <a:p>
            <a:pPr algn="ctr"/>
            <a:r>
              <a:rPr sz="1400" b="0">
                <a:solidFill>
                  <a:srgbClr val="F9F6F2"/>
                </a:solidFill>
                <a:latin typeface="Segoe UI"/>
              </a:rPr>
              <a:t>what the agent sees
(the board)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0116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DCC61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9F6F2"/>
                </a:solidFill>
                <a:latin typeface="Segoe UI Semibold"/>
              </a:rPr>
              <a:t>ACTION</a:t>
            </a:r>
          </a:p>
          <a:p>
            <a:pPr algn="ctr"/>
            <a:r>
              <a:rPr sz="1400" b="0">
                <a:solidFill>
                  <a:srgbClr val="F9F6F2"/>
                </a:solidFill>
                <a:latin typeface="Segoe UI"/>
              </a:rPr>
              <a:t>what the agent does
(swipe direction)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0116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9F6F2"/>
                </a:solidFill>
                <a:latin typeface="Segoe UI Semibold"/>
              </a:rPr>
              <a:t>REWARD</a:t>
            </a:r>
          </a:p>
          <a:p>
            <a:pPr algn="ctr"/>
            <a:r>
              <a:rPr sz="1400" b="0">
                <a:solidFill>
                  <a:srgbClr val="F9F6F2"/>
                </a:solidFill>
                <a:latin typeface="Segoe UI"/>
              </a:rPr>
              <a:t>what the agent gets
(merge points)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11880" y="2731168"/>
            <a:ext cx="960120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89520" y="2731168"/>
            <a:ext cx="960120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i="1">
                <a:solidFill>
                  <a:srgbClr val="776E65"/>
                </a:solidFill>
                <a:latin typeface="Segoe UI"/>
              </a:rPr>
              <a:t>The agent updates its strategy from rewards. No teacher, no labels.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9418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776E65"/>
                </a:solidFill>
                <a:latin typeface="Segoe UI"/>
              </a:rPr>
              <a:t>•  Every move gives the agent feedback (points scored on this move)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776E65"/>
                </a:solidFill>
                <a:latin typeface="Segoe UI"/>
              </a:rPr>
              <a:t>•  Over many games the agent learns which moves tend to lead to high total scores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776E65"/>
                </a:solidFill>
                <a:latin typeface="Segoe UI"/>
              </a:rPr>
              <a:t>•  The hard part: how to remember good moves when no two boards are ever quite the same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One game engine, four agents, one evaluation harness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82880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F59563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9F6F2"/>
                </a:solidFill>
                <a:latin typeface="Segoe UI Semibold"/>
              </a:rPr>
              <a:t>Game engine</a:t>
            </a:r>
          </a:p>
          <a:p>
            <a:pPr algn="ctr"/>
            <a:r>
              <a:rPr sz="1400" b="0">
                <a:solidFill>
                  <a:srgbClr val="F9F6F2"/>
                </a:solidFill>
                <a:latin typeface="Segoe UI"/>
              </a:rPr>
              <a:t>Bitboard env
65k-row LUT
(unit-tested)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82880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EDCC61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9F6F2"/>
                </a:solidFill>
                <a:latin typeface="Segoe UI Semibold"/>
              </a:rPr>
              <a:t>4 agents</a:t>
            </a:r>
          </a:p>
          <a:p>
            <a:pPr algn="ctr"/>
            <a:r>
              <a:rPr sz="1400" b="0">
                <a:solidFill>
                  <a:srgbClr val="F9F6F2"/>
                </a:solidFill>
                <a:latin typeface="Segoe UI"/>
              </a:rPr>
              <a:t>Random · Greedy
DQN · N-tuple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82880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F65E3B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9F6F2"/>
                </a:solidFill>
                <a:latin typeface="Segoe UI Semibold"/>
              </a:rPr>
              <a:t>Training</a:t>
            </a:r>
          </a:p>
          <a:p>
            <a:pPr algn="ctr"/>
            <a:r>
              <a:rPr sz="1400" b="0">
                <a:solidFill>
                  <a:srgbClr val="F9F6F2"/>
                </a:solidFill>
                <a:latin typeface="Segoe UI"/>
              </a:rPr>
              <a:t>Separate loops
for DQN &amp; N-tuple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182880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F2B179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9F6F2"/>
                </a:solidFill>
                <a:latin typeface="Segoe UI Semibold"/>
              </a:rPr>
              <a:t>Evaluation</a:t>
            </a:r>
          </a:p>
          <a:p>
            <a:pPr algn="ctr"/>
            <a:r>
              <a:rPr sz="1400" b="0">
                <a:solidFill>
                  <a:srgbClr val="F9F6F2"/>
                </a:solidFill>
                <a:latin typeface="Segoe UI"/>
              </a:rPr>
              <a:t>Hundreds of games
seeded 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1">
                <a:solidFill>
                  <a:srgbClr val="776E65"/>
                </a:solidFill>
                <a:latin typeface="Segoe UI"/>
              </a:rPr>
              <a:t>Every agent implements   act(board, legal_mask) → swipe   —  so the evaluator can swap them freely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1">
                <a:solidFill>
                  <a:srgbClr val="A9A097"/>
                </a:solidFill>
                <a:latin typeface="Segoe UI"/>
              </a:rPr>
              <a:t>Same env, same eval, same metrics  →  fair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Meet the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Two baselines · two learners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7544" y="1994764"/>
            <a:ext cx="264260" cy="264260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61515" y="1994764"/>
            <a:ext cx="264260" cy="264260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19530" y="2336750"/>
            <a:ext cx="264260" cy="264260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7544" y="2678735"/>
            <a:ext cx="264260" cy="264260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61515" y="2678735"/>
            <a:ext cx="264260" cy="264260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776E65"/>
                </a:solidFill>
                <a:latin typeface="Segoe UI Semibold"/>
              </a:rPr>
              <a:t>Random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2423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776E65"/>
                </a:solidFill>
                <a:latin typeface="Segoe UI"/>
              </a:rPr>
              <a:t>Picks a legal swipe
uniformly at random.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The floor — anything worse is broken.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9164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2B179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5400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46574" y="2275027"/>
            <a:ext cx="248716" cy="248716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113886" y="2686507"/>
            <a:ext cx="248716" cy="248716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80230" y="2686507"/>
            <a:ext cx="248716" cy="248716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46574" y="2686507"/>
            <a:ext cx="248716" cy="248716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01568" y="33832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776E65"/>
                </a:solidFill>
                <a:latin typeface="Segoe UI Semibold"/>
              </a:rPr>
              <a:t>Greedy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4023360"/>
            <a:ext cx="2423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776E65"/>
                </a:solidFill>
                <a:latin typeface="Segoe UI"/>
              </a:rPr>
              <a:t>Hand-coded heuristic:
monotonicity + empty
cells + corner bonus.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58521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Human knowledge, no learning.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169164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59563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F9F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067855" y="1979219"/>
            <a:ext cx="202082" cy="202082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067855" y="2367839"/>
            <a:ext cx="202082" cy="202082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067855" y="2756459"/>
            <a:ext cx="202082" cy="202082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456475" y="1979219"/>
            <a:ext cx="202082" cy="202082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456475" y="2367839"/>
            <a:ext cx="202082" cy="202082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456475" y="2756459"/>
            <a:ext cx="202082" cy="202082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845095" y="1979219"/>
            <a:ext cx="202082" cy="202082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845095" y="2367839"/>
            <a:ext cx="202082" cy="202082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845095" y="2756459"/>
            <a:ext cx="202082" cy="202082"/>
          </a:xfrm>
          <a:prstGeom prst="ellipse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54496" y="33832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776E65"/>
                </a:solidFill>
                <a:latin typeface="Segoe UI Semibold"/>
              </a:rPr>
              <a:t>DQN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5936" y="4023360"/>
            <a:ext cx="2423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776E65"/>
                </a:solidFill>
                <a:latin typeface="Segoe UI"/>
              </a:rPr>
              <a:t>Deep Q-network.
256 → 512 → 256 → 4
MLP, learned from
raw board.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45936" y="58521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Modern deep RL.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07424" y="169164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928555" y="1986991"/>
            <a:ext cx="321259" cy="321259"/>
          </a:xfrm>
          <a:prstGeom prst="rect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281940" y="1986991"/>
            <a:ext cx="321259" cy="321259"/>
          </a:xfrm>
          <a:prstGeom prst="rect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635325" y="1986991"/>
            <a:ext cx="321259" cy="321259"/>
          </a:xfrm>
          <a:prstGeom prst="rect">
            <a:avLst/>
          </a:prstGeom>
          <a:noFill/>
          <a:ln w="17780">
            <a:solidFill>
              <a:srgbClr val="F9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928555" y="2340376"/>
            <a:ext cx="321259" cy="321259"/>
          </a:xfrm>
          <a:prstGeom prst="rect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0281940" y="2340376"/>
            <a:ext cx="321259" cy="321259"/>
          </a:xfrm>
          <a:prstGeom prst="rect">
            <a:avLst/>
          </a:prstGeom>
          <a:solidFill>
            <a:srgbClr val="F9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635325" y="2340376"/>
            <a:ext cx="321259" cy="321259"/>
          </a:xfrm>
          <a:prstGeom prst="rect">
            <a:avLst/>
          </a:prstGeom>
          <a:noFill/>
          <a:ln w="17780">
            <a:solidFill>
              <a:srgbClr val="F9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928555" y="2693761"/>
            <a:ext cx="321259" cy="321259"/>
          </a:xfrm>
          <a:prstGeom prst="rect">
            <a:avLst/>
          </a:prstGeom>
          <a:noFill/>
          <a:ln w="17780">
            <a:solidFill>
              <a:srgbClr val="F9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281940" y="2693761"/>
            <a:ext cx="321259" cy="321259"/>
          </a:xfrm>
          <a:prstGeom prst="rect">
            <a:avLst/>
          </a:prstGeom>
          <a:noFill/>
          <a:ln w="17780">
            <a:solidFill>
              <a:srgbClr val="F9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635325" y="2693761"/>
            <a:ext cx="321259" cy="321259"/>
          </a:xfrm>
          <a:prstGeom prst="rect">
            <a:avLst/>
          </a:prstGeom>
          <a:noFill/>
          <a:ln w="17780">
            <a:solidFill>
              <a:srgbClr val="F9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107424" y="33832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776E65"/>
                </a:solidFill>
                <a:latin typeface="Segoe UI Semibold"/>
              </a:rPr>
              <a:t>N-tuple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98864" y="4023360"/>
            <a:ext cx="2423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776E65"/>
                </a:solidFill>
                <a:latin typeface="Segoe UI"/>
              </a:rPr>
              <a:t>Lookup tables on
4 hand-picked board
patches. Linear,
symmetric.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98864" y="58521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Classical 2048 method.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DQN — Deep Q-Network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A neural network predicts each swipe's long-term value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2102" y="1870862"/>
            <a:ext cx="1843430" cy="1843430"/>
          </a:xfrm>
          <a:prstGeom prst="roundRect">
            <a:avLst>
              <a:gd name="adj" fmla="val 5000"/>
            </a:avLst>
          </a:prstGeom>
          <a:solidFill>
            <a:srgbClr val="BBA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5878" y="19202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00276" y="19202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44675" y="19202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236463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2B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9F6F2"/>
                </a:solidFill>
                <a:latin typeface="Segoe UI Semibold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" y="236463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00276" y="236463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44675" y="236463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1480" y="280903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5878" y="280903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5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9F6F2"/>
                </a:solidFill>
                <a:latin typeface="Segoe UI Semibold"/>
              </a:rPr>
              <a:t>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00276" y="280903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744675" y="280903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253435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67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9F6F2"/>
                </a:solidFill>
                <a:latin typeface="Segoe UI Semibold"/>
              </a:rPr>
              <a:t>32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5878" y="3253435"/>
            <a:ext cx="411480" cy="4114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300276" y="3253435"/>
            <a:ext cx="411480" cy="4114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744675" y="3253435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02075"/>
            <a:ext cx="17446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A9A097"/>
                </a:solidFill>
                <a:latin typeface="Segoe UI"/>
              </a:rPr>
              <a:t>Board (4×4)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04795" y="2240280"/>
            <a:ext cx="1188720" cy="1104595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776E65"/>
                </a:solidFill>
                <a:latin typeface="Segoe UI Semibold"/>
              </a:rPr>
              <a:t>256</a:t>
            </a:r>
          </a:p>
          <a:p>
            <a:pPr algn="ctr"/>
            <a:r>
              <a:rPr sz="1000" b="0">
                <a:solidFill>
                  <a:srgbClr val="776E65"/>
                </a:solidFill>
                <a:latin typeface="Segoe UI"/>
              </a:rPr>
              <a:t>one-hot
floats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5715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/>
          <p:cNvSpPr/>
          <p:nvPr/>
        </p:nvSpPr>
        <p:spPr>
          <a:xfrm>
            <a:off x="4410151" y="2056485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4410151" y="2601833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4410151" y="3147181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4410151" y="3692530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4410151" y="4237878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4410151" y="4783226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6330391" y="2056485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6330391" y="2359456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6330391" y="2662428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6330391" y="2965399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6330391" y="3268370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6330391" y="3571341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6330391" y="3874312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6330391" y="4177284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6330391" y="4480255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6330391" y="4783226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8250631" y="2056485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8250631" y="2601833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8250631" y="3147181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8250631" y="3692530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8250631" y="4237878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8250631" y="4783226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0170871" y="2056485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0170871" y="2965399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0170871" y="3874312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10170871" y="4783226"/>
            <a:ext cx="155448" cy="155448"/>
          </a:xfrm>
          <a:prstGeom prst="ellipse">
            <a:avLst/>
          </a:prstGeom>
          <a:solidFill>
            <a:srgbClr val="776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3756355" y="52120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776E65"/>
                </a:solidFill>
                <a:latin typeface="Segoe UI Semibold"/>
              </a:rPr>
              <a:t>256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756355" y="56235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A9A097"/>
                </a:solidFill>
                <a:latin typeface="Segoe UI"/>
              </a:rPr>
              <a:t>input
(one-hot)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676595" y="52120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776E65"/>
                </a:solidFill>
                <a:latin typeface="Segoe UI Semibold"/>
              </a:rPr>
              <a:t>512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676595" y="56235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A9A097"/>
                </a:solidFill>
                <a:latin typeface="Segoe UI"/>
              </a:rPr>
              <a:t>hidden
ReLU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596835" y="52120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776E65"/>
                </a:solidFill>
                <a:latin typeface="Segoe UI Semibold"/>
              </a:rPr>
              <a:t>256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596835" y="56235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A9A097"/>
                </a:solidFill>
                <a:latin typeface="Segoe UI"/>
              </a:rPr>
              <a:t>hidden
ReLU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517075" y="52120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517075" y="56235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A9A097"/>
                </a:solidFill>
                <a:latin typeface="Segoe UI"/>
              </a:rPr>
              <a:t>output
Q-values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294315" y="20116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776E65"/>
                </a:solidFill>
                <a:latin typeface="Segoe UI Semibold"/>
              </a:rPr>
              <a:t>Q(↑)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294315" y="283464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776E65"/>
                </a:solidFill>
                <a:latin typeface="Segoe UI Semibold"/>
              </a:rPr>
              <a:t>Q(→)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294315" y="37033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776E65"/>
                </a:solidFill>
                <a:latin typeface="Segoe UI Semibold"/>
              </a:rPr>
              <a:t>Q(↓)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294315" y="45262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776E65"/>
                </a:solidFill>
                <a:latin typeface="Segoe UI Semibold"/>
              </a:rPr>
              <a:t>Q(←)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776E65"/>
                </a:solidFill>
                <a:latin typeface="Segoe UI"/>
              </a:rPr>
              <a:t>The network sees 256 raw numbers. No domain knowledge — it has to discover everything itself.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Trained 5,000 games (~25 min on Apple-MPS) · Double-DQN with action masking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DQN — a concrete forward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What the numbers actually look like for one 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71830" y="1751990"/>
            <a:ext cx="2867558" cy="2867558"/>
          </a:xfrm>
          <a:prstGeom prst="roundRect">
            <a:avLst>
              <a:gd name="adj" fmla="val 5000"/>
            </a:avLst>
          </a:prstGeom>
          <a:solidFill>
            <a:srgbClr val="BBA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F2B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9F6F2"/>
                </a:solidFill>
                <a:latin typeface="Segoe UI Semibold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9926" y="18288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1212" y="18288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2499" y="18288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2520086"/>
            <a:ext cx="640080" cy="64008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9926" y="2520086"/>
            <a:ext cx="640080" cy="64008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1212" y="2520086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22499" y="2520086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3211372"/>
            <a:ext cx="640080" cy="64008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9926" y="3211372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31212" y="3211372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622499" y="3211372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3902659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239926" y="3902659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931212" y="3902659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622499" y="3902659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725619"/>
            <a:ext cx="28968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A9A097"/>
                </a:solidFill>
                <a:latin typeface="Segoe UI"/>
              </a:rPr>
              <a:t>Input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7373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776E65"/>
                </a:solidFill>
                <a:latin typeface="Segoe UI Semibold"/>
              </a:rPr>
              <a:t>One-hot encoding (256 floats)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194560"/>
            <a:ext cx="4114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776E65"/>
                </a:solidFill>
                <a:latin typeface="Consolas"/>
              </a:rPr>
              <a:t>Cell (0,0) = 8 (= 2³)
→ bucket 3 of 16:
[0, 0, 0, 1, 0, 0, 0, 0, 0, 0, 0, 0, 0, 0, 0, 0]
Cell (0,1) = 4 (= 2²)
→ bucket 2:
[0, 0, 1, 0, 0, 0, 0, 0, 0, 0, 0, 0, 0, 0, 0, 0]
… 16 cells × 16 buckets = 256 numbers fed into the MLP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737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776E65"/>
                </a:solidFill>
                <a:latin typeface="Segoe UI Semibold"/>
              </a:rPr>
              <a:t>Network outputs (Q-values)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194560"/>
            <a:ext cx="2926080" cy="594360"/>
          </a:xfrm>
          <a:prstGeom prst="roundRect">
            <a:avLst>
              <a:gd name="adj" fmla="val 8000"/>
            </a:avLst>
          </a:prstGeom>
          <a:solidFill>
            <a:srgbClr val="F59563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9F6F2"/>
                </a:solidFill>
                <a:latin typeface="Segoe UI Semibold"/>
              </a:rPr>
              <a:t>Q(↑)  =   −2.3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2907792"/>
            <a:ext cx="2926080" cy="59436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9F6F2"/>
                </a:solidFill>
                <a:latin typeface="Segoe UI Semibold"/>
              </a:rPr>
              <a:t>Q(→)  =  +12.7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3621024"/>
            <a:ext cx="2926080" cy="594360"/>
          </a:xfrm>
          <a:prstGeom prst="roundRect">
            <a:avLst>
              <a:gd name="adj" fmla="val 8000"/>
            </a:avLst>
          </a:prstGeom>
          <a:solidFill>
            <a:srgbClr val="F67C5F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9F6F2"/>
                </a:solidFill>
                <a:latin typeface="Segoe UI Semibold"/>
              </a:rPr>
              <a:t>Q(↓)  =   +5.1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4334256"/>
            <a:ext cx="2926080" cy="594360"/>
          </a:xfrm>
          <a:prstGeom prst="roundRect">
            <a:avLst>
              <a:gd name="adj" fmla="val 8000"/>
            </a:avLst>
          </a:prstGeom>
          <a:solidFill>
            <a:srgbClr val="F65E3B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9F6F2"/>
                </a:solidFill>
                <a:latin typeface="Segoe UI Semibold"/>
              </a:rPr>
              <a:t>Q(←)  =   +8.2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0932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776E65"/>
                </a:solidFill>
                <a:latin typeface="Segoe UI Semibold"/>
              </a:rPr>
              <a:t>→ Pick swipe RIGHT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Q-values are illustrative. In practice they shift every gradient step as the network learns from its mistakes.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DQN — one training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Play · store · sample · compute target · gradient step  (×1,000,000)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057400"/>
            <a:ext cx="2157984" cy="914400"/>
          </a:xfrm>
          <a:prstGeom prst="roundRect">
            <a:avLst>
              <a:gd name="adj" fmla="val 8000"/>
            </a:avLst>
          </a:prstGeom>
          <a:solidFill>
            <a:srgbClr val="F2B179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9F6F2"/>
                </a:solidFill>
                <a:latin typeface="Segoe UI Semibold"/>
              </a:rPr>
              <a:t>Play a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97510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776E65"/>
                </a:solidFill>
                <a:latin typeface="Segoe UI"/>
              </a:rPr>
              <a:t>Observe s, swipe a,
get reward r and
next board s'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24328" y="2514600"/>
            <a:ext cx="137160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79776" y="2057400"/>
            <a:ext cx="2157984" cy="914400"/>
          </a:xfrm>
          <a:prstGeom prst="roundRect">
            <a:avLst>
              <a:gd name="adj" fmla="val 8000"/>
            </a:avLst>
          </a:prstGeom>
          <a:solidFill>
            <a:srgbClr val="F59563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9F6F2"/>
                </a:solidFill>
                <a:latin typeface="Segoe UI Semibold"/>
              </a:rPr>
              <a:t>Store in buffer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4732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9F6F2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6" y="3063240"/>
            <a:ext cx="197510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776E65"/>
                </a:solidFill>
                <a:latin typeface="Segoe UI"/>
              </a:rPr>
              <a:t>Append (s, a, r, s', done)
to a 100k-step
ring buffer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46904" y="2514600"/>
            <a:ext cx="137160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02352" y="2057400"/>
            <a:ext cx="2157984" cy="914400"/>
          </a:xfrm>
          <a:prstGeom prst="roundRect">
            <a:avLst>
              <a:gd name="adj" fmla="val 8000"/>
            </a:avLst>
          </a:prstGeom>
          <a:solidFill>
            <a:srgbClr val="F67C5F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9F6F2"/>
                </a:solidFill>
                <a:latin typeface="Segoe UI Semibold"/>
              </a:rPr>
              <a:t>Sample mini-batch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7308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9F6F2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3063240"/>
            <a:ext cx="197510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776E65"/>
                </a:solidFill>
                <a:latin typeface="Segoe UI"/>
              </a:rPr>
              <a:t>Pull 512 random
old transitions
from the buffer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69480" y="2514600"/>
            <a:ext cx="137160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24928" y="2057400"/>
            <a:ext cx="2157984" cy="914400"/>
          </a:xfrm>
          <a:prstGeom prst="roundRect">
            <a:avLst>
              <a:gd name="adj" fmla="val 8000"/>
            </a:avLst>
          </a:prstGeom>
          <a:solidFill>
            <a:srgbClr val="EDCC61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9F6F2"/>
                </a:solidFill>
                <a:latin typeface="Segoe UI Semibold"/>
              </a:rPr>
              <a:t>Compute TD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29884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9F6F2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3063240"/>
            <a:ext cx="197510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776E65"/>
                </a:solidFill>
                <a:latin typeface="Segoe UI"/>
              </a:rPr>
              <a:t>target = r + γ · max
Q_target(s', a')
γ = 0.99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92056" y="2514600"/>
            <a:ext cx="137160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47504" y="2057400"/>
            <a:ext cx="2157984" cy="91440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9F6F2"/>
                </a:solidFill>
                <a:latin typeface="Segoe UI Semibold"/>
              </a:rPr>
              <a:t>Gradient 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2460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9F6F2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8944" y="3063240"/>
            <a:ext cx="197510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776E65"/>
                </a:solidFill>
                <a:latin typeface="Segoe UI"/>
              </a:rPr>
              <a:t>Smooth-L1 loss
Backprop
Adam (5e-4)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776E65"/>
                </a:solidFill>
                <a:latin typeface="Segoe UI"/>
              </a:rPr>
              <a:t>Stabilisation tricks: target network · Double-DQN · reward scaling · ε-greedy · action masking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Five fixes for three instabilities: moving target, max-overestimation, exploding reward 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75036" y="1600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9F6F2"/>
                </a:solidFill>
                <a:latin typeface="Segoe UI Semi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N-tuple TD — pattern-based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Decompose the board into 4 small patches · sum 24 table reads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691640"/>
            <a:ext cx="1902683" cy="1902683"/>
          </a:xfrm>
          <a:prstGeom prst="roundRect">
            <a:avLst>
              <a:gd name="adj" fmla="val 5000"/>
            </a:avLst>
          </a:prstGeom>
          <a:solidFill>
            <a:srgbClr val="BBA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4851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69623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84395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4851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69623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84395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4851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469623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84395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4851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469623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884395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685763"/>
            <a:ext cx="190268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776E65"/>
                </a:solidFill>
                <a:latin typeface="Segoe UI Semibold"/>
              </a:rPr>
              <a:t>Pattern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51523"/>
            <a:ext cx="190268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6-cell axe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71363" y="1691640"/>
            <a:ext cx="1902683" cy="1902683"/>
          </a:xfrm>
          <a:prstGeom prst="roundRect">
            <a:avLst>
              <a:gd name="adj" fmla="val 5000"/>
            </a:avLst>
          </a:prstGeom>
          <a:solidFill>
            <a:srgbClr val="BBA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908523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323295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738067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152839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908523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323295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738067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152839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908523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323295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738067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152839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908523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323295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738067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152839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71363" y="3685763"/>
            <a:ext cx="190268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776E65"/>
                </a:solidFill>
                <a:latin typeface="Segoe UI Semibold"/>
              </a:rPr>
              <a:t>Pattern 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71363" y="4051523"/>
            <a:ext cx="190268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row-2 axe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39807" y="1691640"/>
            <a:ext cx="1902683" cy="1902683"/>
          </a:xfrm>
          <a:prstGeom prst="roundRect">
            <a:avLst>
              <a:gd name="adj" fmla="val 5000"/>
            </a:avLst>
          </a:prstGeom>
          <a:solidFill>
            <a:srgbClr val="BBA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176967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591738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006510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421282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176967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591738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006510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421282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76967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591738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006510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421282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5176967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5591738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006510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421282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39807" y="3685763"/>
            <a:ext cx="190268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776E65"/>
                </a:solidFill>
                <a:latin typeface="Segoe UI Semibold"/>
              </a:rPr>
              <a:t>Pattern 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39807" y="4051523"/>
            <a:ext cx="190268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top row (4 cells)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08250" y="1691640"/>
            <a:ext cx="1902683" cy="1902683"/>
          </a:xfrm>
          <a:prstGeom prst="roundRect">
            <a:avLst>
              <a:gd name="adj" fmla="val 5000"/>
            </a:avLst>
          </a:prstGeom>
          <a:solidFill>
            <a:srgbClr val="BBA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445410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860182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274954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689726" y="182880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445410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7860182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274954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8689726" y="2243571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7445410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7860182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274954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8689726" y="265834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445410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7860182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8274954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689726" y="3073115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308250" y="3685763"/>
            <a:ext cx="190268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776E65"/>
                </a:solidFill>
                <a:latin typeface="Segoe UI Semibold"/>
              </a:rPr>
              <a:t>Pattern 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08250" y="4051523"/>
            <a:ext cx="190268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2×2 corner (4 cells)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776E65"/>
                </a:solidFill>
                <a:latin typeface="Segoe UI Semibold"/>
              </a:rPr>
              <a:t>V(board) = sum of all 24 lookup-table reads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5257800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776E65"/>
                </a:solidFill>
                <a:latin typeface="Segoe UI"/>
              </a:rPr>
              <a:t>•  Each cell holds one of ~16 log₂ values, so a 6-cell pattern has 16⁶ ≈ 16 M-entry lookup table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776E65"/>
                </a:solidFill>
                <a:latin typeface="Segoe UI"/>
              </a:rPr>
              <a:t>•  Weights are shared across all 8 board symmetries — one update teaches all rotated/reflected variants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776E65"/>
                </a:solidFill>
                <a:latin typeface="Segoe UI"/>
              </a:rPr>
              <a:t>•  Total lookups per board: 8 + 8 + 4 + 4 = 24 table reads.  No neural network, no gradient descent.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N-tuple — a concrete value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Read the patches · look up · sum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6344" y="1700784"/>
            <a:ext cx="3072384" cy="3072384"/>
          </a:xfrm>
          <a:prstGeom prst="roundRect">
            <a:avLst>
              <a:gd name="adj" fmla="val 5000"/>
            </a:avLst>
          </a:prstGeom>
          <a:solidFill>
            <a:srgbClr val="BBA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2B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9F6F2"/>
                </a:solidFill>
                <a:latin typeface="Segoe UI Semibold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304" y="17830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8" y="17830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7830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2523744"/>
            <a:ext cx="685800" cy="68580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9304" y="2523744"/>
            <a:ext cx="685800" cy="68580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29968" y="2523744"/>
            <a:ext cx="685800" cy="68580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70632" y="2523744"/>
            <a:ext cx="685800" cy="68580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326440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9304" y="326440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29968" y="326440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70632" y="326440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4005072"/>
            <a:ext cx="685800" cy="68580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289304" y="4005072"/>
            <a:ext cx="685800" cy="68580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029968" y="4005072"/>
            <a:ext cx="685800" cy="68580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70632" y="4005072"/>
            <a:ext cx="685800" cy="685800"/>
          </a:xfrm>
          <a:prstGeom prst="roundRect">
            <a:avLst>
              <a:gd name="adj" fmla="val 8000"/>
            </a:avLst>
          </a:prstGeom>
          <a:solidFill>
            <a:srgbClr val="CD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873752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A9A097"/>
                </a:solidFill>
                <a:latin typeface="Segoe UI"/>
              </a:rPr>
              <a:t>Input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6916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76E65"/>
                </a:solidFill>
                <a:latin typeface="Segoe UI Semibold"/>
              </a:rPr>
              <a:t>Read log₂ values at each 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1945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776E65"/>
                </a:solidFill>
                <a:latin typeface="Segoe UI Semibold"/>
              </a:rPr>
              <a:t>Pattern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194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6E65"/>
                </a:solidFill>
                <a:latin typeface="Consolas"/>
              </a:rPr>
              <a:t>[3, 2, 1, 0, 2, 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194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 dirty="0">
                <a:solidFill>
                  <a:srgbClr val="A9A097"/>
                </a:solidFill>
                <a:latin typeface="Segoe UI"/>
              </a:rPr>
              <a:t>axe top-left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6517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776E65"/>
                </a:solidFill>
                <a:latin typeface="Segoe UI Semibold"/>
              </a:rPr>
              <a:t>Pattern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2651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6E65"/>
                </a:solidFill>
                <a:latin typeface="Consolas"/>
              </a:rPr>
              <a:t>[2, 1, 0, 0, 1, 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6517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A9A097"/>
                </a:solidFill>
                <a:latin typeface="Segoe UI"/>
              </a:rPr>
              <a:t>axe row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1089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776E65"/>
                </a:solidFill>
                <a:latin typeface="Segoe UI Semibold"/>
              </a:rPr>
              <a:t>Pattern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31089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6E65"/>
                </a:solidFill>
                <a:latin typeface="Consolas"/>
              </a:rPr>
              <a:t>[3, 2, 1, 0]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1089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A9A097"/>
                </a:solidFill>
                <a:latin typeface="Segoe UI"/>
              </a:rPr>
              <a:t>top 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5661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776E65"/>
                </a:solidFill>
                <a:latin typeface="Segoe UI Semibold"/>
              </a:rPr>
              <a:t>Pattern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5661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6E65"/>
                </a:solidFill>
                <a:latin typeface="Consolas"/>
              </a:rPr>
              <a:t>[3, 2, 2, 1]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5661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A9A097"/>
                </a:solidFill>
                <a:latin typeface="Segoe UI"/>
              </a:rPr>
              <a:t>2×2 corner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0690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A9A097"/>
                </a:solidFill>
                <a:latin typeface="Segoe UI"/>
              </a:rPr>
              <a:t>(× 8 dihedral symmetries for A and B,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3891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A9A097"/>
                </a:solidFill>
                <a:latin typeface="Segoe UI"/>
              </a:rPr>
              <a:t>× 4 for C and D — 24 reads total)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1691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76E65"/>
                </a:solidFill>
                <a:latin typeface="Segoe UI Semibold"/>
              </a:rPr>
              <a:t>Each read → one weight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2194560"/>
            <a:ext cx="2926080" cy="502920"/>
          </a:xfrm>
          <a:prstGeom prst="roundRect">
            <a:avLst>
              <a:gd name="adj" fmla="val 8000"/>
            </a:avLst>
          </a:prstGeom>
          <a:solidFill>
            <a:srgbClr val="EDCF72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9F6F2"/>
                </a:solidFill>
                <a:latin typeface="Segoe UI Semibold"/>
              </a:rPr>
              <a:t>w_A[idx_A]  = +12.4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9680" y="2816352"/>
            <a:ext cx="2926080" cy="502920"/>
          </a:xfrm>
          <a:prstGeom prst="roundRect">
            <a:avLst>
              <a:gd name="adj" fmla="val 8000"/>
            </a:avLst>
          </a:prstGeom>
          <a:solidFill>
            <a:srgbClr val="F65E3B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9F6F2"/>
                </a:solidFill>
                <a:latin typeface="Segoe UI Semibold"/>
              </a:rPr>
              <a:t>w_B[idx_B]  =  +3.1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3438144"/>
            <a:ext cx="2926080" cy="502920"/>
          </a:xfrm>
          <a:prstGeom prst="roundRect">
            <a:avLst>
              <a:gd name="adj" fmla="val 8000"/>
            </a:avLst>
          </a:prstGeom>
          <a:solidFill>
            <a:srgbClr val="F67C5F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9F6F2"/>
                </a:solidFill>
                <a:latin typeface="Segoe UI Semibold"/>
              </a:rPr>
              <a:t>w_C[idx_C]  =  +4.2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4059936"/>
            <a:ext cx="2926080" cy="502920"/>
          </a:xfrm>
          <a:prstGeom prst="roundRect">
            <a:avLst>
              <a:gd name="adj" fmla="val 8000"/>
            </a:avLst>
          </a:prstGeom>
          <a:solidFill>
            <a:srgbClr val="F59563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9F6F2"/>
                </a:solidFill>
                <a:latin typeface="Segoe UI Semibold"/>
              </a:rPr>
              <a:t>w_D[idx_D]  =  +6.5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69680" y="4681728"/>
            <a:ext cx="2926080" cy="502920"/>
          </a:xfrm>
          <a:prstGeom prst="roundRect">
            <a:avLst>
              <a:gd name="adj" fmla="val 8000"/>
            </a:avLst>
          </a:prstGeom>
          <a:solidFill>
            <a:srgbClr val="F2B179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9F6F2"/>
                </a:solidFill>
                <a:latin typeface="Segoe UI Semibold"/>
              </a:rPr>
              <a:t>… (× 24 reads in total) 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5349240"/>
            <a:ext cx="2926080" cy="77724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9F6F2"/>
                </a:solidFill>
                <a:latin typeface="Segoe UI Semibold"/>
              </a:rPr>
              <a:t>V(board) ≈ 47.5</a:t>
            </a:r>
          </a:p>
          <a:p>
            <a:pPr algn="ctr"/>
            <a:r>
              <a:rPr sz="1100" b="0">
                <a:solidFill>
                  <a:srgbClr val="F9F6F2"/>
                </a:solidFill>
                <a:latin typeface="Segoe UI"/>
              </a:rPr>
              <a:t>(sum of all 24 lookups)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Numbers are illustrative.  Real weights are learned by playing thousands of games.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N-tuple — one training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Pick · step · pick · update  —  no buffer, no batches, no gradient descent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2011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59563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9F6F2"/>
                </a:solidFill>
                <a:latin typeface="Segoe UI Semibold"/>
              </a:rPr>
              <a:t>Pick greedy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242316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776E65"/>
                </a:solidFill>
                <a:latin typeface="Segoe UI"/>
              </a:rPr>
              <a:t>Try each legal swipe
Score by r + V(after)
Keep the best.
Get a_t, r_t, after_t.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82696" y="2468880"/>
            <a:ext cx="201168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93008" y="2011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65E3B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9F6F2"/>
                </a:solidFill>
                <a:latin typeface="Segoe UI Semibold"/>
              </a:rPr>
              <a:t>Step the env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1640" y="15544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9F6F2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3063240"/>
            <a:ext cx="242316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776E65"/>
                </a:solidFill>
                <a:latin typeface="Segoe UI"/>
              </a:rPr>
              <a:t>Apply move → after_t
Spawn random tile
→ next board s_{t+1}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35624" y="2468880"/>
            <a:ext cx="201168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45936" y="2011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DCC61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9F6F2"/>
                </a:solidFill>
                <a:latin typeface="Segoe UI Semibold"/>
              </a:rPr>
              <a:t>Pick next move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4568" y="15544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9F6F2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3063240"/>
            <a:ext cx="242316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776E65"/>
                </a:solidFill>
                <a:latin typeface="Segoe UI"/>
              </a:rPr>
              <a:t>Repeat step 1 on s_{t+1}.
Get a_{t+1}, r_{t+1},
after_{t+1}.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88552" y="2468880"/>
            <a:ext cx="201168" cy="0"/>
          </a:xfrm>
          <a:prstGeom prst="line">
            <a:avLst/>
          </a:prstGeom>
          <a:ln w="31750">
            <a:solidFill>
              <a:srgbClr val="BBAD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98864" y="20116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9F6F2"/>
                </a:solidFill>
                <a:latin typeface="Segoe UI Semibold"/>
              </a:rPr>
              <a:t>TD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15544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9F6F2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3063240"/>
            <a:ext cx="242316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776E65"/>
                </a:solidFill>
                <a:latin typeface="Segoe UI"/>
              </a:rPr>
              <a:t>δ = r_{t+1} + V(after_{t+1}) − V(after_t)
Add α·δ to all 24 weights
that made up V(after_t).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776E65"/>
                </a:solidFill>
                <a:latin typeface="Segoe UI"/>
              </a:rPr>
              <a:t>Each update touches 24 numbers — microseconds per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Trained for 10,000 games (~55 min on CPU)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50424" y="15544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9F6F2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Results — the 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Random and greedy as baselines · DQN and N-tuple were trained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776E65"/>
                </a:solidFill>
                <a:latin typeface="Segoe UI Semibold"/>
              </a:rPr>
              <a:t>Random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200" b="1">
                <a:solidFill>
                  <a:srgbClr val="776E65"/>
                </a:solidFill>
                <a:latin typeface="Segoe UI Semibold"/>
              </a:rPr>
              <a:t>298</a:t>
            </a:r>
          </a:p>
          <a:p>
            <a:pPr algn="ctr"/>
            <a:r>
              <a:rPr sz="1400" b="0">
                <a:solidFill>
                  <a:srgbClr val="776E65"/>
                </a:solidFill>
                <a:latin typeface="Segoe UI"/>
              </a:rPr>
              <a:t>mean reward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7288" y="15544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776E65"/>
                </a:solidFill>
                <a:latin typeface="Segoe UI Semibold"/>
              </a:rPr>
              <a:t>Greedy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9659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2B179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200" b="1">
                <a:solidFill>
                  <a:srgbClr val="F9F6F2"/>
                </a:solidFill>
                <a:latin typeface="Segoe UI Semibold"/>
              </a:rPr>
              <a:t>1,300</a:t>
            </a:r>
          </a:p>
          <a:p>
            <a:pPr algn="ctr"/>
            <a:r>
              <a:rPr sz="1400" b="0">
                <a:solidFill>
                  <a:srgbClr val="F9F6F2"/>
                </a:solidFill>
                <a:latin typeface="Segoe UI"/>
              </a:rPr>
              <a:t>mean reward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15544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776E65"/>
                </a:solidFill>
                <a:latin typeface="Segoe UI Semibold"/>
              </a:rPr>
              <a:t>DQN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7376" y="19659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9563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200" b="1">
                <a:solidFill>
                  <a:srgbClr val="F9F6F2"/>
                </a:solidFill>
                <a:latin typeface="Segoe UI Semibold"/>
              </a:rPr>
              <a:t>311</a:t>
            </a:r>
          </a:p>
          <a:p>
            <a:pPr algn="ctr"/>
            <a:r>
              <a:rPr sz="1400" b="0">
                <a:solidFill>
                  <a:srgbClr val="F9F6F2"/>
                </a:solidFill>
                <a:latin typeface="Segoe UI"/>
              </a:rPr>
              <a:t>mean reward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7464" y="15544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776E65"/>
                </a:solidFill>
                <a:latin typeface="Segoe UI Semibold"/>
              </a:rPr>
              <a:t>N-tuple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27464" y="196596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200" b="1">
                <a:solidFill>
                  <a:srgbClr val="F9F6F2"/>
                </a:solidFill>
                <a:latin typeface="Segoe UI Semibold"/>
              </a:rPr>
              <a:t>3,270</a:t>
            </a:r>
          </a:p>
          <a:p>
            <a:pPr algn="ctr"/>
            <a:r>
              <a:rPr sz="1400" b="0">
                <a:solidFill>
                  <a:srgbClr val="F9F6F2"/>
                </a:solidFill>
                <a:latin typeface="Segoe UI"/>
              </a:rPr>
              <a:t>mean reward</a:t>
            </a:r>
          </a:p>
        </p:txBody>
      </p:sp>
      <p:pic>
        <p:nvPicPr>
          <p:cNvPr id="13" name="Picture 12" descr="fig_scores_2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0"/>
            <a:ext cx="5905233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3703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776E65"/>
                </a:solidFill>
                <a:latin typeface="Segoe UI Semibold"/>
              </a:rPr>
              <a:t>What stands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54864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N-tuple wins by an order of magnitude on mean reward (3,270 vs 311 for DQN)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DQN is effectively random: 311 vs 298 for uniform play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Even greedy (no learning) beats DQN by 4×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Scores are in log₂-merge units — about 5× smaller than the official 2048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Results — how often each tile is reached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Max-tile probability tells the real story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tile_reach_2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7547201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783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776E65"/>
                </a:solidFill>
                <a:latin typeface="Segoe UI Semibold"/>
              </a:rPr>
              <a:t>Reading the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240280"/>
            <a:ext cx="40233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N-tuple reaches 1024 in 87 % of games and 2048 in 25 %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Greedy reaches 1024 in only 11 %, never 2048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DQN never reaches 512 — same distribution as random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The gap is not noise — it is structural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4068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9F6F2"/>
                </a:solidFill>
                <a:latin typeface="Segoe UI Semibold"/>
              </a:rPr>
              <a:t>25 % of games end with the 2048 tile</a:t>
            </a:r>
          </a:p>
          <a:p>
            <a:pPr algn="ctr"/>
            <a:r>
              <a:rPr sz="1400" b="0">
                <a:solidFill>
                  <a:srgbClr val="F9F6F2"/>
                </a:solidFill>
                <a:latin typeface="Segoe UI"/>
              </a:rPr>
              <a:t>(N-tuple, 300-game test set)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Results — how they learn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Rolling-100 mean reward across training episodes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_training_curves_2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8051159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7830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776E65"/>
                </a:solidFill>
                <a:latin typeface="Segoe UI Semibold"/>
              </a:rPr>
              <a:t>What to notice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24028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N-tuple climbs steadily from ~500 to ~3,000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DQN rises from ~100 to ~300 and flatlines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First 1024 tile: episode 307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776E65"/>
                </a:solidFill>
                <a:latin typeface="Segoe UI"/>
              </a:rPr>
              <a:t>•  First 2048 tile: episode 1,231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5778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C53F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9F6F2"/>
                </a:solidFill>
                <a:latin typeface="Segoe UI Semibold"/>
              </a:rPr>
              <a:t>N-tuple's reward keeps growing · DQN's plateaus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Watch them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DQN on the left · N-tuple on the right · same starting state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ompare_dqn_vs_ntupl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91640"/>
            <a:ext cx="7481455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A9A097"/>
                </a:solidFill>
                <a:latin typeface="Segoe UI"/>
              </a:rPr>
              <a:t>DQN dies quickly · N-tuple stacks tiles in a corner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Why did the linear method win?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Three things the n-tuple gets for free — before it ever starts learning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691640"/>
            <a:ext cx="3703320" cy="146304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9F6F2"/>
                </a:solidFill>
                <a:latin typeface="Segoe UI Semibold"/>
              </a:rPr>
              <a:t>Right features
beat raw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342900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776E65"/>
                </a:solidFill>
                <a:latin typeface="Segoe UI"/>
              </a:rPr>
              <a:t>The n-tuple's patches encode
exactly what good 2048 play
is about:
• adjacency of tiles
• corner structure
• row monotonicity
DQN has 256 raw numbers
and no idea any of that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691640"/>
            <a:ext cx="3703320" cy="1463040"/>
          </a:xfrm>
          <a:prstGeom prst="roundRect">
            <a:avLst>
              <a:gd name="adj" fmla="val 8000"/>
            </a:avLst>
          </a:prstGeom>
          <a:solidFill>
            <a:srgbClr val="EDC53F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9F6F2"/>
                </a:solidFill>
                <a:latin typeface="Segoe UI Semibold"/>
              </a:rPr>
              <a:t>Symmetry sharing
= free 4-8×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3291840"/>
            <a:ext cx="342900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776E65"/>
                </a:solidFill>
                <a:latin typeface="Segoe UI"/>
              </a:rPr>
              <a:t>A clever move in the top-left
is a clever move in the top-right
(mirrored), bottom-left (flipped),
etc.
The n-tuple updates all 8
variants at once.
DQN learns each corner
separately.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66176" y="1691640"/>
            <a:ext cx="3703320" cy="1463040"/>
          </a:xfrm>
          <a:prstGeom prst="roundRect">
            <a:avLst>
              <a:gd name="adj" fmla="val 8000"/>
            </a:avLst>
          </a:prstGeom>
          <a:solidFill>
            <a:srgbClr val="EDC850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9F6F2"/>
                </a:solidFill>
                <a:latin typeface="Segoe UI Semibold"/>
              </a:rPr>
              <a:t>Cleaner learning
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3336" y="3291840"/>
            <a:ext cx="342900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776E65"/>
                </a:solidFill>
                <a:latin typeface="Segoe UI"/>
              </a:rPr>
              <a:t>N-tuple learns afterstate values
— the board before the
random tile spawn.
That keeps spawn noise out of
the target.
DQN learns the post-spawn board,
so every target includes noise
it couldn't have controlled.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A9A097"/>
                </a:solidFill>
                <a:latin typeface="Segoe UI"/>
              </a:rPr>
              <a:t>All three are about representation, not capacity.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776E65"/>
                </a:solidFill>
                <a:latin typeface="Segoe UI Semibold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A9A097"/>
                </a:solidFill>
                <a:latin typeface="Segoe UI"/>
              </a:rPr>
              <a:t>What we learned from 2048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868679" cy="0"/>
          </a:xfrm>
          <a:prstGeom prst="line">
            <a:avLst/>
          </a:prstGeom>
          <a:ln w="31750">
            <a:solidFill>
              <a:srgbClr val="BBA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82880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9F6F2"/>
                </a:solidFill>
                <a:latin typeface="Segoe UI Semibold"/>
              </a:rPr>
              <a:t>Representation
beats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251460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6E65"/>
                </a:solidFill>
                <a:latin typeface="Segoe UI"/>
              </a:rPr>
              <a:t>At modest compute, the right
features &gt; a generic deep 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82880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EDC53F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9F6F2"/>
                </a:solidFill>
                <a:latin typeface="Segoe UI Semibold"/>
              </a:rPr>
              <a:t>Classical methods
are not obsolete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3520440"/>
            <a:ext cx="251460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6E65"/>
                </a:solidFill>
                <a:latin typeface="Segoe UI"/>
              </a:rPr>
              <a:t>Linear TD learning was invented
in the 1980s. It still wins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37376" y="182880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EDC850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9F6F2"/>
                </a:solidFill>
                <a:latin typeface="Segoe UI Semibold"/>
              </a:rPr>
              <a:t>Inductive bias
is precious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4536" y="3520440"/>
            <a:ext cx="251460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6E65"/>
                </a:solidFill>
                <a:latin typeface="Segoe UI"/>
              </a:rPr>
              <a:t>Symmetry, locality, afterstates —
building them in is worth a lot of
compute.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27464" y="182880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EDCF72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9F6F2"/>
                </a:solidFill>
                <a:latin typeface="Segoe UI Semibold"/>
              </a:rPr>
              <a:t>Deep RL can
still win 2048…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64624" y="3520440"/>
            <a:ext cx="251460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6E65"/>
                </a:solidFill>
                <a:latin typeface="Segoe UI"/>
              </a:rPr>
              <a:t>…but it needs convolutional
encoders + more sophisticated
training. Out of scope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A9A097"/>
                </a:solidFill>
                <a:latin typeface="Segoe U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828800"/>
            <a:ext cx="9418320" cy="2103120"/>
          </a:xfrm>
          <a:prstGeom prst="roundRect">
            <a:avLst>
              <a:gd name="adj" fmla="val 8000"/>
            </a:avLst>
          </a:prstGeom>
          <a:solidFill>
            <a:srgbClr val="EDC22E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400" b="1">
                <a:solidFill>
                  <a:srgbClr val="F9F6F2"/>
                </a:solidFill>
                <a:latin typeface="Segoe UI Semibold"/>
              </a:rPr>
              <a:t>Thanks for your attention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06240" y="4206240"/>
            <a:ext cx="3749039" cy="1097280"/>
          </a:xfrm>
          <a:prstGeom prst="roundRect">
            <a:avLst>
              <a:gd name="adj" fmla="val 8000"/>
            </a:avLst>
          </a:prstGeom>
          <a:solidFill>
            <a:srgbClr val="EDC53F"/>
          </a:solidFill>
          <a:ln>
            <a:noFill/>
          </a:ln>
          <a:effectLst>
            <a:outerShdw blurRad="55000" dist="220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9F6F2"/>
                </a:solidFill>
                <a:latin typeface="Segoe UI Semibold"/>
              </a:rPr>
              <a:t>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57784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EE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776E65"/>
                </a:solidFill>
                <a:latin typeface="Segoe UI Semibold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44168" y="557784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ED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776E65"/>
                </a:solidFill>
                <a:latin typeface="Segoe UI Semibold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557784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F2B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9F6F2"/>
                </a:solidFill>
                <a:latin typeface="Segoe UI Semibold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74352" y="557784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F5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9F6F2"/>
                </a:solidFill>
                <a:latin typeface="Segoe UI Semibold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6367</Words>
  <Application>Microsoft Office PowerPoint</Application>
  <PresentationFormat>Widescreen</PresentationFormat>
  <Paragraphs>711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Anna Hartmann</cp:lastModifiedBy>
  <cp:revision>2</cp:revision>
  <dcterms:created xsi:type="dcterms:W3CDTF">2013-01-27T09:14:16Z</dcterms:created>
  <dcterms:modified xsi:type="dcterms:W3CDTF">2026-05-11T13:00:18Z</dcterms:modified>
  <cp:category/>
</cp:coreProperties>
</file>